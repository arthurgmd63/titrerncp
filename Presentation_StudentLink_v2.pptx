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1916"/>
                </a:solidFill>
                <a:latin typeface="Cambria"/>
              </a:defRPr>
            </a:pPr>
            <a:r>
              <a:rPr lang="fr-FR" sz="1300" b="0" i="0" u="none" strike="noStrike">
                <a:solidFill>
                  <a:srgbClr val="1C1916"/>
                </a:solidFill>
                <a:latin typeface="Cambria"/>
              </a:rPr>
              <a:t>MRR visé à Clermont-Ferrand (€ HT par mois, par mois d'activité)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(€ HT)</c:v>
                </c:pt>
              </c:strCache>
            </c:strRef>
          </c:tx>
          <c:spPr>
            <a:solidFill>
              <a:srgbClr val="E0492B"/>
            </a:solidFill>
            <a:effectLst/>
          </c:spPr>
          <c:invertIfNegative val="0"/>
          <c:dLbls>
            <c:numFmt formatCode="#,##0\ &quot;€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5B554C"/>
                    </a:solidFill>
                    <a:latin typeface="Calibri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M1</c:v>
                </c:pt>
                <c:pt idx="1">
                  <c:v>M3</c:v>
                </c:pt>
                <c:pt idx="2">
                  <c:v>M6</c:v>
                </c:pt>
                <c:pt idx="3">
                  <c:v>M12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195</c:v>
                </c:pt>
                <c:pt idx="2">
                  <c:v>1200</c:v>
                </c:pt>
                <c:pt idx="3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9D-4EC3-AE2D-6C5CFA24BC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54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00"/>
        </c:scaling>
        <c:delete val="0"/>
        <c:axPos val="l"/>
        <c:majorGridlines>
          <c:spPr>
            <a:ln w="6350" cap="flat">
              <a:solidFill>
                <a:srgbClr val="DED6C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8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EEE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3EEE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11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Verification 18+ bloquante cote serveur. Le fil se filtre par type de lieu et par centre d'interet. La reservation genere un pass QR dans le wallet ; l'annulation remet la place au stock.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squads sont creees par les etudiants eux-memes : aucun partenaire n'intervient, aucun cout pour nous. Types running / velo / muscu / autre, niveaux tous / debutant / intermediaire / avance, avec date, lieu et quota de places. Deux badges y sont adosses : Team player a la premiere squad, Social butterfly a la cinquieme.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0.png"/><Relationship Id="rId5" Type="http://schemas.openxmlformats.org/officeDocument/2006/relationships/image" Target="../media/image35.png"/><Relationship Id="rId10" Type="http://schemas.openxmlformats.org/officeDocument/2006/relationships/image" Target="../media/image23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02920"/>
            <a:ext cx="914400" cy="68031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60020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StudentLink</a:t>
            </a:r>
            <a:endParaRPr lang="en-US" sz="58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74320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100" i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 qui remplit les soirs creux —</a:t>
            </a:r>
            <a:endParaRPr lang="en-US" sz="21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100" i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qui prouve qui est venu.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822192"/>
            <a:ext cx="6309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étudiants de Clermont voient les soirées et les sorties sportives de la ville, et réservent leur place avec une remise. Les établissements, eux, voient enfin qui est vraiment venu.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0749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Gramond</a:t>
            </a:r>
            <a:r>
              <a:rPr lang="en-US" sz="12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technique, produit, design          </a:t>
            </a:r>
            <a:r>
              <a:rPr lang="en-US" sz="12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Étienne Florentino</a:t>
            </a:r>
            <a:r>
              <a:rPr lang="en-US" sz="12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commercial, partenariats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4406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Clermont-Ferrand</a:t>
            </a:r>
            <a:endParaRPr lang="en-US" sz="1200" dirty="0"/>
          </a:p>
        </p:txBody>
      </p:sp>
      <p:pic>
        <p:nvPicPr>
          <p:cNvPr id="8" name="Image 1" descr="img/m_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057400"/>
            <a:ext cx="1816586" cy="3931920"/>
          </a:xfrm>
          <a:prstGeom prst="rect">
            <a:avLst/>
          </a:prstGeom>
          <a:effectLst>
            <a:outerShdw blurRad="228600" dist="63500" dir="5400000" algn="bl" rotWithShape="0">
              <a:srgbClr val="1C1916">
                <a:alpha val="20000"/>
              </a:srgbClr>
            </a:outerShdw>
          </a:effectLst>
        </p:spPr>
      </p:pic>
      <p:pic>
        <p:nvPicPr>
          <p:cNvPr id="9" name="Image 2" descr="img/m_fe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914400"/>
            <a:ext cx="2365787" cy="5120640"/>
          </a:xfrm>
          <a:prstGeom prst="rect">
            <a:avLst/>
          </a:prstGeom>
          <a:effectLst>
            <a:outerShdw blurRad="228600" dist="63500" dir="5400000" algn="bl" rotWithShape="0">
              <a:srgbClr val="1C1916">
                <a:alpha val="20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société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PITCH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StudentLink en 10 secondes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057839" cy="1481328"/>
          </a:xfrm>
          <a:prstGeom prst="roundRect">
            <a:avLst>
              <a:gd name="adj" fmla="val 8025"/>
            </a:avLst>
          </a:prstGeom>
          <a:solidFill>
            <a:srgbClr val="1C1916"/>
          </a:solidFill>
          <a:ln/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1069848" y="1783080"/>
            <a:ext cx="100519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200" i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Ce qui se passe ce soir en ville : une soirée, un running, une séance.</a:t>
            </a:r>
            <a:endParaRPr lang="en-US" sz="22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200" i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place réservée avec une remise — et, côté établissement, le nombre exact d'étudiants réellement venus. 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3520440"/>
            <a:ext cx="3602736" cy="1627632"/>
          </a:xfrm>
          <a:prstGeom prst="roundRect">
            <a:avLst>
              <a:gd name="adj" fmla="val 7303"/>
            </a:avLst>
          </a:prstGeom>
          <a:solidFill>
            <a:srgbClr val="FBE7E1"/>
          </a:solidFill>
          <a:ln/>
          <a:effectLst>
            <a:outerShdw blurRad="152400" dist="38100" dir="5400000" algn="bl" rotWithShape="0">
              <a:srgbClr val="1C1916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932688" y="368503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42 500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dans l'agglomération clermontoise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88536" y="3520440"/>
            <a:ext cx="3602736" cy="1627632"/>
          </a:xfrm>
          <a:prstGeom prst="roundRect">
            <a:avLst>
              <a:gd name="adj" fmla="val 7303"/>
            </a:avLst>
          </a:prstGeom>
          <a:solidFill>
            <a:srgbClr val="ECE9FA"/>
          </a:solidFill>
          <a:ln/>
          <a:effectLst>
            <a:outerShdw blurRad="152400" dist="38100" dir="5400000" algn="bl" rotWithShape="0">
              <a:srgbClr val="1C1916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4654296" y="368503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3 012 800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en France — le même problème partout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10144" y="3520440"/>
            <a:ext cx="3602736" cy="1627632"/>
          </a:xfrm>
          <a:prstGeom prst="roundRect">
            <a:avLst>
              <a:gd name="adj" fmla="val 7303"/>
            </a:avLst>
          </a:prstGeom>
          <a:solidFill>
            <a:srgbClr val="FBF0D6"/>
          </a:solidFill>
          <a:ln/>
          <a:effectLst>
            <a:outerShdw blurRad="152400" dist="38100" dir="5400000" algn="bl" rotWithShape="0">
              <a:srgbClr val="1C1916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8375904" y="368503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E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l'étudiant, toujours. L'établissement paie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46811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gratuite pour les étudiants · abonnement mensuel pour les établissements.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pitch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>
            <a:off x="9905695" y="4663440"/>
            <a:ext cx="1371600" cy="10204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783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976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douleurs qui n'ont jamais été reliées : des étudiants qui n'arrivent pas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décider, et des établissements qui paient un mardi au prix d'un samedi.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· CÔTÉ DEMANDE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blocages chez l'étudiant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493008" cy="30906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77824" y="2029968"/>
            <a:ext cx="420624" cy="420624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877824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615184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Personne ne tranche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108960"/>
            <a:ext cx="2871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conversation de groupe s'éteint vers 19 h — trois « ouais carrément », deux « je sais pas ». À 21 h, tout le monde est chez soi.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422452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l'envie qui manque,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 engagement visible.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57116" y="1755648"/>
            <a:ext cx="3493008" cy="30906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68012" y="2029968"/>
            <a:ext cx="420624" cy="420624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4668012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8012" y="2615184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L'info est éparpillée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68012" y="3108960"/>
            <a:ext cx="2871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bons plans circulent dans des stories qui disparaissent en 24 h, des affiches qu'on n'a pas vues, des groupes dont on ne fait pas partie.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68012" y="422452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survit à la journée,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n'est cherchable.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47304" y="1755648"/>
            <a:ext cx="3493008" cy="30906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458200" y="2029968"/>
            <a:ext cx="420624" cy="420624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845820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615184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budget ne suit pas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108960"/>
            <a:ext cx="28712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Sortir quatre fois dans le mois au prix normal n'est pas tenable. Alors on coupe les sorties.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422452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on s'isole un peu plus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fois.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074920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FBE7E1"/>
          </a:solidFill>
          <a:ln/>
          <a:effectLst>
            <a:outerShdw blurRad="152400" dist="38100" dir="5400000" algn="bl" rotWithShape="0">
              <a:srgbClr val="1C1916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978408" y="5074920"/>
            <a:ext cx="102348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informations qui décident d'une sortie — ce qui se passe ce soir, qui y va, et combien ça coûte — existent séparément. Aucune n'existe ensemble.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 problème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· CÔTÉ OFFRE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blocages chez l'établissement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493008" cy="2395728"/>
          </a:xfrm>
          <a:prstGeom prst="roundRect">
            <a:avLst>
              <a:gd name="adj" fmla="val 49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4A40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560320"/>
            <a:ext cx="2871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mardi coûte aussi cher qu'un samedi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20040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Loyer, personnel, licence, électricité : rien ne baisse quand la salle se vide. Seule la recette baisse.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7116" y="1755648"/>
            <a:ext cx="3493008" cy="2395728"/>
          </a:xfrm>
          <a:prstGeom prst="roundRect">
            <a:avLst>
              <a:gd name="adj" fmla="val 49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68012" y="2011680"/>
            <a:ext cx="420624" cy="420624"/>
          </a:xfrm>
          <a:prstGeom prst="ellipse">
            <a:avLst/>
          </a:prstGeom>
          <a:solidFill>
            <a:srgbClr val="4A40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4668012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8012" y="2560320"/>
            <a:ext cx="2871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story ne remplit pas une salle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668012" y="320040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centaines de vues, et personne ne dit qu'il vient. Le soir venu, on ouvre sans savoir si on prépare pour vingt personnes ou pour deux.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47304" y="1755648"/>
            <a:ext cx="3493008" cy="2395728"/>
          </a:xfrm>
          <a:prstGeom prst="roundRect">
            <a:avLst>
              <a:gd name="adj" fmla="val 49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458200" y="2011680"/>
            <a:ext cx="420624" cy="420624"/>
          </a:xfrm>
          <a:prstGeom prst="ellipse">
            <a:avLst/>
          </a:prstGeom>
          <a:solidFill>
            <a:srgbClr val="4A40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845820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560320"/>
            <a:ext cx="28712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« deal étudiant » ne se mesure pas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20040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affiche, une remise accordée au jugé, aucune trace. À la fin du mois, impossible de dire si l'opération a fonctionné.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407408"/>
            <a:ext cx="11057839" cy="1536192"/>
          </a:xfrm>
          <a:prstGeom prst="roundRect">
            <a:avLst>
              <a:gd name="adj" fmla="val 7738"/>
            </a:avLst>
          </a:prstGeom>
          <a:solidFill>
            <a:srgbClr val="1C1916"/>
          </a:solidFill>
          <a:ln/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1024128" y="455371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Remplir un soir creux, c'est de la marge quasi pure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499262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étudiants de plus un mardi, à 12 € de panier moyen : environ 180 € de recette et une centaine d'euros de marge sur une soirée qui, sinon, tournerait à vide.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086600" y="5047488"/>
            <a:ext cx="1325880" cy="420624"/>
          </a:xfrm>
          <a:prstGeom prst="roundRect">
            <a:avLst>
              <a:gd name="adj" fmla="val 65217"/>
            </a:avLst>
          </a:prstGeom>
          <a:solidFill>
            <a:srgbClr val="27221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7086600" y="504748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étudiants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0" y="5047488"/>
            <a:ext cx="1325880" cy="420624"/>
          </a:xfrm>
          <a:prstGeom prst="roundRect">
            <a:avLst>
              <a:gd name="adj" fmla="val 65217"/>
            </a:avLst>
          </a:prstGeom>
          <a:solidFill>
            <a:srgbClr val="27221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8503920" y="504748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180 € de recette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921240" y="5047488"/>
            <a:ext cx="1325880" cy="420624"/>
          </a:xfrm>
          <a:prstGeom prst="roundRect">
            <a:avLst>
              <a:gd name="adj" fmla="val 65217"/>
            </a:avLst>
          </a:prstGeom>
          <a:solidFill>
            <a:srgbClr val="EFB2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9921240" y="504748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100 € de marge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4590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cette marge qui finance notre abonnement.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 problème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· POURQUOI IL EXISTE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 canal ne relie l'intention à la présence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328416" y="193852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BE7E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img/ic_TbSpeakerphone_E049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284" y="202539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77824" y="1993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2340864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diffuse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962656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n'enregistre rien : ni réservation, ni place, ni preuve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57116" y="1783080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7118604" y="193852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CE9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img/ic_TbTicket_4A40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202539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8012" y="1993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billetterie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668012" y="2340864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enregistre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4668012" y="2962656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suppose un billet payant — le mardi d'un bar n'en a pas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47304" y="1783080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10908792" y="193852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BF0D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img/ic_TbMessageCircle_8E64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5660" y="2025396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58200" y="199339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bouche-à-oreille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2340864"/>
            <a:ext cx="2871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E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décide</a:t>
            </a:r>
            <a:endParaRPr lang="en-US" sz="2800" dirty="0"/>
          </a:p>
        </p:txBody>
      </p:sp>
      <p:sp>
        <p:nvSpPr>
          <p:cNvPr id="21" name="Text 16"/>
          <p:cNvSpPr txBox="1"/>
          <p:nvPr/>
        </p:nvSpPr>
        <p:spPr>
          <a:xfrm>
            <a:off x="8458200" y="2962656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ne se compte pas et reste invisible pour le gérant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66928" y="4224528"/>
            <a:ext cx="11057839" cy="1719072"/>
          </a:xfrm>
          <a:prstGeom prst="roundRect">
            <a:avLst>
              <a:gd name="adj" fmla="val 6915"/>
            </a:avLst>
          </a:prstGeom>
          <a:solidFill>
            <a:srgbClr val="1C1916"/>
          </a:solidFill>
          <a:ln/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18"/>
          <p:cNvSpPr txBox="1"/>
          <p:nvPr/>
        </p:nvSpPr>
        <p:spPr>
          <a:xfrm>
            <a:off x="1069848" y="44074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maillon manquant n'est pas la communication.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1069848" y="479145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la réservation légère et la preuve de venue.</a:t>
            </a:r>
            <a:endParaRPr lang="en-US" sz="2700" dirty="0"/>
          </a:p>
        </p:txBody>
      </p:sp>
      <p:sp>
        <p:nvSpPr>
          <p:cNvPr id="25" name="Text 20"/>
          <p:cNvSpPr txBox="1"/>
          <p:nvPr/>
        </p:nvSpPr>
        <p:spPr>
          <a:xfrm>
            <a:off x="1069848" y="5413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exactement l'espace que StudentLink occupe : entre la story qu'on voit et l'étudiant qui pousse la porte.</a:t>
            </a:r>
            <a:endParaRPr lang="en-US" sz="1250" dirty="0"/>
          </a:p>
        </p:txBody>
      </p:sp>
      <p:pic>
        <p:nvPicPr>
          <p:cNvPr id="26" name="Image 3" descr="img/logo_mark_light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10149840" y="4617720"/>
            <a:ext cx="1097280" cy="816559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 problème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>
            <a:off x="9905695" y="4663440"/>
            <a:ext cx="1371600" cy="10204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783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976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gratuite côté étudiant, un espace de gestion côté établissement,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un QR code scanné à l'entrée qui relie enfin les deux.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NOTRE PROMESSE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promesse par côté du marché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629400" cy="1975104"/>
          </a:xfrm>
          <a:prstGeom prst="roundRect">
            <a:avLst>
              <a:gd name="adj" fmla="val 6019"/>
            </a:avLst>
          </a:prstGeom>
          <a:solidFill>
            <a:srgbClr val="FBE7E1"/>
          </a:solidFill>
          <a:ln/>
          <a:effectLst>
            <a:outerShdw blurRad="152400" dist="38100" dir="5400000" algn="bl" rotWithShape="0">
              <a:srgbClr val="1C1916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32688" y="1993392"/>
            <a:ext cx="1417320" cy="329184"/>
          </a:xfrm>
          <a:prstGeom prst="roundRect">
            <a:avLst>
              <a:gd name="adj" fmla="val 83333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932688" y="19933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395728"/>
            <a:ext cx="5897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soir, tu sais quoi faire, avec qui, et à quel prix.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090672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soirées de la ville et les squads sportives, les amis déjà inscrits, la remise avant de venir — et le pass dans la poche. Gratuit, sans publicité.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950208"/>
            <a:ext cx="6629400" cy="1993392"/>
          </a:xfrm>
          <a:prstGeom prst="roundRect">
            <a:avLst>
              <a:gd name="adj" fmla="val 5963"/>
            </a:avLst>
          </a:prstGeom>
          <a:solidFill>
            <a:srgbClr val="ECE9FA"/>
          </a:solidFill>
          <a:ln/>
          <a:effectLst>
            <a:outerShdw blurRad="152400" dist="38100" dir="5400000" algn="bl" rotWithShape="0">
              <a:srgbClr val="1C1916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932688" y="4160520"/>
            <a:ext cx="1828800" cy="329184"/>
          </a:xfrm>
          <a:prstGeom prst="roundRect">
            <a:avLst>
              <a:gd name="adj" fmla="val 83333"/>
            </a:avLst>
          </a:prstGeom>
          <a:solidFill>
            <a:srgbClr val="4A40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932688" y="41605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562856"/>
            <a:ext cx="5897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332A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ne remplissez plus la salle un étudiant à la fois.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5276088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la remplissez par tables de quatre — et vous avez le chiffre le lendemain matin : inscrits, présents scannés, taux de présence, composition par école.</a:t>
            </a:r>
            <a:endParaRPr lang="en-US" sz="1250" dirty="0"/>
          </a:p>
        </p:txBody>
      </p:sp>
      <p:pic>
        <p:nvPicPr>
          <p:cNvPr id="14" name="Image 0" descr="img/m_p_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783080"/>
            <a:ext cx="1879956" cy="4069080"/>
          </a:xfrm>
          <a:prstGeom prst="rect">
            <a:avLst/>
          </a:prstGeom>
          <a:effectLst>
            <a:outerShdw blurRad="228600" dist="63500" dir="5400000" algn="bl" rotWithShape="0">
              <a:srgbClr val="1C1916">
                <a:alpha val="20000"/>
              </a:srgbClr>
            </a:outerShdw>
          </a:effectLst>
        </p:spPr>
      </p:pic>
      <p:sp>
        <p:nvSpPr>
          <p:cNvPr id="15" name="Text 12"/>
          <p:cNvSpPr txBox="1"/>
          <p:nvPr/>
        </p:nvSpPr>
        <p:spPr>
          <a:xfrm>
            <a:off x="8183880" y="5961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pass étudiant, scanné à l'entrée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LE PRODUIT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68096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étudiant, en quatre écrans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347472" cy="347472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66928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426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Inscription 18+</a:t>
            </a:r>
            <a:endParaRPr lang="en-US" sz="1500" dirty="0"/>
          </a:p>
        </p:txBody>
      </p:sp>
      <p:pic>
        <p:nvPicPr>
          <p:cNvPr id="7" name="Image 0" descr="img/m_p_inscri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38528"/>
            <a:ext cx="1825036" cy="3950208"/>
          </a:xfrm>
          <a:prstGeom prst="rect">
            <a:avLst/>
          </a:prstGeom>
          <a:effectLst>
            <a:outerShdw blurRad="228600" dist="63500" dir="5400000" algn="bl" rotWithShape="0">
              <a:srgbClr val="1C1916">
                <a:alpha val="20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3639312" y="1426464"/>
            <a:ext cx="347472" cy="347472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3639312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096512" y="1426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fil des soirées</a:t>
            </a:r>
            <a:endParaRPr lang="en-US" sz="1500" dirty="0"/>
          </a:p>
        </p:txBody>
      </p:sp>
      <p:pic>
        <p:nvPicPr>
          <p:cNvPr id="11" name="Image 1" descr="img/m_fe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1938528"/>
            <a:ext cx="1825036" cy="3950208"/>
          </a:xfrm>
          <a:prstGeom prst="rect">
            <a:avLst/>
          </a:prstGeom>
          <a:effectLst>
            <a:outerShdw blurRad="228600" dist="63500" dir="5400000" algn="bl" rotWithShape="0">
              <a:srgbClr val="1C1916">
                <a:alpha val="20000"/>
              </a:srgbClr>
            </a:outerShdw>
          </a:effectLst>
        </p:spPr>
      </p:pic>
      <p:sp>
        <p:nvSpPr>
          <p:cNvPr id="12" name="Shape 8"/>
          <p:cNvSpPr/>
          <p:nvPr/>
        </p:nvSpPr>
        <p:spPr>
          <a:xfrm>
            <a:off x="6711696" y="1426464"/>
            <a:ext cx="347472" cy="347472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 txBox="1"/>
          <p:nvPr/>
        </p:nvSpPr>
        <p:spPr>
          <a:xfrm>
            <a:off x="6711696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168896" y="1426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fiche soirée</a:t>
            </a:r>
            <a:endParaRPr lang="en-US" sz="1500" dirty="0"/>
          </a:p>
        </p:txBody>
      </p:sp>
      <p:pic>
        <p:nvPicPr>
          <p:cNvPr id="15" name="Image 2" descr="img/m_evene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1938528"/>
            <a:ext cx="1825036" cy="3950208"/>
          </a:xfrm>
          <a:prstGeom prst="rect">
            <a:avLst/>
          </a:prstGeom>
          <a:effectLst>
            <a:outerShdw blurRad="228600" dist="63500" dir="5400000" algn="bl" rotWithShape="0">
              <a:srgbClr val="1C1916">
                <a:alpha val="20000"/>
              </a:srgbClr>
            </a:outerShdw>
          </a:effectLst>
        </p:spPr>
      </p:pic>
      <p:sp>
        <p:nvSpPr>
          <p:cNvPr id="16" name="Shape 11"/>
          <p:cNvSpPr/>
          <p:nvPr/>
        </p:nvSpPr>
        <p:spPr>
          <a:xfrm>
            <a:off x="9784080" y="1426464"/>
            <a:ext cx="347472" cy="347472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2"/>
          <p:cNvSpPr txBox="1"/>
          <p:nvPr/>
        </p:nvSpPr>
        <p:spPr>
          <a:xfrm>
            <a:off x="978408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0241280" y="1426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pass en poche</a:t>
            </a:r>
            <a:endParaRPr lang="en-US" sz="1500" dirty="0"/>
          </a:p>
        </p:txBody>
      </p:sp>
      <p:pic>
        <p:nvPicPr>
          <p:cNvPr id="19" name="Image 3" descr="img/m_p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0" y="1938528"/>
            <a:ext cx="1825036" cy="3950208"/>
          </a:xfrm>
          <a:prstGeom prst="rect">
            <a:avLst/>
          </a:prstGeom>
          <a:effectLst>
            <a:outerShdw blurRad="228600" dist="63500" dir="5400000" algn="bl" rotWithShape="0">
              <a:srgbClr val="1C1916">
                <a:alpha val="20000"/>
              </a:srgbClr>
            </a:outerShdw>
          </a:effectLst>
        </p:spPr>
      </p:pic>
      <p:sp>
        <p:nvSpPr>
          <p:cNvPr id="20" name="Text 14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CÔTÉ ÉTUDIANT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l'étudiant trouve dans l'application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22960" y="19842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BE7E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img/ic_TbQrcode_E049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061972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98424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 &amp; pass QR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59736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pass généré à chaque réservation, scanné à l'entrée. Annulable : la place repart au stock.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93008" y="1783080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749040" y="19842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CEBD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img/ic_TbBolt_EC82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764" y="206197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24528" y="198424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Offres flash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749040" y="2459736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remises limitées dans le temps, avec compte à rebours, qui remontent en haut du fil.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19088" y="1783080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6675120" y="19842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CE9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img/ic_TbRun_4A40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44" y="206197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50608" y="1984248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Squads sportives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675120" y="2459736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Running, vélo, muscu. Un niveau annoncé, des places limitées, une heure et un lieu. On rejoint comme on réserve.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66928" y="3822192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822960" y="4023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BF0D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img/ic_TbUsers_8E64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" y="4101084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98448" y="402336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Amis &amp; fil social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498848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des étudiants de sa promo et voir qui va où. La vraie raison de revenir.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493008" y="3822192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3749040" y="4023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3F2E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4" descr="img/ic_TbStar_1F6B3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6764" y="4101084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224528" y="402336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 après check-in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3749040" y="4498848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sur 5 et commentaire, réservés à ceux qui sont réellement venus.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419088" y="3822192"/>
            <a:ext cx="2743200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6675120" y="4023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BE7E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5" descr="img/ic_TbTrophy_BB361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2844" y="4101084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50608" y="402336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XP, niveaux, badges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6675120" y="4498848"/>
            <a:ext cx="22494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Neuf badges à débloquer et les économies cumulées affichées dans le wallet.</a:t>
            </a:r>
            <a:endParaRPr lang="en-US" sz="1150" dirty="0"/>
          </a:p>
        </p:txBody>
      </p:sp>
      <p:pic>
        <p:nvPicPr>
          <p:cNvPr id="34" name="Image 6" descr="img/m_p_fe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3184" y="1783080"/>
            <a:ext cx="1879956" cy="4069080"/>
          </a:xfrm>
          <a:prstGeom prst="rect">
            <a:avLst/>
          </a:prstGeom>
          <a:effectLst>
            <a:outerShdw blurRad="228600" dist="63500" dir="5400000" algn="bl" rotWithShape="0">
              <a:srgbClr val="1C1916">
                <a:alpha val="20000"/>
              </a:srgbClr>
            </a:outerShdw>
          </a:effectLst>
        </p:spPr>
      </p:pic>
      <p:sp>
        <p:nvSpPr>
          <p:cNvPr id="35" name="Text 26"/>
          <p:cNvSpPr txBox="1"/>
          <p:nvPr/>
        </p:nvSpPr>
        <p:spPr>
          <a:xfrm>
            <a:off x="8778240" y="5961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« Les bons plans du moment »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CE QUI FAIT REVENIR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soirée vaut plus quand des amis y sont déjà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64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catalogue d'événements se copie en trois mois. Un graphe d'amis par école, non.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155448" cy="155448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877824" y="23591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graphe par école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68833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profil porte son école et sa promotion. On suit ses amis, on voit leurs sorties, on les rejoint.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611880"/>
            <a:ext cx="155448" cy="155448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877824" y="35478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squads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87705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groupes de sortie ou de sport que les étudiants créent eux-mêmes. Une sortie ponctuelle devient un groupe qui se reforme.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800600"/>
            <a:ext cx="155448" cy="155448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877824" y="47365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invitations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506577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la fiche soirée, en deux taps. C'est notre principal levier de viralité — objectif 0,4 inscription supplémentaire par inscrit à M6.</a:t>
            </a:r>
            <a:endParaRPr lang="en-US" sz="1200" dirty="0"/>
          </a:p>
        </p:txBody>
      </p:sp>
      <p:pic>
        <p:nvPicPr>
          <p:cNvPr id="14" name="Image 0" descr="img/m_p_person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783080"/>
            <a:ext cx="1774340" cy="3840480"/>
          </a:xfrm>
          <a:prstGeom prst="rect">
            <a:avLst/>
          </a:prstGeom>
          <a:effectLst>
            <a:outerShdw blurRad="228600" dist="63500" dir="5400000" algn="bl" rotWithShape="0">
              <a:srgbClr val="1C1916">
                <a:alpha val="20000"/>
              </a:srgbClr>
            </a:outerShdw>
          </a:effectLst>
        </p:spPr>
      </p:pic>
      <p:sp>
        <p:nvSpPr>
          <p:cNvPr id="15" name="Text 12"/>
          <p:cNvSpPr txBox="1"/>
          <p:nvPr/>
        </p:nvSpPr>
        <p:spPr>
          <a:xfrm>
            <a:off x="5504688" y="5724144"/>
            <a:ext cx="237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sa promo</a:t>
            </a:r>
            <a:endParaRPr lang="en-US" sz="1100" dirty="0"/>
          </a:p>
        </p:txBody>
      </p:sp>
      <p:pic>
        <p:nvPicPr>
          <p:cNvPr id="16" name="Image 1" descr="img/m_squa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1783080"/>
            <a:ext cx="1774340" cy="3840480"/>
          </a:xfrm>
          <a:prstGeom prst="rect">
            <a:avLst/>
          </a:prstGeom>
          <a:effectLst>
            <a:outerShdw blurRad="228600" dist="63500" dir="5400000" algn="bl" rotWithShape="0">
              <a:srgbClr val="1C1916">
                <a:alpha val="20000"/>
              </a:srgbClr>
            </a:outerShdw>
          </a:effectLst>
        </p:spPr>
      </p:pic>
      <p:sp>
        <p:nvSpPr>
          <p:cNvPr id="17" name="Text 13"/>
          <p:cNvSpPr txBox="1"/>
          <p:nvPr/>
        </p:nvSpPr>
        <p:spPr>
          <a:xfrm>
            <a:off x="7498080" y="5724144"/>
            <a:ext cx="237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squads</a:t>
            </a:r>
            <a:endParaRPr lang="en-US" sz="1100" dirty="0"/>
          </a:p>
        </p:txBody>
      </p:sp>
      <p:pic>
        <p:nvPicPr>
          <p:cNvPr id="18" name="Image 2" descr="img/m_p_profil_aut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4" y="1783080"/>
            <a:ext cx="1774340" cy="3840480"/>
          </a:xfrm>
          <a:prstGeom prst="rect">
            <a:avLst/>
          </a:prstGeom>
          <a:effectLst>
            <a:outerShdw blurRad="228600" dist="63500" dir="5400000" algn="bl" rotWithShape="0">
              <a:srgbClr val="1C1916">
                <a:alpha val="20000"/>
              </a:srgbClr>
            </a:outerShdw>
          </a:effectLst>
        </p:spPr>
      </p:pic>
      <p:sp>
        <p:nvSpPr>
          <p:cNvPr id="19" name="Text 14"/>
          <p:cNvSpPr txBox="1"/>
          <p:nvPr/>
        </p:nvSpPr>
        <p:spPr>
          <a:xfrm>
            <a:off x="9491472" y="5724144"/>
            <a:ext cx="237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profil d'un ami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CÔTÉ ÉTUDIANT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Sortir, ce n'est pas seulement boire un verre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4592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partie des étudiants ne va jamais en boîte, et personne ne sort tous les soirs. Les squads leur donnent une raison d'ouvrir l'application un mardi matin.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155448" cy="155448"/>
          </a:xfrm>
          <a:prstGeom prst="ellipse">
            <a:avLst/>
          </a:prstGeom>
          <a:solidFill>
            <a:srgbClr val="4A40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877824" y="2395728"/>
            <a:ext cx="6272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activités, quatre niveaux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724912"/>
            <a:ext cx="6272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Running, vélo, muscu — et un type libre pour le reste. Le niveau est annoncé : tous, débutant, intermédiaire ou avancé. Personne n'arrive en se demandant s'il va suivre le groupe.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511296"/>
            <a:ext cx="155448" cy="155448"/>
          </a:xfrm>
          <a:prstGeom prst="ellipse">
            <a:avLst/>
          </a:prstGeom>
          <a:solidFill>
            <a:srgbClr val="4A40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877824" y="3438144"/>
            <a:ext cx="6272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rendez-vous, pas un fil d'activités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767328"/>
            <a:ext cx="6272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heure, lieu, nombre de places. Une squad se rejoint exactement comme une soirée se réserve — et le quota évite le groupe de trente.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553712"/>
            <a:ext cx="155448" cy="155448"/>
          </a:xfrm>
          <a:prstGeom prst="ellipse">
            <a:avLst/>
          </a:prstGeom>
          <a:solidFill>
            <a:srgbClr val="4A40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877824" y="4480560"/>
            <a:ext cx="6272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Créées par les étudiants, pas par nous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4809744"/>
            <a:ext cx="6272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trente secondes, depuis le téléphone. Le Puy-de-Dôme au coucher du soleil, le tour du lac d'Aydat, le footing au Jardin Lecoq, le push day à la salle.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5504688"/>
            <a:ext cx="6583680" cy="658368"/>
          </a:xfrm>
          <a:prstGeom prst="roundRect">
            <a:avLst>
              <a:gd name="adj" fmla="val 18056"/>
            </a:avLst>
          </a:prstGeom>
          <a:solidFill>
            <a:srgbClr val="ECE9FA"/>
          </a:solidFill>
          <a:ln/>
          <a:effectLst>
            <a:outerShdw blurRad="152400" dist="38100" dir="5400000" algn="bl" rotWithShape="0">
              <a:srgbClr val="1C1916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896112" y="550468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332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contenu qui ne nous coûte rien, qui remplit le fil en semaine — et qui ouvre un segment partenaire : les salles de sport ont elles aussi des créneaux creux.</a:t>
            </a:r>
            <a:endParaRPr lang="en-US" sz="1150" dirty="0"/>
          </a:p>
        </p:txBody>
      </p:sp>
      <p:pic>
        <p:nvPicPr>
          <p:cNvPr id="16" name="Image 0" descr="img/m_squ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783080"/>
            <a:ext cx="1837709" cy="3977640"/>
          </a:xfrm>
          <a:prstGeom prst="rect">
            <a:avLst/>
          </a:prstGeom>
          <a:effectLst>
            <a:outerShdw blurRad="228600" dist="63500" dir="5400000" algn="bl" rotWithShape="0">
              <a:srgbClr val="1C1916">
                <a:alpha val="20000"/>
              </a:srgbClr>
            </a:outerShdw>
          </a:effectLst>
        </p:spPr>
      </p:pic>
      <p:sp>
        <p:nvSpPr>
          <p:cNvPr id="17" name="Text 14"/>
          <p:cNvSpPr txBox="1"/>
          <p:nvPr/>
        </p:nvSpPr>
        <p:spPr>
          <a:xfrm>
            <a:off x="7223760" y="5833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des squads</a:t>
            </a:r>
            <a:endParaRPr lang="en-US" sz="1100" dirty="0"/>
          </a:p>
        </p:txBody>
      </p:sp>
      <p:pic>
        <p:nvPicPr>
          <p:cNvPr id="18" name="Image 1" descr="img/c_p_squad_car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1783080"/>
            <a:ext cx="2075688" cy="1868119"/>
          </a:xfrm>
          <a:prstGeom prst="rect">
            <a:avLst/>
          </a:prstGeom>
          <a:effectLst>
            <a:outerShdw blurRad="203200" dist="50800" dir="5400000" algn="bl" rotWithShape="0">
              <a:srgbClr val="1C1916">
                <a:alpha val="16000"/>
              </a:srgbClr>
            </a:outerShdw>
          </a:effectLst>
        </p:spPr>
      </p:pic>
      <p:sp>
        <p:nvSpPr>
          <p:cNvPr id="19" name="Text 15"/>
          <p:cNvSpPr txBox="1"/>
          <p:nvPr/>
        </p:nvSpPr>
        <p:spPr>
          <a:xfrm>
            <a:off x="9418320" y="37307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squad : niveau, places, lieu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9555480" y="4224528"/>
            <a:ext cx="2075688" cy="1572768"/>
          </a:xfrm>
          <a:prstGeom prst="roundRect">
            <a:avLst>
              <a:gd name="adj" fmla="val 7558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 txBox="1"/>
          <p:nvPr/>
        </p:nvSpPr>
        <p:spPr>
          <a:xfrm>
            <a:off x="9784080" y="4370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TYPES</a:t>
            </a:r>
            <a:endParaRPr lang="en-US" sz="850" dirty="0"/>
          </a:p>
        </p:txBody>
      </p:sp>
      <p:pic>
        <p:nvPicPr>
          <p:cNvPr id="22" name="Image 2" descr="img/ic_TbRun_E049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2" y="4654296"/>
            <a:ext cx="192024" cy="19202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040112" y="462686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100" dirty="0"/>
          </a:p>
        </p:txBody>
      </p:sp>
      <p:pic>
        <p:nvPicPr>
          <p:cNvPr id="24" name="Image 3" descr="img/ic_TbBike_EC82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5792" y="4946904"/>
            <a:ext cx="192024" cy="1920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040112" y="49194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Vélo</a:t>
            </a:r>
            <a:endParaRPr lang="en-US" sz="1100" dirty="0"/>
          </a:p>
        </p:txBody>
      </p:sp>
      <p:pic>
        <p:nvPicPr>
          <p:cNvPr id="26" name="Image 4" descr="img/ic_TbBarbell_4A40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5792" y="5239512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040112" y="52120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</a:t>
            </a:r>
            <a:endParaRPr lang="en-US" sz="1100" dirty="0"/>
          </a:p>
        </p:txBody>
      </p:sp>
      <p:pic>
        <p:nvPicPr>
          <p:cNvPr id="28" name="Image 5" descr="img/ic_TbDots_8E64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5792" y="5532120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0040112" y="550468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CÔTÉ ÉTABLISSEMENT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Publier une soirée : deux minutes, depuis le téléphone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10512"/>
            <a:ext cx="6355080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59536" y="213969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E9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img/ic_TbCalendarPlus_4A40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2235708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99616" y="19568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Créer la soirée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499616" y="2286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Titre, type, date, places, remise. Modifiable jusqu'à la dernière minute.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3108960"/>
            <a:ext cx="6355080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859536" y="34381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E9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img/ic_TbScan_4A40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3534156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99616" y="32552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Scanner à l'entrée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1499616" y="35844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personnel de salle scanne les pass depuis son propre téléphone. Aucune formation : une main occupée, debout, de nuit.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" y="4407408"/>
            <a:ext cx="6355080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859536" y="47365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E9F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img/ic_TbChartBar_4A40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" y="4832604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99616" y="45537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Lire le chiffre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1499616" y="4882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Inscrits, présents, taux de présence, composition par école et pics horaires — dès le lendemain.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66928" y="576072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L'onboarding d'un établissement tient en vingt minutes, sur place.</a:t>
            </a:r>
            <a:endParaRPr lang="en-US" sz="1250" dirty="0"/>
          </a:p>
        </p:txBody>
      </p:sp>
      <p:pic>
        <p:nvPicPr>
          <p:cNvPr id="20" name="Image 3" descr="img/m_pro_cre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1783080"/>
            <a:ext cx="1837709" cy="3977640"/>
          </a:xfrm>
          <a:prstGeom prst="rect">
            <a:avLst/>
          </a:prstGeom>
          <a:effectLst>
            <a:outerShdw blurRad="228600" dist="63500" dir="5400000" algn="bl" rotWithShape="0">
              <a:srgbClr val="1C1916">
                <a:alpha val="20000"/>
              </a:srgbClr>
            </a:outerShdw>
          </a:effectLst>
        </p:spPr>
      </p:pic>
      <p:pic>
        <p:nvPicPr>
          <p:cNvPr id="21" name="Image 4" descr="img/m_pro_ev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0" y="1783080"/>
            <a:ext cx="1837709" cy="3977640"/>
          </a:xfrm>
          <a:prstGeom prst="rect">
            <a:avLst/>
          </a:prstGeom>
          <a:effectLst>
            <a:outerShdw blurRad="228600" dist="63500" dir="5400000" algn="bl" rotWithShape="0">
              <a:srgbClr val="1C1916">
                <a:alpha val="20000"/>
              </a:srgbClr>
            </a:outerShdw>
          </a:effectLst>
        </p:spPr>
      </p:pic>
      <p:sp>
        <p:nvSpPr>
          <p:cNvPr id="22" name="Text 15"/>
          <p:cNvSpPr txBox="1"/>
          <p:nvPr/>
        </p:nvSpPr>
        <p:spPr>
          <a:xfrm>
            <a:off x="7196328" y="5870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événement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9436608" y="58704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ses soirées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CE QUE NOUS VENDONS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Nous ne vendons pas de l'audience. Nous vendons un chiffre.</a:t>
            </a:r>
            <a:endParaRPr lang="en-US" sz="3000" dirty="0"/>
          </a:p>
        </p:txBody>
      </p:sp>
      <p:pic>
        <p:nvPicPr>
          <p:cNvPr id="4" name="Image 0" descr="img/c_bureau_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83080"/>
            <a:ext cx="6400800" cy="4002634"/>
          </a:xfrm>
          <a:prstGeom prst="rect">
            <a:avLst/>
          </a:prstGeom>
          <a:effectLst>
            <a:outerShdw blurRad="203200" dist="50800" dir="5400000" algn="bl" rotWithShape="0">
              <a:srgbClr val="1C1916">
                <a:alpha val="16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66928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partenaire — gestion des soirées et statistiques de présence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178040" y="1783080"/>
            <a:ext cx="4453128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 txBox="1"/>
          <p:nvPr/>
        </p:nvSpPr>
        <p:spPr>
          <a:xfrm>
            <a:off x="7479792" y="194767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759952" y="19659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inscrits sur la soirée du mardi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178040" y="3136392"/>
            <a:ext cx="4453128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7479792" y="330098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759952" y="331927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présents, pass scannés à l'entrée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178040" y="4489704"/>
            <a:ext cx="4453128" cy="1298448"/>
          </a:xfrm>
          <a:prstGeom prst="roundRect">
            <a:avLst>
              <a:gd name="adj" fmla="val 9155"/>
            </a:avLst>
          </a:prstGeom>
          <a:solidFill>
            <a:srgbClr val="FBF0D6"/>
          </a:solidFill>
          <a:ln w="9525">
            <a:solidFill>
              <a:srgbClr val="EFB23A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 txBox="1"/>
          <p:nvPr/>
        </p:nvSpPr>
        <p:spPr>
          <a:xfrm>
            <a:off x="7479792" y="465429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E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78 %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8759952" y="4672584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taux de présence — le premier chiffre de fréquentation étudiante qu'un gérant ait jamais eu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LE MOMENT QUI ACCROCHE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moments magiques, deux activations mesurées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7839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32688" y="1847088"/>
            <a:ext cx="1417320" cy="310896"/>
          </a:xfrm>
          <a:prstGeom prst="roundRect">
            <a:avLst>
              <a:gd name="adj" fmla="val 88235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932688" y="18470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24942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présente son téléphone, le barman scanne, il entre avec sa remise — devant ses amis.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83464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cet instant, l'application cesse d'être une liste d'événements et devient un laissez-passer.  ·  Activation : premier pass scanné sous 14 jours, pour 40 % des inscrits.</a:t>
            </a:r>
            <a:endParaRPr lang="en-US" sz="1200" dirty="0"/>
          </a:p>
        </p:txBody>
      </p:sp>
      <p:pic>
        <p:nvPicPr>
          <p:cNvPr id="9" name="Image 0" descr="img/c_p_econom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2148840"/>
            <a:ext cx="3566160" cy="1092523"/>
          </a:xfrm>
          <a:prstGeom prst="rect">
            <a:avLst/>
          </a:prstGeom>
          <a:effectLst>
            <a:outerShdw blurRad="203200" dist="50800" dir="5400000" algn="bl" rotWithShape="0">
              <a:srgbClr val="1C1916">
                <a:alpha val="16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566928" y="3950208"/>
            <a:ext cx="11057839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932688" y="4151376"/>
            <a:ext cx="1828800" cy="310896"/>
          </a:xfrm>
          <a:prstGeom prst="roundRect">
            <a:avLst>
              <a:gd name="adj" fmla="val 88235"/>
            </a:avLst>
          </a:prstGeom>
          <a:solidFill>
            <a:srgbClr val="4A40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932688" y="41513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45537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lendemain matin, sur le tableau de bord : 18 inscrits, 14 scannés, 78 % de présence.</a:t>
            </a:r>
            <a:endParaRPr lang="en-US" sz="165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513892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d'autre ne lui donne ce chiffre.  ·  Activation : une première soirée à 10 pass scannés au moins, dans les 30 jours suivant la création du compte.</a:t>
            </a:r>
            <a:endParaRPr lang="en-US" sz="1200" dirty="0"/>
          </a:p>
        </p:txBody>
      </p:sp>
      <p:pic>
        <p:nvPicPr>
          <p:cNvPr id="15" name="Image 1" descr="img/c_carte_sal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4041648"/>
            <a:ext cx="2606040" cy="1861457"/>
          </a:xfrm>
          <a:prstGeom prst="rect">
            <a:avLst/>
          </a:prstGeom>
          <a:effectLst>
            <a:outerShdw blurRad="203200" dist="50800" dir="5400000" algn="bl" rotWithShape="0">
              <a:srgbClr val="1C1916">
                <a:alpha val="16000"/>
              </a:srgbClr>
            </a:outerShdw>
          </a:effectLst>
        </p:spPr>
      </p:pic>
      <p:sp>
        <p:nvSpPr>
          <p:cNvPr id="16" name="Text 12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ÉTAT DU PRODUIT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produit n'est pas une maquette : il tourne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493008" cy="406908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41248" y="1975104"/>
            <a:ext cx="2651760" cy="347472"/>
          </a:xfrm>
          <a:prstGeom prst="roundRect">
            <a:avLst>
              <a:gd name="adj" fmla="val 78947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841248" y="19751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SOCLE VENDABLE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487168"/>
            <a:ext cx="29260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avec vérification 18+ bloquante côté serveur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de découverte, filtres par lieu et par intérêt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soirée : date, remise, places restantes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Réservation, pass QR, annulation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partenaire et création d'événements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des pass à l'entrée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inscrits / présents / taux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7116" y="1755648"/>
            <a:ext cx="3493008" cy="406908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631436" y="1975104"/>
            <a:ext cx="2651760" cy="347472"/>
          </a:xfrm>
          <a:prstGeom prst="roundRect">
            <a:avLst>
              <a:gd name="adj" fmla="val 78947"/>
            </a:avLst>
          </a:prstGeom>
          <a:solidFill>
            <a:srgbClr val="4A40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4631436" y="19751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FAIT LA DIFFÉRENCE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649724" y="2487168"/>
            <a:ext cx="29260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Invitations d'amis depuis la fiche soirée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social et suivi entre étudiants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 sportives : running, vélo, muscu, quatre niveaux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flash à expiration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et notes réservés aux présents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niveaux et neuf badges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par école et pics horaires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Signalement, blocage, modération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47304" y="1755648"/>
            <a:ext cx="3493008" cy="406908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421624" y="1975104"/>
            <a:ext cx="2651760" cy="347472"/>
          </a:xfrm>
          <a:prstGeom prst="roundRect">
            <a:avLst>
              <a:gd name="adj" fmla="val 78947"/>
            </a:avLst>
          </a:prstGeom>
          <a:solidFill>
            <a:srgbClr val="8E64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8421624" y="19751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ET CONFORMITÉ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439912" y="2487168"/>
            <a:ext cx="29260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8.3, MySQL 8, PDO — hébergement mutualisé ou Railway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installable et page hors-ligne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CSRF, limitation de débit, mots de passe hachés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 et PHPStan niveau 5, CI GitHub Actions sur trois versions de PHP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RGPD et politique de confidentialité rédigés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La solution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>
            <a:off x="9905695" y="4663440"/>
            <a:ext cx="1371600" cy="10204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783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économique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976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L'étudiant ne paie jamais — ni abonnement, ni commission. Cette gratuité n'est pas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commerciale, elle est structurelle : c'est elle qui produit le seul actif que nous vendons.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· LES RÔLES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paie, qui utilise, qui décide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0" descr="img/ic_TbCurrencyEuro_E049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19202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77824" y="1956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PAIE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2267712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L'établissement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2779776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abonnement mensuel. Jamais l'étudiant, ni en abonnement ni en commission.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57116" y="1755648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1" descr="img/ic_TbUsers_4A40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0" y="19202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8012" y="1956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UTILISE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4668012" y="2267712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utilisateurs distincts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668012" y="2779776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L'étudiant, toutes les semaines. Et le personnel de salle qui scanne à l'entrée — souvent un barman, jamais formé.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47304" y="1755648"/>
            <a:ext cx="3493008" cy="2176272"/>
          </a:xfrm>
          <a:prstGeom prst="roundRect">
            <a:avLst>
              <a:gd name="adj" fmla="val 54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5" name="Image 2" descr="img/ic_TbKey_8E64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6808" y="192024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1956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E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DÉCIDE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2267712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gérant, seul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2779776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indépendant : un rendez-vous suffit. En phase 1, nous ne démarchons que des structures où le décideur est derrière le bar.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66928" y="4133088"/>
            <a:ext cx="11057839" cy="1810512"/>
          </a:xfrm>
          <a:prstGeom prst="roundRect">
            <a:avLst>
              <a:gd name="adj" fmla="val 656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5"/>
          <p:cNvSpPr txBox="1"/>
          <p:nvPr/>
        </p:nvSpPr>
        <p:spPr>
          <a:xfrm>
            <a:off x="932688" y="4297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porte l'effort commercial des six premiers mois</a:t>
            </a:r>
            <a:endParaRPr lang="en-US" sz="1500" dirty="0"/>
          </a:p>
        </p:txBody>
      </p:sp>
      <p:pic>
        <p:nvPicPr>
          <p:cNvPr id="21" name="Image 3" descr="img/ic_TbBeer_E049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7548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16152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932688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FBE7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18"/>
          <p:cNvSpPr txBox="1"/>
          <p:nvPr/>
        </p:nvSpPr>
        <p:spPr>
          <a:xfrm>
            <a:off x="932688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1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932688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remplissage de semaine</a:t>
            </a:r>
            <a:endParaRPr lang="en-US" sz="1000" dirty="0"/>
          </a:p>
        </p:txBody>
      </p:sp>
      <p:pic>
        <p:nvPicPr>
          <p:cNvPr id="26" name="Image 4" descr="img/ic_TbDisc_E049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4620" y="475488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958084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Discothèques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2674620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FBE7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2"/>
          <p:cNvSpPr txBox="1"/>
          <p:nvPr/>
        </p:nvSpPr>
        <p:spPr>
          <a:xfrm>
            <a:off x="2674620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2</a:t>
            </a:r>
            <a:endParaRPr lang="en-US" sz="850" dirty="0"/>
          </a:p>
        </p:txBody>
      </p:sp>
      <p:sp>
        <p:nvSpPr>
          <p:cNvPr id="30" name="Text 23"/>
          <p:cNvSpPr txBox="1"/>
          <p:nvPr/>
        </p:nvSpPr>
        <p:spPr>
          <a:xfrm>
            <a:off x="2674620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prévisibilité</a:t>
            </a:r>
            <a:endParaRPr lang="en-US" sz="1000" dirty="0"/>
          </a:p>
        </p:txBody>
      </p:sp>
      <p:pic>
        <p:nvPicPr>
          <p:cNvPr id="31" name="Image 5" descr="img/ic_TbToolsKitchen2_6E686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6552" y="47548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700016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Restaurants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4416552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EAE3D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26"/>
          <p:cNvSpPr txBox="1"/>
          <p:nvPr/>
        </p:nvSpPr>
        <p:spPr>
          <a:xfrm>
            <a:off x="4416552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2</a:t>
            </a:r>
            <a:endParaRPr lang="en-US" sz="850" dirty="0"/>
          </a:p>
        </p:txBody>
      </p:sp>
      <p:sp>
        <p:nvSpPr>
          <p:cNvPr id="35" name="Text 27"/>
          <p:cNvSpPr txBox="1"/>
          <p:nvPr/>
        </p:nvSpPr>
        <p:spPr>
          <a:xfrm>
            <a:off x="4416552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couvert en semaine</a:t>
            </a:r>
            <a:endParaRPr lang="en-US" sz="1000" dirty="0"/>
          </a:p>
        </p:txBody>
      </p:sp>
      <p:pic>
        <p:nvPicPr>
          <p:cNvPr id="36" name="Image 6" descr="img/ic_TbSchool_1F6B3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8484" y="4754880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41948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BDE &amp; assos</a:t>
            </a:r>
            <a:endParaRPr lang="en-US" sz="1250" dirty="0"/>
          </a:p>
        </p:txBody>
      </p:sp>
      <p:sp>
        <p:nvSpPr>
          <p:cNvPr id="38" name="Shape 29"/>
          <p:cNvSpPr/>
          <p:nvPr/>
        </p:nvSpPr>
        <p:spPr>
          <a:xfrm>
            <a:off x="6158484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E3F2E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0"/>
          <p:cNvSpPr txBox="1"/>
          <p:nvPr/>
        </p:nvSpPr>
        <p:spPr>
          <a:xfrm>
            <a:off x="6158484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</a:t>
            </a:r>
            <a:endParaRPr lang="en-US" sz="850" dirty="0"/>
          </a:p>
        </p:txBody>
      </p:sp>
      <p:sp>
        <p:nvSpPr>
          <p:cNvPr id="40" name="Text 31"/>
          <p:cNvSpPr txBox="1"/>
          <p:nvPr/>
        </p:nvSpPr>
        <p:spPr>
          <a:xfrm>
            <a:off x="6158484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preuve d'affluence</a:t>
            </a:r>
            <a:endParaRPr lang="en-US" sz="1000" dirty="0"/>
          </a:p>
        </p:txBody>
      </p:sp>
      <p:pic>
        <p:nvPicPr>
          <p:cNvPr id="41" name="Image 7" descr="img/ic_TbBarbell_4A40C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0416" y="4754880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8183880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Salles de sport</a:t>
            </a:r>
            <a:endParaRPr lang="en-US" sz="1250" dirty="0"/>
          </a:p>
        </p:txBody>
      </p:sp>
      <p:sp>
        <p:nvSpPr>
          <p:cNvPr id="43" name="Shape 33"/>
          <p:cNvSpPr/>
          <p:nvPr/>
        </p:nvSpPr>
        <p:spPr>
          <a:xfrm>
            <a:off x="7900416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ECE9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34"/>
          <p:cNvSpPr txBox="1"/>
          <p:nvPr/>
        </p:nvSpPr>
        <p:spPr>
          <a:xfrm>
            <a:off x="7900416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tester</a:t>
            </a:r>
            <a:endParaRPr lang="en-US" sz="850" dirty="0"/>
          </a:p>
        </p:txBody>
      </p:sp>
      <p:sp>
        <p:nvSpPr>
          <p:cNvPr id="45" name="Text 35"/>
          <p:cNvSpPr txBox="1"/>
          <p:nvPr/>
        </p:nvSpPr>
        <p:spPr>
          <a:xfrm>
            <a:off x="7900416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créneaux creux remplis</a:t>
            </a:r>
            <a:endParaRPr lang="en-US" sz="1000" dirty="0"/>
          </a:p>
        </p:txBody>
      </p:sp>
      <p:pic>
        <p:nvPicPr>
          <p:cNvPr id="46" name="Image 8" descr="img/ic_TbBed_6E686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2348" y="4754880"/>
            <a:ext cx="219456" cy="219456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925812" y="47365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Hôtels</a:t>
            </a:r>
            <a:endParaRPr lang="en-US" sz="1250" dirty="0"/>
          </a:p>
        </p:txBody>
      </p:sp>
      <p:sp>
        <p:nvSpPr>
          <p:cNvPr id="48" name="Shape 37"/>
          <p:cNvSpPr/>
          <p:nvPr/>
        </p:nvSpPr>
        <p:spPr>
          <a:xfrm>
            <a:off x="9642348" y="5047488"/>
            <a:ext cx="1097280" cy="274320"/>
          </a:xfrm>
          <a:prstGeom prst="roundRect">
            <a:avLst>
              <a:gd name="adj" fmla="val 100000"/>
            </a:avLst>
          </a:prstGeom>
          <a:solidFill>
            <a:srgbClr val="EAE3D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38"/>
          <p:cNvSpPr txBox="1"/>
          <p:nvPr/>
        </p:nvSpPr>
        <p:spPr>
          <a:xfrm>
            <a:off x="9642348" y="5047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avant M12</a:t>
            </a:r>
            <a:endParaRPr lang="en-US" sz="850" dirty="0"/>
          </a:p>
        </p:txBody>
      </p:sp>
      <p:sp>
        <p:nvSpPr>
          <p:cNvPr id="50" name="Text 39"/>
          <p:cNvSpPr txBox="1"/>
          <p:nvPr/>
        </p:nvSpPr>
        <p:spPr>
          <a:xfrm>
            <a:off x="9642348" y="54132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de clair à ce stade</a:t>
            </a:r>
            <a:endParaRPr lang="en-US" sz="1000" dirty="0"/>
          </a:p>
        </p:txBody>
      </p:sp>
      <p:sp>
        <p:nvSpPr>
          <p:cNvPr id="51" name="Text 40"/>
          <p:cNvSpPr txBox="1"/>
          <p:nvPr/>
        </p:nvSpPr>
        <p:spPr>
          <a:xfrm>
            <a:off x="8229600" y="4315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de l'effort sur les bars et les discothèques.</a:t>
            </a:r>
            <a:endParaRPr lang="en-US" sz="1150" dirty="0"/>
          </a:p>
        </p:txBody>
      </p:sp>
      <p:sp>
        <p:nvSpPr>
          <p:cNvPr id="52" name="Text 41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Modèle économique</a:t>
            </a:r>
            <a:endParaRPr lang="en-US" sz="1000" dirty="0"/>
          </a:p>
        </p:txBody>
      </p:sp>
      <p:sp>
        <p:nvSpPr>
          <p:cNvPr id="53" name="Text 42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· NOS ABONNEMENTS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offres, sans engagement, résiliables au mois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93238" cy="3858768"/>
          </a:xfrm>
          <a:prstGeom prst="roundRect">
            <a:avLst>
              <a:gd name="adj" fmla="val 4584"/>
            </a:avLst>
          </a:prstGeom>
          <a:solidFill>
            <a:srgbClr val="1C1916"/>
          </a:solidFill>
          <a:ln/>
          <a:effectLst>
            <a:outerShdw blurRad="203200" dist="50800" dir="5400000" algn="bl" rotWithShape="0">
              <a:srgbClr val="1C1916">
                <a:alpha val="2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04672" y="1956816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kern="0" spc="120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FONDATEUR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95728"/>
            <a:ext cx="211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962656"/>
            <a:ext cx="211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3 mois,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39 €/mois gelés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474720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15 premiers établissements clermontois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68496"/>
            <a:ext cx="21177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contenu d'Essentiel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« partenaire fondateur » sur la fiche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gelé tant que l'abonnement n'est pas interrompu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5285232"/>
            <a:ext cx="2117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places, et pas une de plus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8766" y="1783080"/>
            <a:ext cx="2593238" cy="3858768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3626510" y="1956816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kern="0" spc="12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ESSENTIEL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626510" y="2395728"/>
            <a:ext cx="211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79 €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3626510" y="2962656"/>
            <a:ext cx="211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HT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626510" y="3474720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Bars, restaurants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44798" y="3968496"/>
            <a:ext cx="21177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Soirées illimitées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établissement avec photos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inscrits / présents / composition de salle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des pass à l'entrée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automatique la veille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26510" y="5285232"/>
            <a:ext cx="2117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L'offre de référence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0605" y="1783080"/>
            <a:ext cx="2593238" cy="3858768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6448349" y="1956816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kern="0" spc="120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48349" y="2395728"/>
            <a:ext cx="211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149 €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6448349" y="2962656"/>
            <a:ext cx="211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HT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48349" y="3474720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Discothèques, groupes, multi-établissements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66637" y="3968496"/>
            <a:ext cx="21177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Essentiel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mise en avant par mois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flash illimitées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des statistiques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comptes et plusieurs lieux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48349" y="5285232"/>
            <a:ext cx="2117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vend avec des chiffres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32443" y="1783080"/>
            <a:ext cx="2593238" cy="3858768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9270187" y="1956816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kern="0" spc="120" dirty="0">
                <a:solidFill>
                  <a:srgbClr val="1F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BDE &amp; ASSOCIATIONS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270187" y="2395728"/>
            <a:ext cx="21177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9270187" y="2962656"/>
            <a:ext cx="211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définitivement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270187" y="3474720"/>
            <a:ext cx="21177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BDE, associations, clubs étudiants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288475" y="3968496"/>
            <a:ext cx="21177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Essentiel, sans les statistiques avancées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Gratuité inscrite dans le contrat partenaire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apportent l'audience, pas du revenu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270187" y="5285232"/>
            <a:ext cx="2117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F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actée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80644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engagement  ·  sans exclusivité  ·  aucune remise imposée à l'étudiant  ·  une soirée test complète, publiée et scannée, avant toute facturation.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Modèle économique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· LA TRAJECTOIRE DE REVENU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le modèle produit, ce que nous refusons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66928" y="1755648"/>
          <a:ext cx="62636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59168" y="1755648"/>
            <a:ext cx="4572000" cy="1435608"/>
          </a:xfrm>
          <a:prstGeom prst="roundRect">
            <a:avLst>
              <a:gd name="adj" fmla="val 828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7315200" y="190195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publicité dans l'application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2249424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actif est la confiance des étudiants. Un fil pollué par des annonces détruit la fréquence d'usage — c'est précisément ce que nous vendons aux établissements.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059168" y="3383280"/>
            <a:ext cx="4572000" cy="1435608"/>
          </a:xfrm>
          <a:prstGeom prst="roundRect">
            <a:avLst>
              <a:gd name="adj" fmla="val 828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7315200" y="352958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commission au billet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3877056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modèle de Shotgun, et il ne fonctionne que sur des événements payants. Notre terrain de départ, c'est le mardi gratuit d'un bar : il n'y a pas de billet à commissionner.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5010912"/>
            <a:ext cx="11057839" cy="960120"/>
          </a:xfrm>
          <a:prstGeom prst="roundRect">
            <a:avLst>
              <a:gd name="adj" fmla="val 12381"/>
            </a:avLst>
          </a:prstGeom>
          <a:solidFill>
            <a:srgbClr val="1C1916"/>
          </a:solidFill>
          <a:ln/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950976" y="5138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clients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50976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390 €/mois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834640" y="5138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clients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7 500 €/mois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718304" y="5138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clients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718304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75 000 €/mois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601968" y="5138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clients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601968" y="5394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750 000 €/mois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513892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seuil qui change quelque chose à nos vies n'est pas 1 000 : il est autour de 100 — et 100 clients, c'est plus que Clermont seul ne peut en fournir.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Modèle économique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>
            <a:off x="9905695" y="4663440"/>
            <a:ext cx="1371600" cy="10204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783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&amp; concurrence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976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d'acteurs touchent notre marché par un bord. Aucun ne fait le trajet complet,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découverte d'une soirée jusqu'à la preuve que l'étudiant est venu.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PANORAMA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familles de solutions, quatre morceaux du problème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93238" cy="292608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04672" y="19568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BE7E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img/ic_TbBrandInstagram_E049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043684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46888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réseaux sociaux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035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TikTok, Snapchat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32841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Diffusent une annonce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73075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réservation, aucune preuve, effacé en 24 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8766" y="1783080"/>
            <a:ext cx="2593238" cy="292608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626510" y="19568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BE7E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img/ic_TbTicket_BB36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3378" y="2043684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26510" y="246888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billetteries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3626510" y="3035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Shotgun, Dice, HelloAsso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3626510" y="332841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Enregistrent une transaction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626510" y="373075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un billet payant — le mardi d'un bar n'en a pas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0605" y="1783080"/>
            <a:ext cx="2593238" cy="292608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6448349" y="19568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CEBD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2" descr="img/ic_TbShoppingBag_A755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5217" y="2043684"/>
            <a:ext cx="246888" cy="24688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48349" y="246888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marketplaces de loisirs</a:t>
            </a:r>
            <a:endParaRPr lang="en-US" sz="1550" dirty="0"/>
          </a:p>
        </p:txBody>
      </p:sp>
      <p:sp>
        <p:nvSpPr>
          <p:cNvPr id="22" name="Text 17"/>
          <p:cNvSpPr txBox="1"/>
          <p:nvPr/>
        </p:nvSpPr>
        <p:spPr>
          <a:xfrm>
            <a:off x="6448349" y="3035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5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Fever, TheFork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6448349" y="332841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réserver le grand public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448349" y="373075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étudiantes, pas de graphe d'amis, pas de soirs creux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32443" y="1783080"/>
            <a:ext cx="2593238" cy="292608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1"/>
          <p:cNvSpPr/>
          <p:nvPr/>
        </p:nvSpPr>
        <p:spPr>
          <a:xfrm>
            <a:off x="9270187" y="19568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BF0D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3" descr="img/ic_TbTag_8E64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7055" y="2043684"/>
            <a:ext cx="246888" cy="24688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270187" y="246888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réductions étudiantes</a:t>
            </a:r>
            <a:endParaRPr lang="en-US" sz="1550" dirty="0"/>
          </a:p>
        </p:txBody>
      </p:sp>
      <p:sp>
        <p:nvSpPr>
          <p:cNvPr id="29" name="Text 23"/>
          <p:cNvSpPr txBox="1"/>
          <p:nvPr/>
        </p:nvSpPr>
        <p:spPr>
          <a:xfrm>
            <a:off x="9270187" y="30358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Unidays, Student Beans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9270187" y="3328416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Vérifient le statut étudiant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9270187" y="3730752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: aucun événement, aucun lieu, aucune présence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66928" y="4892040"/>
            <a:ext cx="11057839" cy="1261872"/>
          </a:xfrm>
          <a:prstGeom prst="roundRect">
            <a:avLst>
              <a:gd name="adj" fmla="val 9420"/>
            </a:avLst>
          </a:prstGeom>
          <a:solidFill>
            <a:srgbClr val="1C1916"/>
          </a:solidFill>
          <a:ln/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3" name="Image 4" descr="img/logo_mark_l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166360"/>
            <a:ext cx="841248" cy="62545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984248" y="512978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trajet complet : découvrir, réserver, venir — et le prouver.</a:t>
            </a:r>
            <a:endParaRPr lang="en-US" sz="1900" dirty="0"/>
          </a:p>
        </p:txBody>
      </p:sp>
      <p:sp>
        <p:nvSpPr>
          <p:cNvPr id="35" name="Text 28"/>
          <p:cNvSpPr txBox="1"/>
          <p:nvPr/>
        </p:nvSpPr>
        <p:spPr>
          <a:xfrm>
            <a:off x="1984248" y="555955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les seuls à couvrir les quatre étapes sur une soirée gratuite en semaine.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8732520" y="5312664"/>
            <a:ext cx="2514600" cy="457200"/>
          </a:xfrm>
          <a:prstGeom prst="roundRect">
            <a:avLst>
              <a:gd name="adj" fmla="val 60000"/>
            </a:avLst>
          </a:prstGeom>
          <a:solidFill>
            <a:srgbClr val="EFB2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0"/>
          <p:cNvSpPr txBox="1"/>
          <p:nvPr/>
        </p:nvSpPr>
        <p:spPr>
          <a:xfrm>
            <a:off x="8732520" y="53126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de 3 012 800 étudiants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Benchmark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CONCURRENCE DIRECTE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Ceux qui font sortir et réserver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intention que nous — faire venir quelqu'un quelque part — mais un modèle bâti sur la transaction.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9019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9019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ET MODÈLE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532120" y="19019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LIMITE SUR NOTRE TERRAIN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641080" y="19019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AVANTAGE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240280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841248" y="2368296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Shotgun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36829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Billetterie clubbing.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au billet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2368296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un billet payant. Vise les gros clubs et festivals, pas les soirs creux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2368296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monétisons le soir gratuit, que leur modèle ne peut pas facturer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191256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841248" y="3319272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3319272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Billetterie de concerts.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au billet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3319272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limite : pas de billet, pas de produit. Peu implanté en ville moyenne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3319272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local et biface, jusque dans les bars de quartier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142232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841248" y="427024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Fever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514600" y="4270248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d'expériences.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sur ventes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4270248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public, pas étudiant. Faible hors métropoles. Aucun graphe social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4270248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Ciblage étudiant école par école, avec les amis dedans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093208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841248" y="5221224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TheFork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514600" y="522122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de restaurants.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+ commission au couvert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532120" y="5221224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uniquement. Pas d'événement, pas de soirée, pas étudiant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641080" y="5221224"/>
            <a:ext cx="2880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Bars, clubs et associations — et nous parlons soirée, pas couvert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03504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grandeur publics, à confirmer avant tout usage dans un argumentaire écrit remis à un prospect.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Benchmark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CONCURRENCE INDIRECTE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Ceux qui occupent déjà l'attention et la décision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ne sont pas des concurrents produit : ce sont les habitudes qu'il faut déplacer. C'est là qu'est la vraie bataille.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810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810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FAIT BIEN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532120" y="18105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NE FERA JAMAIS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641080" y="18105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AVANTAGE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057400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841248" y="210312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&amp; stories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10312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monde y est déjà, coût nul, portée immédiate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210312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réservation, aucun compteur de places, contenu effacé en 24 h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641080" y="210312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transformons une vue en présence vérifiée — sans lui demander d'arrêter Instagram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734056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841248" y="2779776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Maps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277977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Réflexe universel, référencement, horaires et avis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277977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ce qui est ouvert, jamais ce qui s'y passe ce soir ni le prix étudiant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779776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répondons à « ce soir », pas à « où »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410712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841248" y="345643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&amp; Snap de promo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606040" y="345643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là que les sorties se décident réellement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3456432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Fermés, non mesurables, invisibles pour un gérant, dépendants d'une personne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345643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rendons visible et mesurable ce qui s'y passe déjà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4087368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841248" y="413308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Unidays, Student Beans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606040" y="413308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étudiante nationale énorme, vérification du statut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532120" y="413308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: aucun événement, aucun lieu, aucune présence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641080" y="413308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faisons sortir, pas acheter en ligne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4764024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841248" y="480974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HelloAsso &amp; outils BDE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606040" y="480974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bien installé dans le monde associatif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532120" y="4809744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de billetterie sans découverte : il faut déjà connaître l'événement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641080" y="480974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apportons l'audience que leur outil n'a pas — et nous restons gratuits pour eux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" y="5440680"/>
            <a:ext cx="11057839" cy="603504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 txBox="1"/>
          <p:nvPr/>
        </p:nvSpPr>
        <p:spPr>
          <a:xfrm>
            <a:off x="841248" y="548640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Strava, Meetup, SUAPS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606040" y="548640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 mesure la performance, le SUAPS encadre des créneaux à l'année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532120" y="548640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ne réunit une bande d'étudiants pour une sortie précise, ce soir, à un niveau annoncé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641080" y="548640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squad est un rendez-vous daté, avec des places et un niveau — pas un fil d'activités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Benchmark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POSITIONNEMENT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quadrant que personne n'occupe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017520" y="1755648"/>
            <a:ext cx="7772400" cy="3913632"/>
          </a:xfrm>
          <a:prstGeom prst="rect">
            <a:avLst/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903720" y="1755648"/>
            <a:ext cx="3886200" cy="1956816"/>
          </a:xfrm>
          <a:prstGeom prst="rect">
            <a:avLst/>
          </a:prstGeom>
          <a:solidFill>
            <a:srgbClr val="FBE7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903720" y="1755648"/>
            <a:ext cx="0" cy="3913632"/>
          </a:xfrm>
          <a:prstGeom prst="line">
            <a:avLst/>
          </a:prstGeom>
          <a:noFill/>
          <a:ln w="9525">
            <a:solidFill>
              <a:srgbClr val="DED6C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017520" y="3712464"/>
            <a:ext cx="7772400" cy="0"/>
          </a:xfrm>
          <a:prstGeom prst="line">
            <a:avLst/>
          </a:prstGeom>
          <a:noFill/>
          <a:ln w="9525">
            <a:solidFill>
              <a:srgbClr val="DED6C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086100" y="3451311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01600" dist="254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3086100" y="3451311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52928" y="4860219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01600" dist="254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2852928" y="4860219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18788" y="2120676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01600" dist="254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4018788" y="21206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Unidays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51476" y="4703674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01600" dist="254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4951476" y="470367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0" y="5016764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01600" dist="254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6583680" y="50167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TheFork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72300" y="3920947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01600" dist="254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6972300" y="3920947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38644" y="3138221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01600" dist="254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7438644" y="3138221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Shotgun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16852" y="2394631"/>
            <a:ext cx="1417320" cy="365760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01600" dist="254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6816852" y="2394631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HelloAsso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1870131"/>
            <a:ext cx="2194560" cy="475488"/>
          </a:xfrm>
          <a:prstGeom prst="roundRect">
            <a:avLst>
              <a:gd name="adj" fmla="val 48077"/>
            </a:avLst>
          </a:prstGeom>
          <a:solidFill>
            <a:srgbClr val="E0492B"/>
          </a:solidFill>
          <a:ln w="12700">
            <a:solidFill>
              <a:srgbClr val="E0492B"/>
            </a:solidFill>
            <a:prstDash val="solid"/>
          </a:ln>
          <a:effectLst>
            <a:outerShdw blurRad="177800" dist="38100" dir="5400000" algn="bl" rotWithShape="0">
              <a:srgbClr val="1C1916">
                <a:alpha val="2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8138160" y="1870131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StudentLink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18745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4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21762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Ciblé par école</a:t>
            </a:r>
            <a:endParaRPr lang="en-US" sz="1000" dirty="0"/>
          </a:p>
          <a:p>
            <a:pPr marL="0" indent="0" algn="r">
              <a:lnSpc>
                <a:spcPts val="1400"/>
              </a:lnSpc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par promotion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321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4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PUBLIC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797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Diffuser, faire connaître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5797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la présence réelle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Étudiant, et jusqu'à la preuve de présence : le coin haut-droit est vide. C'est celui que nous occupons.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Benchmark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CE QUI NOUS PROTÈGE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développeur seul nous recode en trois mois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donc pas la technique qui nous protège. Voici ce qui nous protège vraiment, du plus faible au plus fort.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8105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8105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DÉFENDABLE ?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1810512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103120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841248" y="2103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55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fonctionnalités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77640" y="228600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251960" y="228600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526280" y="228600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00600" y="228600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074920" y="228600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5715000" y="210312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se recode : le wallet, le scan, les squads. Rien n'est inimitable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670048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841248" y="2670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55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design et la marque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2852928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251960" y="2852928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526280" y="2852928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800600" y="2852928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074920" y="2852928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5715000" y="267004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crée de la préférence, pas une barrière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3236976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841248" y="32369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55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base d'utilisateurs étudiants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77640" y="3419856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251960" y="3419856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526280" y="3419856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800600" y="3419856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074920" y="3419856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5715000" y="3236976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se renouvelle d'un tiers chaque année : un actif qui fuit et qu'il faut réalimenter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3803904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841248" y="38039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55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partenariats BDE et écoles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977640" y="3986784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251960" y="3986784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526280" y="3986784"/>
            <a:ext cx="141732" cy="141732"/>
          </a:xfrm>
          <a:prstGeom prst="ellipse">
            <a:avLst/>
          </a:prstGeom>
          <a:solidFill>
            <a:srgbClr val="6E68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800600" y="3986784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5074920" y="3986784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 txBox="1"/>
          <p:nvPr/>
        </p:nvSpPr>
        <p:spPr>
          <a:xfrm>
            <a:off x="5715000" y="3803904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Contractualisables à l'année, exclusifs de fait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4370832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 txBox="1"/>
          <p:nvPr/>
        </p:nvSpPr>
        <p:spPr>
          <a:xfrm>
            <a:off x="841248" y="43708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données de présence vérifiée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977640" y="4553712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251960" y="4553712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4526280" y="4553712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4800600" y="4553712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5074920" y="4553712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 txBox="1"/>
          <p:nvPr/>
        </p:nvSpPr>
        <p:spPr>
          <a:xfrm>
            <a:off x="5715000" y="4370832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bout de six mois, un partenaire a une série statistique sur ses propres soirées. Partir, c'est la perdre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66928" y="4937760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 txBox="1"/>
          <p:nvPr/>
        </p:nvSpPr>
        <p:spPr>
          <a:xfrm>
            <a:off x="841248" y="4937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graphe social par école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977640" y="5120640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4251960" y="5120640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4526280" y="5120640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4800600" y="5120640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5074920" y="5120640"/>
            <a:ext cx="141732" cy="141732"/>
          </a:xfrm>
          <a:prstGeom prst="ellipse">
            <a:avLst/>
          </a:prstGeom>
          <a:solidFill>
            <a:srgbClr val="E3DC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 txBox="1"/>
          <p:nvPr/>
        </p:nvSpPr>
        <p:spPr>
          <a:xfrm>
            <a:off x="5715000" y="493776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concurrent qui démarre a un catalogue sans amis dedans : structurellement moins utile, à fonctionnalités identiques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66928" y="5504688"/>
            <a:ext cx="11057839" cy="502920"/>
          </a:xfrm>
          <a:prstGeom prst="roundRect">
            <a:avLst>
              <a:gd name="adj" fmla="val 23636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 txBox="1"/>
          <p:nvPr/>
        </p:nvSpPr>
        <p:spPr>
          <a:xfrm>
            <a:off x="841248" y="5504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réseau local biface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977640" y="5687568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4251960" y="5687568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4526280" y="5687568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4800600" y="5687568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5074920" y="5687568"/>
            <a:ext cx="141732" cy="141732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 txBox="1"/>
          <p:nvPr/>
        </p:nvSpPr>
        <p:spPr>
          <a:xfrm>
            <a:off x="5715000" y="550468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refaire, un par un, le démarchage des établissements et la relation avec chaque BDE. Du temps de terrain incompressible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566928" y="608990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opérationnelle : à choix égal entre une fonctionnalité de plus et cinq établissements de plus, nous prenons les établissements.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Benchmark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C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>
            <a:off x="9905695" y="4663440"/>
            <a:ext cx="1371600" cy="10204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783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plan d'action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976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Clermont d'abord, et seul. Dix établissements, puis cinquante, puis cent —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seulement ensuite les autres villes étudiantes.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LA TRAJECTOIRE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Dix, cinquante, cent — puis les autres villes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593238" cy="329184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04672" y="2084832"/>
            <a:ext cx="384048" cy="384048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80467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15184"/>
            <a:ext cx="21360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4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00400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529584"/>
            <a:ext cx="21360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Clermont — amorçage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" y="4023360"/>
            <a:ext cx="2130552" cy="292608"/>
          </a:xfrm>
          <a:prstGeom prst="roundRect">
            <a:avLst>
              <a:gd name="adj" fmla="val 93750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804672" y="402336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maintenant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443984"/>
            <a:ext cx="21360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fondateurs gratuits, 2 BDE signés, une soirée de lancement, une première soirée scannée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8766" y="1874520"/>
            <a:ext cx="2593238" cy="329184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626510" y="2084832"/>
            <a:ext cx="384048" cy="384048"/>
          </a:xfrm>
          <a:prstGeom prst="ellipse">
            <a:avLst/>
          </a:prstGeom>
          <a:solidFill>
            <a:srgbClr val="A755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362651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26510" y="2615184"/>
            <a:ext cx="21360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A75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3626510" y="3200400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26510" y="3529584"/>
            <a:ext cx="21360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Clermont — densité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26510" y="4023360"/>
            <a:ext cx="2130552" cy="292608"/>
          </a:xfrm>
          <a:prstGeom prst="roundRect">
            <a:avLst>
              <a:gd name="adj" fmla="val 93750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3626510" y="402336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la 1re soirée scannée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626510" y="4443984"/>
            <a:ext cx="21360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30 payants, 6 000 étudiants inscrits, 2 000 actifs par mois, MRR de 2 000 à 3 000 €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0605" y="1874520"/>
            <a:ext cx="2593238" cy="329184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448349" y="2084832"/>
            <a:ext cx="384048" cy="384048"/>
          </a:xfrm>
          <a:prstGeom prst="ellipse">
            <a:avLst/>
          </a:prstGeom>
          <a:solidFill>
            <a:srgbClr val="4A40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448349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48349" y="2615184"/>
            <a:ext cx="21360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6448349" y="3200400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payants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48349" y="3529584"/>
            <a:ext cx="21360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Clermont + 2 villes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48349" y="4023360"/>
            <a:ext cx="2130552" cy="292608"/>
          </a:xfrm>
          <a:prstGeom prst="roundRect">
            <a:avLst>
              <a:gd name="adj" fmla="val 93750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6448349" y="402336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la Gate 1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448349" y="4443984"/>
            <a:ext cx="21360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7 500 € de MRR, 90 000 € par an. Deux fondateurs rémunérés, un premier recrutement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32443" y="1874520"/>
            <a:ext cx="2593238" cy="3291840"/>
          </a:xfrm>
          <a:prstGeom prst="roundRect">
            <a:avLst>
              <a:gd name="adj" fmla="val 4584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9270187" y="2084832"/>
            <a:ext cx="384048" cy="384048"/>
          </a:xfrm>
          <a:prstGeom prst="ellipse">
            <a:avLst/>
          </a:prstGeom>
          <a:solidFill>
            <a:srgbClr val="8E64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9270187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270187" y="2615184"/>
            <a:ext cx="21360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E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500-800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9270187" y="3200400"/>
            <a:ext cx="2136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payants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70187" y="3529584"/>
            <a:ext cx="21360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à 8 villes comparables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270187" y="4023360"/>
            <a:ext cx="2130552" cy="292608"/>
          </a:xfrm>
          <a:prstGeom prst="roundRect">
            <a:avLst>
              <a:gd name="adj" fmla="val 93750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 txBox="1"/>
          <p:nvPr/>
        </p:nvSpPr>
        <p:spPr>
          <a:xfrm>
            <a:off x="9270187" y="402336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la Gate 2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9270187" y="4443984"/>
            <a:ext cx="21360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de 40 à 60 k€, équipe de 8 à 12 personnes. StudentLink vit de ses clients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5321808"/>
            <a:ext cx="11057839" cy="868680"/>
          </a:xfrm>
          <a:prstGeom prst="roundRect">
            <a:avLst>
              <a:gd name="adj" fmla="val 13684"/>
            </a:avLst>
          </a:prstGeom>
          <a:solidFill>
            <a:srgbClr val="1C1916"/>
          </a:solidFill>
          <a:ln/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 txBox="1"/>
          <p:nvPr/>
        </p:nvSpPr>
        <p:spPr>
          <a:xfrm>
            <a:off x="950976" y="5321808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Aucune deuxième ville avant que Clermont soit validé.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120640" y="5321808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expansion lancée trop tôt dilue le seul actif qui compte : la densité locale. C'est la façon la plus courante de tuer une marketplace de ville.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PALIER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dix premiers établissements clermontois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11057839" cy="749808"/>
          </a:xfrm>
          <a:prstGeom prst="roundRect">
            <a:avLst>
              <a:gd name="adj" fmla="val 15854"/>
            </a:avLst>
          </a:prstGeom>
          <a:solidFill>
            <a:srgbClr val="1C1916"/>
          </a:solidFill>
          <a:ln/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96112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 </a:t>
            </a: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inscrits à M3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054096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  </a:t>
            </a: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inscrits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 </a:t>
            </a: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mensuels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70064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 </a:t>
            </a: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scannés par semaine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528048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  </a:t>
            </a: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facturé avant 3 mois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2359152"/>
            <a:ext cx="5212080" cy="3127248"/>
          </a:xfrm>
          <a:prstGeom prst="roundRect">
            <a:avLst>
              <a:gd name="adj" fmla="val 3801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877824" y="25420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nous démarchons, dans cet ordre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962656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décideur est sur place et décide seul — un bar indépendant, pas une chaîne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L'établissement a un vrai soir creux identifiable : lundi, mardi ou mercredi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reçoit déjà des étudiants : nous ne lui vendons pas la cible, seulement l'outil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à distance de marche du centre et des campus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 un compte Instagram actif — preuve qu'il investit déjà du temps en communication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48828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visée : 9 bars · 2 discothèques · 2 restaurants · 2 BDE gratuits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2359152"/>
            <a:ext cx="5577840" cy="3127248"/>
          </a:xfrm>
          <a:prstGeom prst="roundRect">
            <a:avLst>
              <a:gd name="adj" fmla="val 3801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6364224" y="25420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séquence d'amorçage, en quatre temps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64224" y="2944368"/>
            <a:ext cx="896112" cy="256032"/>
          </a:xfrm>
          <a:prstGeom prst="roundRect">
            <a:avLst>
              <a:gd name="adj" fmla="val 107143"/>
            </a:avLst>
          </a:prstGeom>
          <a:solidFill>
            <a:srgbClr val="FBE7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6364224" y="294436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J-30 → J-15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370064" y="29260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établissements fondateurs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370064" y="31821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Démarchage physique, réseau personnel d'abord. Rien à signer, gratuit trois mois, vingt minutes d'onboarding sur place.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64224" y="3566160"/>
            <a:ext cx="896112" cy="256032"/>
          </a:xfrm>
          <a:prstGeom prst="roundRect">
            <a:avLst>
              <a:gd name="adj" fmla="val 107143"/>
            </a:avLst>
          </a:prstGeom>
          <a:solidFill>
            <a:srgbClr val="FBE7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364224" y="356616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J-15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7370064" y="35478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à trois BDE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370064" y="380390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Gratuits et définitivement. Ils apportent 300 à 500 étudiants d'un coup et leurs propres événements pour remplir le fil.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64224" y="4187952"/>
            <a:ext cx="896112" cy="256032"/>
          </a:xfrm>
          <a:prstGeom prst="roundRect">
            <a:avLst>
              <a:gd name="adj" fmla="val 107143"/>
            </a:avLst>
          </a:prstGeom>
          <a:solidFill>
            <a:srgbClr val="FBE7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6364224" y="418795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J0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7370064" y="41696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soirée de lancement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370064" y="442569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Co-organisée avec un bar et deux BDE. L'entrée passe par l'application. Objectif : 200 à 300 inscriptions en une soirée.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64224" y="4809744"/>
            <a:ext cx="896112" cy="256032"/>
          </a:xfrm>
          <a:prstGeom prst="roundRect">
            <a:avLst>
              <a:gd name="adj" fmla="val 107143"/>
            </a:avLst>
          </a:prstGeom>
          <a:solidFill>
            <a:srgbClr val="FBE7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6364224" y="480974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J+30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7370064" y="47914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arrête de vendre une promesse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370064" y="50474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rendez-vous commence par un chiffre réel : « tel bar, un mardi, 18 inscrits, 14 présents scannés ».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" y="5596128"/>
            <a:ext cx="11057839" cy="585216"/>
          </a:xfrm>
          <a:prstGeom prst="roundRect">
            <a:avLst>
              <a:gd name="adj" fmla="val 20313"/>
            </a:avLst>
          </a:prstGeom>
          <a:solidFill>
            <a:srgbClr val="FBE7E1"/>
          </a:solidFill>
          <a:ln/>
          <a:effectLst>
            <a:outerShdw blurRad="152400" dist="38100" dir="5400000" algn="bl" rotWithShape="0">
              <a:srgbClr val="1C1916">
                <a:alpha val="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950976" y="5596128"/>
            <a:ext cx="1028974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absolue : nous ne démarchons jamais un nouvel établissement sans pouvoir citer une soirée scannée récente.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PALIER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Cinquante établissements : Clermont devient un marché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11057839" cy="749808"/>
          </a:xfrm>
          <a:prstGeom prst="roundRect">
            <a:avLst>
              <a:gd name="adj" fmla="val 15854"/>
            </a:avLst>
          </a:prstGeom>
          <a:solidFill>
            <a:srgbClr val="1C1916"/>
          </a:solidFill>
          <a:ln/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896112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 </a:t>
            </a: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inscrits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054096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 </a:t>
            </a: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payants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6 000  </a:t>
            </a: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inscrits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70064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2 000  </a:t>
            </a: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mensuels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528048" y="1444752"/>
            <a:ext cx="2048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 </a:t>
            </a:r>
            <a:r>
              <a:rPr lang="en-US" sz="9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scannés / semaine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2359152"/>
            <a:ext cx="5212080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877824" y="25420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change dans la méthode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6112" y="3026664"/>
            <a:ext cx="128016" cy="128016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1152144" y="294436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vend un résultat, plus une promesse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318211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tunnel passe de 6-8 % à 12 % de conversion dès que nous avons des taux de présence à montrer.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96112" y="3593592"/>
            <a:ext cx="128016" cy="128016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1152144" y="351129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ambassadeur par école prioritaire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" y="37490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UCA, Hesias, IUT, écoles de commerce, SIGMA, Polytech. Rémunérés en avantages, pas en argent.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96112" y="4160520"/>
            <a:ext cx="128016" cy="128016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1152144" y="40782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QR codes sur les tables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" y="43159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canal le plus qualifié et le moins cher : l'étudiant est déjà sur place, chez le partenaire.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6112" y="4727448"/>
            <a:ext cx="128016" cy="128016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1152144" y="464515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mise en avant payante ouvre à M6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488289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complément de revenu, une fois l'audience suffisante.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96112" y="5294376"/>
            <a:ext cx="128016" cy="128016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1152144" y="52120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6 000 inscrits = 14 % de l'agglomération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" y="54498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Ambitieux, mais c'est la condition pour que le fil soit vivant dans chaque école.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53328" y="2359152"/>
            <a:ext cx="5577840" cy="3520440"/>
          </a:xfrm>
          <a:prstGeom prst="roundRect">
            <a:avLst>
              <a:gd name="adj" fmla="val 3377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364224" y="2542032"/>
            <a:ext cx="1234440" cy="292608"/>
          </a:xfrm>
          <a:prstGeom prst="roundRect">
            <a:avLst>
              <a:gd name="adj" fmla="val 93750"/>
            </a:avLst>
          </a:prstGeom>
          <a:solidFill>
            <a:srgbClr val="1C19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6364224" y="2542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754112" y="254203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sept critères avant toute deuxième ville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364224" y="3054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payants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0" y="30540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minimum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364224" y="3438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 inscrits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0" y="34381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 minimum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364224" y="3822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mensuels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0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 minimum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présence moyen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41832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 minimum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364224" y="4590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mensuel établissements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0" y="4590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5 %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364224" y="4974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418320" y="4974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2 500 € minimum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364224" y="53583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d'acquisition d'un client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0" y="53583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remboursé en moins de 3 mois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598932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S'il ne fallait retenir qu'un seul critère : un churn inférieur à 5 % avec 30 clients payants. Cela signifie que le produit tient sans nous.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PALIER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 clients payants : le seuil qui change tout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5212080" cy="1874520"/>
          </a:xfrm>
          <a:prstGeom prst="roundRect">
            <a:avLst>
              <a:gd name="adj" fmla="val 6341"/>
            </a:avLst>
          </a:prstGeom>
          <a:solidFill>
            <a:srgbClr val="1C1916"/>
          </a:solidFill>
          <a:ln/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932688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7 500 € de MRR  ·  90 000 € par an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488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fondateurs rémunérés modestement et un premier recrutement possible. Mais Clermont seul ne fournit pas 100 clients payants : il en faut déjà deux ou trois villes.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53328" y="1444752"/>
            <a:ext cx="5577840" cy="187452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6364224" y="16093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coûte l'ouverture d'une ville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364224" y="1993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0162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de lancement local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784080" y="20162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500 €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364224" y="23362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Déplacements et amorçage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784080" y="233629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300 €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364224" y="26563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total d'ouverture, premier revenu à 2-3 mois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784080" y="26563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4 000 à 5 000 €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493008"/>
            <a:ext cx="11057839" cy="2148840"/>
          </a:xfrm>
          <a:prstGeom prst="roundRect">
            <a:avLst>
              <a:gd name="adj" fmla="val 5532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877824" y="3675888"/>
            <a:ext cx="1234440" cy="292608"/>
          </a:xfrm>
          <a:prstGeom prst="roundRect">
            <a:avLst>
              <a:gd name="adj" fmla="val 93750"/>
            </a:avLst>
          </a:prstGeom>
          <a:solidFill>
            <a:srgbClr val="1C19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877824" y="36758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304288" y="367588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méthode doit être reproductible avant d'être reproduite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77824" y="413308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manuel de conquête est écrit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" y="4370832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Étapes, argumentaire, objections courantes, durée réelle de chaque étape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53712" y="413308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L'intégration tient en 30 minutes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53712" y="4370832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se fait sans Arthur : plus de dépendance au fondateur technique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13308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temps commercial est mesuré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370832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estimé. Si une signature coûte 8 h, une ville coûte le double du prévu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77824" y="484632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produit gère plusieurs villes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" y="5084064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 technique réel, ouvert seulement après la Gate 1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553712" y="484632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facturation est automatisée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53712" y="5084064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à partir de 15 à 20 clients payants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577900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B3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L'expansion s'autofinance dès que Clermont dépasse 2 500 € de MRR — ce n'est pas une coïncidence, c'est ainsi que le seuil de la Gate 1 a été fixé.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L'EXPANSION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Puis les autres villes — par taille, jamais d'un bond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monte l'échelle. À chaque barreau : une densité étudiante suffisante, une conquête possible en quelques mois, et un relais personnel sur place.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493008" cy="379476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700">
            <a:solidFill>
              <a:srgbClr val="E0492B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59536" y="1984248"/>
            <a:ext cx="1097280" cy="292608"/>
          </a:xfrm>
          <a:prstGeom prst="roundRect">
            <a:avLst>
              <a:gd name="adj" fmla="val 93750"/>
            </a:avLst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859536" y="19842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37744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jumelles de Clermont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798064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à 45 000 étudiants — l'ordre de grandeur de Clermont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31012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CANDIDATES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3547872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Saint-Étienne · Limoges · Dijon · Besançon · Poitiers · Orléans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420624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4443984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Rien, et c'est tout l'intérêt : même méthode, même durée, même effort commercial. Si une de ces villes résiste, ce n'est pas la ville qui est en cause — c'est la méthode.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57116" y="1783080"/>
            <a:ext cx="3493008" cy="379476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49724" y="1984248"/>
            <a:ext cx="1097280" cy="292608"/>
          </a:xfrm>
          <a:prstGeom prst="roundRect">
            <a:avLst>
              <a:gd name="adj" fmla="val 93750"/>
            </a:avLst>
          </a:prstGeom>
          <a:solidFill>
            <a:srgbClr val="A7551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4649724" y="19842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649724" y="237744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villes intermédiaires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49724" y="2798064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A75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45 000 à 75 000 étudiants — deux pôles étudiants au lieu d'un seul centre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649724" y="331012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CANDIDATES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649724" y="3547872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Angers · Tours · Reims · Caen · Nancy · Rouen · Grenoble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649724" y="420624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649724" y="4443984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salarié terrain à temps plein au lieu d'une alternance, et un ambassadeur par pôle. Le coût d'ouverture double.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47304" y="1783080"/>
            <a:ext cx="3493008" cy="379476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8439912" y="1984248"/>
            <a:ext cx="1097280" cy="292608"/>
          </a:xfrm>
          <a:prstGeom prst="roundRect">
            <a:avLst>
              <a:gd name="adj" fmla="val 93750"/>
            </a:avLst>
          </a:prstGeom>
          <a:solidFill>
            <a:srgbClr val="4A40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8439912" y="19842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3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439912" y="237744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métropoles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439912" y="2798064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100 000 étudiants — dix quartiers, pas une ville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439912" y="331012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 CANDIDATES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439912" y="3547872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Lille · Toulouse · Bordeaux · Montpellier · Lyon · Marseille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439912" y="420624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CHANGE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439912" y="4443984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Tout. On n'ouvre pas « Lyon » : on ouvre la Guillotière, puis la Doua. Un quartier étudiant se traite exactement comme une ville de vague 1.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5687568"/>
            <a:ext cx="11057839" cy="512064"/>
          </a:xfrm>
          <a:prstGeom prst="roundRect">
            <a:avLst>
              <a:gd name="adj" fmla="val 23214"/>
            </a:avLst>
          </a:prstGeom>
          <a:solidFill>
            <a:srgbClr val="1C1916"/>
          </a:solidFill>
          <a:ln/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950976" y="568756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Jamais deux villes ouvertes en même temps.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5687568"/>
            <a:ext cx="6446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métropole attaquée de front coûte dix fois le terrain pour la même densité perçue. Et Paris ne sera jamais « une ville » : ce sera un campus à la fois.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COMMENT NOUS SAURONS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seul chiffre nous dit si les deux côtés fonctionnent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57839" cy="1389888"/>
          </a:xfrm>
          <a:prstGeom prst="roundRect">
            <a:avLst>
              <a:gd name="adj" fmla="val 8553"/>
            </a:avLst>
          </a:prstGeom>
          <a:solidFill>
            <a:srgbClr val="1C1916"/>
          </a:solidFill>
          <a:ln/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978408" y="1627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EF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1901952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nombre de pass scannés par semaine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377440"/>
            <a:ext cx="5897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progresse que si un établissement a publié, que des étudiants ont réservé, qu'ils se sont déplacés et que le personnel a scanné. Un maillon casse, l'indicateur baisse.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75564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128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394192" y="175564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2128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473184" y="175564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9473184" y="22128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552176" y="175564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0552176" y="22128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25054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semaine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035808"/>
            <a:ext cx="5577840" cy="2788920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877824" y="32186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refusons comme indicateur principal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77824" y="36576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nombre d'inscrits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77824" y="389534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Gonflable, ne prouve rien — et c'est exactement le chiffre que tous nos concurrents mettent en avant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" y="43708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nombre de téléchargements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77824" y="460857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rapport avec la valeur livrée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" y="50840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B36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nombre de réservations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53218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de l'intention. La différence entre intention et présence est précisément notre produit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19088" y="3035808"/>
            <a:ext cx="5212080" cy="2788920"/>
          </a:xfrm>
          <a:prstGeom prst="roundRect">
            <a:avLst>
              <a:gd name="adj" fmla="val 4262"/>
            </a:avLst>
          </a:prstGeom>
          <a:solidFill>
            <a:srgbClr val="FBF8F1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6711696" y="32186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seuils qui déclenchent une action, pas une discussion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711696" y="36576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d'une soirée sous 60 %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711696" y="38770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rappel, appeler le partenaire le jour même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711696" y="418795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sans soirée depuis 21 j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711696" y="44074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signe de churn, bien avant la résiliation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711696" y="471830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10 soirées publiées / semaine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711696" y="49377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devient statique : priorité absolue au recrutement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711696" y="524865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viral sous 0,2 à M6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711696" y="54681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Revoir la mécanique d'invitation dans le produit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· CE QUI COMMENCE MAINTENANT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10578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 trois priorités des trente prochains jours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493008" cy="416052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59536" y="1901952"/>
            <a:ext cx="384048" cy="384048"/>
          </a:xfrm>
          <a:prstGeom prst="ellipse">
            <a:avLst/>
          </a:prstGeom>
          <a:solidFill>
            <a:srgbClr val="E04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859536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Verrouiller le juridique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77977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StudentLink n'appartient à personne. C'est le seul risque capable de tout détruire d'un coup.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354787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d'antériorité INPI et nom de repli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127248" y="35478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400507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Domaine, Instagram, TikTok réservés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127248" y="40050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446227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 expert-comptable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127248" y="44622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491947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Pacte d'associés et cession du code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127248" y="49194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59536" y="537667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la société et signature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127248" y="53766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57116" y="1691640"/>
            <a:ext cx="3493008" cy="416052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49724" y="1901952"/>
            <a:ext cx="384048" cy="384048"/>
          </a:xfrm>
          <a:prstGeom prst="ellipse">
            <a:avLst/>
          </a:prstGeom>
          <a:solidFill>
            <a:srgbClr val="4A40C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4649724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49724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Signer et faire scanner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649724" y="277977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4A4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 que ce chiffre n'existe pas, nous vendons une promesse. Après, nous vendons un résultat.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49724" y="354787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nominative des 30 cibles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917436" y="35478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649724" y="400507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tarifaire figée, plaquette complétée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917436" y="40050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649724" y="446227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établissements fondateurs signés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917436" y="44622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649724" y="491947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BDE partenaires conventionnés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917436" y="49194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649724" y="537667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Soirée de lancement co-organisée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917436" y="53766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47304" y="1691640"/>
            <a:ext cx="3493008" cy="4160520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9525">
            <a:solidFill>
              <a:srgbClr val="DED6C6"/>
            </a:solidFill>
            <a:prstDash val="solid"/>
          </a:ln>
          <a:effectLst>
            <a:outerShdw blurRad="152400" dist="38100" dir="5400000" algn="bl" rotWithShape="0">
              <a:srgbClr val="1C191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8439912" y="1901952"/>
            <a:ext cx="384048" cy="384048"/>
          </a:xfrm>
          <a:prstGeom prst="ellipse">
            <a:avLst/>
          </a:prstGeom>
          <a:solidFill>
            <a:srgbClr val="8E641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 txBox="1"/>
          <p:nvPr/>
        </p:nvSpPr>
        <p:spPr>
          <a:xfrm>
            <a:off x="8439912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439912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9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Rendre le produit vendable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8439912" y="277977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E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trois points sont bloquants : aucune vente n'est engagée avant qu'ils soient faits.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439912" y="354787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authentifié (SPF, DKIM) pour les rappels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10707624" y="35478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8439912" y="400507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quotidiennes chiffrées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0707624" y="40050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439912" y="446227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testé de nuit sur trois téléphones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707624" y="44622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8439912" y="491947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 compte — obligation RGPD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10707624" y="49194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8439912" y="537667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KPI hebdomadaire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10707624" y="537667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66928" y="59893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Échéances comptées en semaines à partir du lancement du chantier · Arthur Gramond (technique, produit) · Étienne Florentino (commercial, partenariats)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Plan d'action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C19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_mark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777240"/>
            <a:ext cx="914400" cy="68031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9202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autres vous donnent</a:t>
            </a:r>
            <a:endParaRPr lang="en-US" sz="38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F3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l'audience.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31012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EFB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StudentLink vous donne des présents.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2452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Clermont-Ferrand d'abord, et seul, jusqu'à ce que le modèle soit prouvé. Puis la même méthode, ville par ville.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138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Gramond</a:t>
            </a:r>
            <a:r>
              <a:rPr lang="en-US" sz="12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technique, produit, design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468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Étienne Florentino</a:t>
            </a:r>
            <a:r>
              <a:rPr lang="en-US" sz="120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commercial, partenariats</a:t>
            </a:r>
            <a:endParaRPr lang="en-US" sz="1200" dirty="0"/>
          </a:p>
        </p:txBody>
      </p:sp>
      <p:pic>
        <p:nvPicPr>
          <p:cNvPr id="8" name="Image 1" descr="img/m_p_squa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1417320"/>
            <a:ext cx="1753217" cy="3794760"/>
          </a:xfrm>
          <a:prstGeom prst="rect">
            <a:avLst/>
          </a:prstGeom>
          <a:effectLst>
            <a:outerShdw blurRad="228600" dist="63500" dir="5400000" algn="bl" rotWithShape="0">
              <a:srgbClr val="1C1916">
                <a:alpha val="20000"/>
              </a:srgbClr>
            </a:outerShdw>
          </a:effectLst>
        </p:spPr>
      </p:pic>
      <p:pic>
        <p:nvPicPr>
          <p:cNvPr id="9" name="Image 2" descr="img/m_p_p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2331720"/>
            <a:ext cx="1753217" cy="3794760"/>
          </a:xfrm>
          <a:prstGeom prst="rect">
            <a:avLst/>
          </a:prstGeom>
          <a:effectLst>
            <a:outerShdw blurRad="228600" dist="63500" dir="5400000" algn="bl" rotWithShape="0">
              <a:srgbClr val="1C1916">
                <a:alpha val="20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566928" y="6336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StudentLink · Clermont-Ferrand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10893247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C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5143</Words>
  <Application>Microsoft Office PowerPoint</Application>
  <PresentationFormat>Grand écran</PresentationFormat>
  <Paragraphs>734</Paragraphs>
  <Slides>35</Slides>
  <Notes>35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StudentLink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StudentLink - Presentation investisseurs &amp; partenaires</dc:title>
  <dc:subject>PptxGenJS Presentation</dc:subject>
  <dc:creator>Arthur Gramond &amp; Etienne Florentino</dc:creator>
  <cp:lastModifiedBy>Arthur Gramond</cp:lastModifiedBy>
  <cp:revision>2</cp:revision>
  <dcterms:created xsi:type="dcterms:W3CDTF">2026-09-19T10:19:53Z</dcterms:created>
  <dcterms:modified xsi:type="dcterms:W3CDTF">2026-09-19T11:02:43Z</dcterms:modified>
</cp:coreProperties>
</file>