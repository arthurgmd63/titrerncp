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m'appelle Arthur Gramond, je suis en formation Développeur Web et Web Mobile à Hesias, à Clermont-Ferrand. Je vais vous présenter StudentLink, une plateforme web que j'ai conçue et développée seul, de la modélisation de la base de données jusqu'à la mise en production. Le projet part d'une phrase très simple, que je me suis dite en tant qu'étudiant : on veut tous se retrouver, mais on veut aussi payer moins cher. Et aujourd'hui, aucun outil ne répond à ça à Clermont. Je vais organiser ma présentation en sept temps : le contexte et la problématique, le cahier des charges, la conception, une démonstration de l'application, la sécurité, la qualité et le déploiement, et enfin le bilan.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tableau est mon fil conducteur. Si j'ai deux minutes de retard au top des quatorze minutes, je coupe deux des personas et le diagramme de cas d'utilisation. Je ne rogne jamais sur la démonstration : c'est la partie qui prouve que l'application existe.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jury retient les chiffres. Ceux-ci sont tous vérifiés dans le projet, je peux les citer sans risque.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projet part d'une phrase très simple, que je me suis dite en tant qu'étudiant : on veut tous se retrouver, mais on veut aussi payer moins cher. Et aujourd'hui, aucun outil ne répond à ça à Clermont. Je vais organiser ma présentation en sept temps : le contexte et la problématique, le cahier des charges, la conception, une démonstration de l'application, la sécurité, la qualité et le déploiement, et enfin le bilan. Points de vigilance : ne jamais commencer par la technique, dire « j'ai conçu et développé » et non « on a fait » — c'est un projet solo —, rester debout, regarder le jury et non l'écran, et ne jamais s'excuser par avance.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L'idée ne vient pas d'un sujet imposé, elle vient de mon quotidien. Quand on veut sortir avec mes amis, c'est toujours le même scénario : un groupe WhatsApp qui s'agite, quelqu'un qui cherche sur Instagram, un autre qui demande si c'est payant, un troisième si c'est cher. Et au final, certains restent chez eux. Le problème, ce n'est pas l'envie de sortir. C'est l'absence d'un outil pensé pour nous. Clermont-Ferrand, c'est 42 500 étudiants, répartis entre l'UCA, SIGMA Clermont, l'INP, l'IFSI et Hesias. À l'échelle nationale, la France compte 3 012 800 étudiants. Le bassin est donc réel, et il est doublement adressable : je commence par Clermont, mais le modèle est réplicable ville par ville, parce que rien dans ma modélisation n'est spécifique à Clermont — le champ ville existe déjà sur les établissements.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problème est symétrique. Côté étudiant : je rate des plans parce que l'information circule mal, et je paie plein tarif alors que des offres étudiantes existent. Côté établissement : Jean, gérant du Bec qui Pique, ne sait pas combien de personnes vont venir avant 22 heures le soir même. Il communique avec des flyers et des posts Instagram qui se noient dans les fils. Et surtout, il n'a aucune donnée sur son public. D'où ma problématique : comment permettre aux étudiants de se retrouver facilement, de profiter d'offres exclusives dans les établissements locaux et de s'organiser entre eux — le tout depuis une seule application pensée pour eux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ne récite pas les fiches personas : je donne pour chacun le profil en trois mots, puis la frustration qui déclenche une fonctionnalité. Arthur : je rate des soirées parce que j'apprends l'event la veille — d'où les Flash Events. Léa : les apps type Shotgun sont pensées pour Paris, pas pour Clermont — d'où l'ancrage local. Lucas : le running tout seul c'est démotivant, mais je ne sais pas où trouver des gens — d'où les squads sportives. Jean : ce que je veux, c'est remplir mon bar le jeudi et savoir d'où viennent mes clients — d'où l'analytics et le check-in. J'enchaîne les quatre d'une traite, sans transition. Si je suis en retard, je garde Arthur et Jean, je coupe Léa et Lucas.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Face à l'existant : Shotgun et Dice sont centrés sur les grandes villes et prennent des commissions trop lourdes pour un bar de quartier. Facebook Events n'est plus utilisé par les étudiants. Instagram n'a ni inscription, ni gestion de quota, ni données exploitables pour le gérant. StudentLink se place sur un créneau précis : local, gratuit pour l'étudiant, et orienté données pour le partenaire. Transition : à partir de ces besoins, j'ai formalisé un cahier des charges.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listé 42 fonctionnalités, que j'ai priorisées selon la méthode MoSCoW — Must have, Should have, Could have — pour être certain de livrer le cœur avant les extras. Elles se répartissent en modules : authentification, événements, wallet, social, squads, gamification, partenaire, et apparence/accessibilité.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non fonctionnel, je me suis fixé quatre exigences mesurables : performance (moins de deux secondes de chargement en 4G, zéro requête N+1), mobile-first (375 à 430 pixels), sécurité (OWASP Top 10) et accessibilité (WCAG 2.1 AA). J'ai travaillé seul, en itératif, avec des conventional commits, un CHANGELOG versionné et une intégration continue sur GitHub Actions. Chaque fonctionnalité a été développée, testée, puis fusionnée une fois la CI au vert.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ne saute jamais cette partie. Un jury juge autant la capacité à exclure qu'à produire. Sans justification, un manque ressemble à un oubli ; avec justification, il devient un arbitrage. Paiement en ligne : conformité PCI-DSS, la valeur était ailleurs. Application native : la PWA couvre l'essentiel sans double base de code. Géolocalisation : coût RGPD élevé pour une valeur faible. Messagerie : les squads et invitations couvrent déjà le besoin. Recommandation IA : pas encore le volume de données nécessaire. Transition : une fois le besoin cadré, je suis passé à la conception.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modélisé la base en 16 tables relationnelles, normalisées en troisième forme normale. Le cœur, ce sont trois entités : users, avec un champ type en ENUM — j'ai fait le choix d'une seule table plutôt que deux, parce que l'authentification, le profil et les sessions sont communs aux deux rôles ; evenements, rattachée à un établissement, avec le quota, la réduction, et deux champs dédiés au Flash ; inscriptions, la table pivot entre l'étudiant et l'événement, qui porte le QR code et le statut : inscrit, puis check-in, ou annulé. Autour de ce noyau : les tables sociales (follows_users, une auto-référence sur users), squads et squad_membres, avis, economies, badges et user_badges. Et deux tables purement techniques liées à la sécurité : login_attempts et password_resets.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fait le choix de poser les garde-fous en base, et pas seulement en PHP, parce qu'une vérification applicative se contourne dès qu'on rejoue une requête. Une contrainte UNIQUE sur le couple user_id / evenement_id dans inscriptions rend impossible une double inscription, même avec un double-clic. Côté API, je récupère le code d'erreur SQL 23000 pour renvoyer « tu es déjà inscrit » plutôt qu'une erreur serveur. La même logique s'applique sur squads, avis et follows. Enfin, toutes mes clés étrangères sont en ON DELETE CASCADE : si un compte est supprimé, tout part avec — c'est aussi ce qui me permet de répondre au droit à l'effacement du RGPD sans script de nettoyage.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 diagramme de cas d'utilisation distingue trois acteurs : le visiteur, qui ne peut que s'inscrire, se connecter et réinitialiser son mot de passe ; l'étudiant, avec seize cas d'usage ; et le partenaire, avec cinq cas centrés sur la création d'événements, le check-in et l'analytics. Ce n'est pas un diagramme décoratif : cette séparation d'acteurs se traduit directement dans le code par deux fonctions de garde, requireStudent() et requirePartner(), appelées en tête de chaque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scénario le plus représentatif de l'application, l'inscription à un événement, en six étapes. Un : le JavaScript envoie une requête POST JSON sur /api/inscrire.php. Deux : l'API vérifie la session et que le type de compte est étudiant — je ne fais jamais confiance à ce que le front m'envoie. Trois : elle vérifie que l'événement n'est pas passé. Quatre : elle compare les inscrits au quota. Cinq : elle génère le QR code, un hash SHA-256 unique et non devinable. Six — le point important — l'insertion se fait dans une transaction : l'inscription et l'économie sont écrites ensemble, ou pas du tout. En cas d'erreur, rollBack, et la base reste cohérente.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Architecturalement, j'ai retenu un MVC allégé, procédural, sans framework. Le contrôleur, c'est le haut de chaque fichier PHP. La vue, c'est le HTML en dessous. Les traitements transverses sont centralisés dans includes/. Les actions asynchrones passent par une douzaine d'endpoints JSON dans /api/. Toutes les pages incluent auth_check.php en première ligne : aucune page ne peut être servie sans sécurité. Anecdote : en local sous WAMP, l'application est servie depuis /TitreRNCP, en production à la racine — tous mes liens cassaient d'un environnement à l'autre. Plutôt que de corriger chaque lien, j'ai créé une fonction baseUrl() et une constante BASE côté JS qui détectent l'environnement automatiquement. Transition : voilà pour la conception, passons à l'application elle-même.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cœur de l'oral et le moment où le jury vérifie que le projet existe vraiment. Je me mets à la place d'Arthur, qui sort de cours un jeudi après-midi. Je ne commente jamais un incident technique — je bascule sur mon plan B en continuant à parler.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page principale. Chaque carte affiche le lieu, la date, la réduction, le nombre de places restantes et la note moyenne de l'établissement. En haut, cette carte avec le bandeau et un compte à rebours, c'est un Flash Event : une offre à durée limitée créée par le partenaire. Le décompte est calculé côté client à partir du champ flash_expiry stocké en base. Je peux filtrer par type d'établissement, et il existe un filtre « pour moi » qui remonte en priorité les événements correspondant à mon école et mes centres d'intérêt.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clique sur « S'inscrire ». Un seul appel API, aucun rechargement de page : le compteur de places passe immédiatement. Derrière, c'est exactement le diagramme de séquence que je viens de présenter. Et voici mon pass, dans le wallet, avec son QR code unique. En haut de l'écran, le cumul de ce que j'ai économisé grâce aux réductions : calculé à partir du prix normal multiplié par le pourcentage de réduction, stocké au moment de l'inscription dans la table economies.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Bascule sur l'écran de Jean. Jean crée son événement : titre, type, date, quota, pourcentage de réduction, et la case Flash avec une date d'expiration. L'interface est volontairement minimale, parce que la cible est un gérant de bar, pas un utilisateur technique. Le soir de l'événement, l'étudiant présente son QR code. Jean le scanne : l'inscription passe du statut inscrit au statut check-in. Deux secondes, pas de file d'attente. Et un QR déjà scanné est détecté, donc un même pass ne peut pas servir deux fois.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c'est ici que Jean obtient ce qu'il n'a nulle part ailleurs : des graphiques en temps réel, alimentés par l'endpoint /api/stats.php, qui est protégé et ne renvoie que les données de ses événements à lui. Il visualise ses pics d'inscription, la répartition de son audience par école, et un conseil actionnable. Concrètement, ces données lui permettent de décaler ses soirées sur le bon jour, de prévoir son personnel sur le bon créneau et de cibler la bonne école.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reviens côté étudiant, sur le cas de Lucas, arrivé à Clermont cette année. L'onglet Squads liste des groupes sportifs créés par les étudiants eux-mêmes. Il filtre par activité et par niveau, il trouve une sortie, 3 membres sur 6, et il rejoint en un clic. Le quota est vérifié côté serveur, et une contrainte UNIQUE en base l'empêche de rejoindre deux fois. Il peut suivre d'autres étudiants, consulter leur profil public, et retrouver leur activité dans son fil. La recherche se fait par nom, par école ou par centre d'intérêt.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J'ouvre mon profil et je commente la barre d'XP et la grille de badges. Chaque action rapporte de l'expérience : 15 points par événement, 10 par squad, 5 par abonnement, 8 par avis déposé. Le niveau se déduit de l'XP par une racine carrée : la progression est rapide au début, ce qui accroche le nouvel utilisateur, puis ralentit. Des badges se débloquent automatiquement : checkBadges() est appelée après chaque action majeure. Attention : ma base définit 9 badges, mais seuls 8 sont attribués automatiquement pour l'instant — je dis « huit badges automatiques, un neuvième déjà modélisé et prévu », jamais neuf.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derniers points. Les avis : après un check-in validé, et seulement après, un bouton apparaît dans le wallet. Cette note alimente la moyenne affichée sur les cartes de la page Explore — l'écosystème se nourrit de lui-même. Et deux détails d'expérience utilisateur : le dark mode, conservé d'une session à l'autre, et le fait que l'application soit une PWA installable — je l'ajoute à mon écran d'accueil et elle s'ouvre en plein écran, comme une application native. Transition : cette application manipule des comptes et des données personnelles. Parlons de sécurité.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construit ma sécurité en suivant l'OWASP Top 10, et sans framework — ce qui veut dire que tout est explicite dans mon code, et que je peux justifier chaque mesure. Cent pour cent de mes requêtes passent par des requêtes préparées avec des paramètres liés. Les mots de passe sont hachés en bcrypt via password_hash avec la constante PASSWORD_DEFAULT. À chaque connexion réussie, je régénère l'identifiant de session. Au-delà de cinq tentatives en quinze minutes pour une même IP, la connexion est bloquée. Le jeton de reset est un aléa de 32 octets, mais je ne stocke que son hash SHA-256.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Sans framework, la protection CSRF doit être posée à la main sur chaque formulaire. Le vrai risque n'est donc pas technique, il est humain : c'est l'oubli. Je l'ai neutralisé en centralisant trois fonctions. csrfToken() génère un jeton de 32 octets et le stocke en session. csrfField() renvoie directement le champ caché — protéger un nouveau formulaire, c'est une seule ligne. csrfVerify() compare avec hash_equals, une comparaison à temps constant. Et j'ai fait évoluer ce point récemment : un jeton invalide provoquait un arrêt brutal, une page blanche. Maintenant, je régénère un jeton frais, j'affiche « session expirée » et je redirige. Le niveau de sécurité est identique, mais l'utilisateur peut se rattraper.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40 tests PHPUnit, 282 assertions, l'ensemble tourne en moins de deux dixièmes de seconde. Des tests unitaires sur les fonctions pures, et des tests d'intégration sur la gamification, sur une base SQLite en mémoire — c'est pour cette raison que dans checkBadges je fais un SELECT suivi d'un INSERT plutôt qu'un INSERT ON DUPLICATE KEY, propre à MySQL. PHPStan analyse le code au niveau 5. Tout cela est branché sur GitHub Actions : à chaque push, la CI rejoue l'analyse et les tests sur trois versions de PHP, parce que je ne maîtrise pas la version installée sur l'hébergement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déploiement est continu. Je pousse sur la branche principale, la plateforme détecte le commit, reconstruit l'image et met en ligne en environ deux minutes. Elle me fournit un MySQL managé, le HTTPS automatique et un stockage sécurisé des variables d'environnement — mes identifiants ne sont donc jamais dans le dépôt Git. Le fichier includes/db.php détecte l'environnement en lisant une variable d'hôte : c'est le pendant serveur de la fonction baseUrl. Enfin, j'ai documenté le projet comme s'il devait être repris par une équipe — un réflexe que j'ai pris volontairement, même en travaillant seul. Transition : je termine par le bilan.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les raconte comme trois petites histoires : le symptôme, la cause, la solution, la leçon. La portabilité des URLs : mon application cassait en production à cause du préfixe. J'ai créé une fonction baseUrl unique. La leçon : quand un problème revient à deux cents endroits, il ne faut pas le corriger deux cents fois. La protection CSRF sans framework : le risque n'était pas technique mais humain. La performance de la page Explore : ma première version lançait une requête par événement, une quinzaine de requêtes pour une seule page — le problème classique du N+1. Je l'ai résolu avec des sous-requêtes corrélées : une seule requête ramène désormais toutes les données. C'est l'optimisation dont je suis le plus satisfait, parce que j'ai mesuré la différence.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Formule systématique : j'ai choisi X plutôt que Y, parce que Z — et dans tel autre contexte, j'aurais choisi l'inverse. Cette dernière moitié est ce qui distingue un choix d'un réflexe. PHP vanilla plutôt que Symfony ou Laravel : sur un projet solo de cette taille, un framework aurait ajouté une couche de magie que je ne maîtrisais pas encore. Sessions plutôt que JWT : c'est une application à rendu serveur. JavaScript vanilla plutôt que React : mes interactions se résument à quelques appels API. Railway plutôt qu'un VPS : je voulais me concentrer sur le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StudentLink part d'un besoin très simple — se retrouver entre étudiants en payant moins cher — et j'en ai fait une plateforme complète. Seize tables modélisées, une application sécurisée selon l'OWASP Top 10, quarante tests automatisés, une intégration continue sur trois versions de PHP et une mise en production réelle. Ce n'est pas une application fictive faite pour un examen : c'est la réponse à un problème que je vis chaque semaine, et c'est pour moi la concrétisation de mes années de formation. Je vous remercie de votre attention, et je suis à votre disposition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916"/>
        </a:solidFill>
      </p:bgPr>
    </p:bg>
    <p:spTree>
      <p:nvGrpSpPr>
        <p:cNvPr id="1" name=""/>
        <p:cNvGrpSpPr/>
        <p:nvPr/>
      </p:nvGrpSpPr>
      <p:grpSpPr>
        <a:xfrm>
          <a:off x="0" y="0"/>
          <a:ext cx="0" cy="0"/>
          <a:chOff x="0" y="0"/>
          <a:chExt cx="0" cy="0"/>
        </a:xfrm>
      </p:grpSpPr>
      <p:sp>
        <p:nvSpPr>
          <p:cNvPr id="2" name="Shape 0"/>
          <p:cNvSpPr/>
          <p:nvPr/>
        </p:nvSpPr>
        <p:spPr>
          <a:xfrm>
            <a:off x="8778240" y="-1828800"/>
            <a:ext cx="5852160" cy="5852160"/>
          </a:xfrm>
          <a:prstGeom prst="ellipse">
            <a:avLst/>
          </a:prstGeom>
          <a:solidFill>
            <a:srgbClr val="E0492B">
              <a:alpha val="14000"/>
            </a:srgbClr>
          </a:solidFill>
          <a:ln/>
        </p:spPr>
      </p:sp>
      <p:sp>
        <p:nvSpPr>
          <p:cNvPr id="3" name="Shape 1"/>
          <p:cNvSpPr/>
          <p:nvPr/>
        </p:nvSpPr>
        <p:spPr>
          <a:xfrm>
            <a:off x="-1463040" y="4206240"/>
            <a:ext cx="4023360" cy="4023360"/>
          </a:xfrm>
          <a:prstGeom prst="ellipse">
            <a:avLst/>
          </a:prstGeom>
          <a:solidFill>
            <a:srgbClr val="4A40C2">
              <a:alpha val="12000"/>
            </a:srgbClr>
          </a:solidFill>
          <a:ln/>
        </p:spPr>
      </p:sp>
      <p:sp>
        <p:nvSpPr>
          <p:cNvPr id="4" name="Text 2"/>
          <p:cNvSpPr txBox="1"/>
          <p:nvPr/>
        </p:nvSpPr>
        <p:spPr>
          <a:xfrm>
            <a:off x="548640" y="1188720"/>
            <a:ext cx="11064240" cy="292608"/>
          </a:xfrm>
          <a:prstGeom prst="rect">
            <a:avLst/>
          </a:prstGeom>
          <a:noFill/>
          <a:ln/>
        </p:spPr>
        <p:txBody>
          <a:bodyPr wrap="square" lIns="0" tIns="0" rIns="0" bIns="0" rtlCol="0" anchor="ctr"/>
          <a:lstStyle/>
          <a:p>
            <a:pPr indent="0" marL="0">
              <a:buNone/>
            </a:pPr>
            <a:r>
              <a:rPr lang="en-US" sz="1250" b="1" spc="300" kern="0" dirty="0">
                <a:solidFill>
                  <a:srgbClr val="E0492B"/>
                </a:solidFill>
                <a:latin typeface="Calibri" pitchFamily="34" charset="0"/>
                <a:ea typeface="Calibri" pitchFamily="34" charset="-122"/>
                <a:cs typeface="Calibri" pitchFamily="34" charset="-120"/>
              </a:rPr>
              <a:t>SOUTENANCE — TITRE PROFESSIONNEL</a:t>
            </a:r>
            <a:endParaRPr lang="en-US" sz="1250" dirty="0"/>
          </a:p>
        </p:txBody>
      </p:sp>
      <p:sp>
        <p:nvSpPr>
          <p:cNvPr id="5" name="Text 3"/>
          <p:cNvSpPr txBox="1"/>
          <p:nvPr/>
        </p:nvSpPr>
        <p:spPr>
          <a:xfrm>
            <a:off x="548640" y="1481328"/>
            <a:ext cx="11064240" cy="292608"/>
          </a:xfrm>
          <a:prstGeom prst="rect">
            <a:avLst/>
          </a:prstGeom>
          <a:noFill/>
          <a:ln/>
        </p:spPr>
        <p:txBody>
          <a:bodyPr wrap="square" lIns="0" tIns="0" rIns="0" bIns="0" rtlCol="0" anchor="ctr"/>
          <a:lstStyle/>
          <a:p>
            <a:pPr indent="0" marL="0">
              <a:buNone/>
            </a:pPr>
            <a:r>
              <a:rPr lang="en-US" sz="1250" b="1" spc="100" kern="0" dirty="0">
                <a:solidFill>
                  <a:srgbClr val="C9C1B2"/>
                </a:solidFill>
                <a:latin typeface="Calibri" pitchFamily="34" charset="0"/>
                <a:ea typeface="Calibri" pitchFamily="34" charset="-122"/>
                <a:cs typeface="Calibri" pitchFamily="34" charset="-120"/>
              </a:rPr>
              <a:t>Développeur Web et Web Mobile · Niveau 5</a:t>
            </a:r>
            <a:endParaRPr lang="en-US" sz="1250" dirty="0"/>
          </a:p>
        </p:txBody>
      </p:sp>
      <p:sp>
        <p:nvSpPr>
          <p:cNvPr id="6" name="Text 4"/>
          <p:cNvSpPr txBox="1"/>
          <p:nvPr/>
        </p:nvSpPr>
        <p:spPr>
          <a:xfrm>
            <a:off x="548640" y="1965960"/>
            <a:ext cx="11064240" cy="1188720"/>
          </a:xfrm>
          <a:prstGeom prst="rect">
            <a:avLst/>
          </a:prstGeom>
          <a:noFill/>
          <a:ln/>
        </p:spPr>
        <p:txBody>
          <a:bodyPr wrap="square" lIns="0" tIns="0" rIns="0" bIns="0" rtlCol="0" anchor="ctr"/>
          <a:lstStyle/>
          <a:p>
            <a:pPr indent="0" marL="0">
              <a:buNone/>
            </a:pPr>
            <a:r>
              <a:rPr lang="en-US" sz="6200" b="1" dirty="0">
                <a:solidFill>
                  <a:srgbClr val="FFFFFF"/>
                </a:solidFill>
                <a:latin typeface="Cambria" pitchFamily="34" charset="0"/>
                <a:ea typeface="Cambria" pitchFamily="34" charset="-122"/>
                <a:cs typeface="Cambria" pitchFamily="34" charset="-120"/>
              </a:rPr>
              <a:t>StudentLink</a:t>
            </a:r>
            <a:endParaRPr lang="en-US" sz="6200" dirty="0"/>
          </a:p>
        </p:txBody>
      </p:sp>
      <p:sp>
        <p:nvSpPr>
          <p:cNvPr id="7" name="Text 5"/>
          <p:cNvSpPr txBox="1"/>
          <p:nvPr/>
        </p:nvSpPr>
        <p:spPr>
          <a:xfrm>
            <a:off x="548640" y="3108960"/>
            <a:ext cx="11064240" cy="685800"/>
          </a:xfrm>
          <a:prstGeom prst="rect">
            <a:avLst/>
          </a:prstGeom>
          <a:noFill/>
          <a:ln/>
        </p:spPr>
        <p:txBody>
          <a:bodyPr wrap="square" lIns="0" tIns="0" rIns="0" bIns="0" rtlCol="0" anchor="ctr"/>
          <a:lstStyle/>
          <a:p>
            <a:pPr indent="0" marL="0">
              <a:buNone/>
            </a:pPr>
            <a:r>
              <a:rPr lang="en-US" sz="2600" i="1" dirty="0">
                <a:solidFill>
                  <a:srgbClr val="E0492B"/>
                </a:solidFill>
                <a:latin typeface="Cambria" pitchFamily="34" charset="0"/>
                <a:ea typeface="Cambria" pitchFamily="34" charset="-122"/>
                <a:cs typeface="Cambria" pitchFamily="34" charset="-120"/>
              </a:rPr>
              <a:t>On veut tous se retrouver, en payant moins cher.</a:t>
            </a:r>
            <a:endParaRPr lang="en-US" sz="2600" dirty="0"/>
          </a:p>
        </p:txBody>
      </p:sp>
      <p:sp>
        <p:nvSpPr>
          <p:cNvPr id="8" name="Text 6"/>
          <p:cNvSpPr txBox="1"/>
          <p:nvPr/>
        </p:nvSpPr>
        <p:spPr>
          <a:xfrm>
            <a:off x="548640" y="3840480"/>
            <a:ext cx="9072677" cy="548640"/>
          </a:xfrm>
          <a:prstGeom prst="rect">
            <a:avLst/>
          </a:prstGeom>
          <a:noFill/>
          <a:ln/>
        </p:spPr>
        <p:txBody>
          <a:bodyPr wrap="square" lIns="0" tIns="0" rIns="0" bIns="0" rtlCol="0" anchor="ctr"/>
          <a:lstStyle/>
          <a:p>
            <a:pPr indent="0" marL="0">
              <a:buNone/>
            </a:pPr>
            <a:r>
              <a:rPr lang="en-US" sz="1350" dirty="0">
                <a:solidFill>
                  <a:srgbClr val="C9C1B2"/>
                </a:solidFill>
                <a:latin typeface="Calibri" pitchFamily="34" charset="0"/>
                <a:ea typeface="Calibri" pitchFamily="34" charset="-122"/>
                <a:cs typeface="Calibri" pitchFamily="34" charset="-120"/>
              </a:rPr>
              <a:t>Plateforme événementielle et sociale pour les étudiants de Clermont-Ferrand — conçue et développée en solo, de la base de données jusqu'à la mise en production.</a:t>
            </a:r>
            <a:endParaRPr lang="en-US" sz="1350" dirty="0"/>
          </a:p>
        </p:txBody>
      </p:sp>
      <p:sp>
        <p:nvSpPr>
          <p:cNvPr id="9" name="Shape 7"/>
          <p:cNvSpPr/>
          <p:nvPr/>
        </p:nvSpPr>
        <p:spPr>
          <a:xfrm>
            <a:off x="548640" y="5074920"/>
            <a:ext cx="5669280" cy="1051560"/>
          </a:xfrm>
          <a:prstGeom prst="roundRect">
            <a:avLst>
              <a:gd name="adj" fmla="val 8696"/>
            </a:avLst>
          </a:prstGeom>
          <a:solidFill>
            <a:srgbClr val="FFFFFF">
              <a:alpha val="10000"/>
            </a:srgbClr>
          </a:solidFill>
          <a:ln w="12700">
            <a:solidFill>
              <a:srgbClr val="3D362C"/>
            </a:solidFill>
            <a:prstDash val="solid"/>
          </a:ln>
        </p:spPr>
      </p:sp>
      <p:sp>
        <p:nvSpPr>
          <p:cNvPr id="10" name="Text 8"/>
          <p:cNvSpPr txBox="1"/>
          <p:nvPr/>
        </p:nvSpPr>
        <p:spPr>
          <a:xfrm>
            <a:off x="822960" y="5212080"/>
            <a:ext cx="5303520" cy="8686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Arthur Gramond</a:t>
            </a:r>
            <a:endParaRPr lang="en-US" sz="1400" dirty="0"/>
          </a:p>
          <a:p>
            <a:pPr indent="0" marL="0">
              <a:buNone/>
            </a:pPr>
            <a:r>
              <a:rPr lang="en-US" sz="1100" dirty="0">
                <a:solidFill>
                  <a:srgbClr val="C9C1B2"/>
                </a:solidFill>
                <a:latin typeface="Calibri" pitchFamily="34" charset="0"/>
                <a:ea typeface="Calibri" pitchFamily="34" charset="-122"/>
                <a:cs typeface="Calibri" pitchFamily="34" charset="-120"/>
              </a:rPr>
              <a:t>Formation Développeur Web et Web Mobile — Hesias, Clermont-Ferrand</a:t>
            </a:r>
            <a:endParaRPr lang="en-US" sz="1400" dirty="0"/>
          </a:p>
          <a:p>
            <a:pPr indent="0" marL="0">
              <a:buNone/>
            </a:pPr>
            <a:r>
              <a:rPr lang="en-US" sz="1100" dirty="0">
                <a:solidFill>
                  <a:srgbClr val="C9C1B2"/>
                </a:solidFill>
                <a:latin typeface="Calibri" pitchFamily="34" charset="0"/>
                <a:ea typeface="Calibri" pitchFamily="34" charset="-122"/>
                <a:cs typeface="Calibri" pitchFamily="34" charset="-120"/>
              </a:rPr>
              <a:t>Session 2026 — 30 minutes de présentation + questions du jury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601200" cy="256032"/>
          </a:xfrm>
          <a:prstGeom prst="rect">
            <a:avLst/>
          </a:prstGeom>
          <a:noFill/>
          <a:ln/>
        </p:spPr>
        <p:txBody>
          <a:bodyPr wrap="square" lIns="0" tIns="0" rIns="0" bIns="0" rtlCol="0" anchor="ctr"/>
          <a:lstStyle/>
          <a:p>
            <a:pPr indent="0" marL="0">
              <a:buNone/>
            </a:pPr>
            <a:r>
              <a:rPr lang="en-US" sz="1150" b="1" spc="300" kern="0" dirty="0">
                <a:solidFill>
                  <a:srgbClr val="E0492B"/>
                </a:solidFill>
                <a:latin typeface="Calibri" pitchFamily="34" charset="0"/>
                <a:ea typeface="Calibri" pitchFamily="34" charset="-122"/>
                <a:cs typeface="Calibri" pitchFamily="34" charset="-120"/>
              </a:rPr>
              <a:t>FIL CONDUCTEUR</a:t>
            </a:r>
            <a:endParaRPr lang="en-US" sz="1150" dirty="0"/>
          </a:p>
        </p:txBody>
      </p:sp>
      <p:sp>
        <p:nvSpPr>
          <p:cNvPr id="3" name="Text 1"/>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2800" b="1" dirty="0">
                <a:solidFill>
                  <a:srgbClr val="1C1916"/>
                </a:solidFill>
                <a:latin typeface="Cambria" pitchFamily="34" charset="0"/>
                <a:ea typeface="Cambria" pitchFamily="34" charset="-122"/>
                <a:cs typeface="Cambria" pitchFamily="34" charset="-120"/>
              </a:rPr>
              <a:t>Plan minuté de la soutenance — 30 minutes</a:t>
            </a:r>
            <a:endParaRPr lang="en-US" sz="2800" dirty="0"/>
          </a:p>
        </p:txBody>
      </p:sp>
      <p:sp>
        <p:nvSpPr>
          <p:cNvPr id="4" name="Text 2"/>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938B7D"/>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48640" y="1371600"/>
            <a:ext cx="1417320" cy="566928"/>
          </a:xfrm>
          <a:prstGeom prst="roundRect">
            <a:avLst>
              <a:gd name="adj" fmla="val 12903"/>
            </a:avLst>
          </a:prstGeom>
          <a:solidFill>
            <a:srgbClr val="E0492B"/>
          </a:solidFill>
          <a:ln w="12700">
            <a:solidFill>
              <a:srgbClr val="E0492B"/>
            </a:solidFill>
            <a:prstDash val="solid"/>
          </a:ln>
        </p:spPr>
      </p:sp>
      <p:sp>
        <p:nvSpPr>
          <p:cNvPr id="6" name="Text 4"/>
          <p:cNvSpPr txBox="1"/>
          <p:nvPr/>
        </p:nvSpPr>
        <p:spPr>
          <a:xfrm>
            <a:off x="548640" y="1371600"/>
            <a:ext cx="141732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00:00 → 02:00</a:t>
            </a:r>
            <a:endParaRPr lang="en-US" sz="1050" dirty="0"/>
          </a:p>
        </p:txBody>
      </p:sp>
      <p:sp>
        <p:nvSpPr>
          <p:cNvPr id="7" name="Text 5"/>
          <p:cNvSpPr txBox="1"/>
          <p:nvPr/>
        </p:nvSpPr>
        <p:spPr>
          <a:xfrm>
            <a:off x="2148840" y="1389888"/>
            <a:ext cx="2834640" cy="274320"/>
          </a:xfrm>
          <a:prstGeom prst="rect">
            <a:avLst/>
          </a:prstGeom>
          <a:noFill/>
          <a:ln/>
        </p:spPr>
        <p:txBody>
          <a:bodyPr wrap="square" lIns="0" tIns="0" rIns="0" bIns="0" rtlCol="0" anchor="ctr"/>
          <a:lstStyle/>
          <a:p>
            <a:pPr indent="0" marL="0">
              <a:buNone/>
            </a:pPr>
            <a:r>
              <a:rPr lang="en-US" sz="1300" b="1" dirty="0">
                <a:solidFill>
                  <a:srgbClr val="1C1916"/>
                </a:solidFill>
                <a:latin typeface="Calibri" pitchFamily="34" charset="0"/>
                <a:ea typeface="Calibri" pitchFamily="34" charset="-122"/>
                <a:cs typeface="Calibri" pitchFamily="34" charset="-120"/>
              </a:rPr>
              <a:t>0. Introduction</a:t>
            </a:r>
            <a:endParaRPr lang="en-US" sz="1300" dirty="0"/>
          </a:p>
        </p:txBody>
      </p:sp>
      <p:sp>
        <p:nvSpPr>
          <p:cNvPr id="8" name="Text 6"/>
          <p:cNvSpPr txBox="1"/>
          <p:nvPr/>
        </p:nvSpPr>
        <p:spPr>
          <a:xfrm>
            <a:off x="2148840" y="1664208"/>
            <a:ext cx="7635240" cy="274320"/>
          </a:xfrm>
          <a:prstGeom prst="rect">
            <a:avLst/>
          </a:prstGeom>
          <a:noFill/>
          <a:ln/>
        </p:spPr>
        <p:txBody>
          <a:bodyPr wrap="square" lIns="0" tIns="0" rIns="0" bIns="0" rtlCol="0" anchor="ctr"/>
          <a:lstStyle/>
          <a:p>
            <a:pPr indent="0" marL="0">
              <a:buNone/>
            </a:pPr>
            <a:r>
              <a:rPr lang="en-US" sz="1050" dirty="0">
                <a:solidFill>
                  <a:srgbClr val="5B554C"/>
                </a:solidFill>
                <a:latin typeface="Calibri" pitchFamily="34" charset="0"/>
                <a:ea typeface="Calibri" pitchFamily="34" charset="-122"/>
                <a:cs typeface="Calibri" pitchFamily="34" charset="-120"/>
              </a:rPr>
              <a:t>Qui je suis · le titre visé · la phrase d'accroche · annonce du plan</a:t>
            </a:r>
            <a:endParaRPr lang="en-US" sz="1050" dirty="0"/>
          </a:p>
        </p:txBody>
      </p:sp>
      <p:sp>
        <p:nvSpPr>
          <p:cNvPr id="9" name="Shape 7"/>
          <p:cNvSpPr/>
          <p:nvPr/>
        </p:nvSpPr>
        <p:spPr>
          <a:xfrm>
            <a:off x="548640" y="2020824"/>
            <a:ext cx="1417320" cy="566928"/>
          </a:xfrm>
          <a:prstGeom prst="roundRect">
            <a:avLst>
              <a:gd name="adj" fmla="val 12903"/>
            </a:avLst>
          </a:prstGeom>
          <a:solidFill>
            <a:srgbClr val="4A40C2"/>
          </a:solidFill>
          <a:ln w="12700">
            <a:solidFill>
              <a:srgbClr val="4A40C2"/>
            </a:solidFill>
            <a:prstDash val="solid"/>
          </a:ln>
        </p:spPr>
      </p:sp>
      <p:sp>
        <p:nvSpPr>
          <p:cNvPr id="10" name="Text 8"/>
          <p:cNvSpPr txBox="1"/>
          <p:nvPr/>
        </p:nvSpPr>
        <p:spPr>
          <a:xfrm>
            <a:off x="548640" y="2020824"/>
            <a:ext cx="141732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02:00 → 06:00</a:t>
            </a:r>
            <a:endParaRPr lang="en-US" sz="1050" dirty="0"/>
          </a:p>
        </p:txBody>
      </p:sp>
      <p:sp>
        <p:nvSpPr>
          <p:cNvPr id="11" name="Text 9"/>
          <p:cNvSpPr txBox="1"/>
          <p:nvPr/>
        </p:nvSpPr>
        <p:spPr>
          <a:xfrm>
            <a:off x="2148840" y="2039112"/>
            <a:ext cx="2834640" cy="274320"/>
          </a:xfrm>
          <a:prstGeom prst="rect">
            <a:avLst/>
          </a:prstGeom>
          <a:noFill/>
          <a:ln/>
        </p:spPr>
        <p:txBody>
          <a:bodyPr wrap="square" lIns="0" tIns="0" rIns="0" bIns="0" rtlCol="0" anchor="ctr"/>
          <a:lstStyle/>
          <a:p>
            <a:pPr indent="0" marL="0">
              <a:buNone/>
            </a:pPr>
            <a:r>
              <a:rPr lang="en-US" sz="1300" b="1" dirty="0">
                <a:solidFill>
                  <a:srgbClr val="1C1916"/>
                </a:solidFill>
                <a:latin typeface="Calibri" pitchFamily="34" charset="0"/>
                <a:ea typeface="Calibri" pitchFamily="34" charset="-122"/>
                <a:cs typeface="Calibri" pitchFamily="34" charset="-120"/>
              </a:rPr>
              <a:t>1. Contexte &amp; problématique</a:t>
            </a:r>
            <a:endParaRPr lang="en-US" sz="1300" dirty="0"/>
          </a:p>
        </p:txBody>
      </p:sp>
      <p:sp>
        <p:nvSpPr>
          <p:cNvPr id="12" name="Text 10"/>
          <p:cNvSpPr txBox="1"/>
          <p:nvPr/>
        </p:nvSpPr>
        <p:spPr>
          <a:xfrm>
            <a:off x="2148840" y="2313432"/>
            <a:ext cx="7635240" cy="274320"/>
          </a:xfrm>
          <a:prstGeom prst="rect">
            <a:avLst/>
          </a:prstGeom>
          <a:noFill/>
          <a:ln/>
        </p:spPr>
        <p:txBody>
          <a:bodyPr wrap="square" lIns="0" tIns="0" rIns="0" bIns="0" rtlCol="0" anchor="ctr"/>
          <a:lstStyle/>
          <a:p>
            <a:pPr indent="0" marL="0">
              <a:buNone/>
            </a:pPr>
            <a:r>
              <a:rPr lang="en-US" sz="1050" dirty="0">
                <a:solidFill>
                  <a:srgbClr val="5B554C"/>
                </a:solidFill>
                <a:latin typeface="Calibri" pitchFamily="34" charset="0"/>
                <a:ea typeface="Calibri" pitchFamily="34" charset="-122"/>
                <a:cs typeface="Calibri" pitchFamily="34" charset="-120"/>
              </a:rPr>
              <a:t>Origine personnelle · marché clermontois · problème des deux côtés · 4 personas · concurrence</a:t>
            </a:r>
            <a:endParaRPr lang="en-US" sz="1050" dirty="0"/>
          </a:p>
        </p:txBody>
      </p:sp>
      <p:sp>
        <p:nvSpPr>
          <p:cNvPr id="13" name="Shape 11"/>
          <p:cNvSpPr/>
          <p:nvPr/>
        </p:nvSpPr>
        <p:spPr>
          <a:xfrm>
            <a:off x="548640" y="2670048"/>
            <a:ext cx="1417320" cy="566928"/>
          </a:xfrm>
          <a:prstGeom prst="roundRect">
            <a:avLst>
              <a:gd name="adj" fmla="val 12903"/>
            </a:avLst>
          </a:prstGeom>
          <a:solidFill>
            <a:srgbClr val="B9821A"/>
          </a:solidFill>
          <a:ln w="12700">
            <a:solidFill>
              <a:srgbClr val="B9821A"/>
            </a:solidFill>
            <a:prstDash val="solid"/>
          </a:ln>
        </p:spPr>
      </p:sp>
      <p:sp>
        <p:nvSpPr>
          <p:cNvPr id="14" name="Text 12"/>
          <p:cNvSpPr txBox="1"/>
          <p:nvPr/>
        </p:nvSpPr>
        <p:spPr>
          <a:xfrm>
            <a:off x="548640" y="2670048"/>
            <a:ext cx="141732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06:00 → 09:00</a:t>
            </a:r>
            <a:endParaRPr lang="en-US" sz="1050" dirty="0"/>
          </a:p>
        </p:txBody>
      </p:sp>
      <p:sp>
        <p:nvSpPr>
          <p:cNvPr id="15" name="Text 13"/>
          <p:cNvSpPr txBox="1"/>
          <p:nvPr/>
        </p:nvSpPr>
        <p:spPr>
          <a:xfrm>
            <a:off x="2148840" y="2688336"/>
            <a:ext cx="2834640" cy="274320"/>
          </a:xfrm>
          <a:prstGeom prst="rect">
            <a:avLst/>
          </a:prstGeom>
          <a:noFill/>
          <a:ln/>
        </p:spPr>
        <p:txBody>
          <a:bodyPr wrap="square" lIns="0" tIns="0" rIns="0" bIns="0" rtlCol="0" anchor="ctr"/>
          <a:lstStyle/>
          <a:p>
            <a:pPr indent="0" marL="0">
              <a:buNone/>
            </a:pPr>
            <a:r>
              <a:rPr lang="en-US" sz="1300" b="1" dirty="0">
                <a:solidFill>
                  <a:srgbClr val="1C1916"/>
                </a:solidFill>
                <a:latin typeface="Calibri" pitchFamily="34" charset="0"/>
                <a:ea typeface="Calibri" pitchFamily="34" charset="-122"/>
                <a:cs typeface="Calibri" pitchFamily="34" charset="-120"/>
              </a:rPr>
              <a:t>2. Cahier des charges</a:t>
            </a:r>
            <a:endParaRPr lang="en-US" sz="1300" dirty="0"/>
          </a:p>
        </p:txBody>
      </p:sp>
      <p:sp>
        <p:nvSpPr>
          <p:cNvPr id="16" name="Text 14"/>
          <p:cNvSpPr txBox="1"/>
          <p:nvPr/>
        </p:nvSpPr>
        <p:spPr>
          <a:xfrm>
            <a:off x="2148840" y="2962656"/>
            <a:ext cx="7635240" cy="274320"/>
          </a:xfrm>
          <a:prstGeom prst="rect">
            <a:avLst/>
          </a:prstGeom>
          <a:noFill/>
          <a:ln/>
        </p:spPr>
        <p:txBody>
          <a:bodyPr wrap="square" lIns="0" tIns="0" rIns="0" bIns="0" rtlCol="0" anchor="ctr"/>
          <a:lstStyle/>
          <a:p>
            <a:pPr indent="0" marL="0">
              <a:buNone/>
            </a:pPr>
            <a:r>
              <a:rPr lang="en-US" sz="1050" dirty="0">
                <a:solidFill>
                  <a:srgbClr val="5B554C"/>
                </a:solidFill>
                <a:latin typeface="Calibri" pitchFamily="34" charset="0"/>
                <a:ea typeface="Calibri" pitchFamily="34" charset="-122"/>
                <a:cs typeface="Calibri" pitchFamily="34" charset="-120"/>
              </a:rPr>
              <a:t>42 fonctionnalités MoSCoW · modules · exigences non fonctionnelles · périmètre exclu</a:t>
            </a:r>
            <a:endParaRPr lang="en-US" sz="1050" dirty="0"/>
          </a:p>
        </p:txBody>
      </p:sp>
      <p:sp>
        <p:nvSpPr>
          <p:cNvPr id="17" name="Shape 15"/>
          <p:cNvSpPr/>
          <p:nvPr/>
        </p:nvSpPr>
        <p:spPr>
          <a:xfrm>
            <a:off x="548640" y="3319272"/>
            <a:ext cx="1417320" cy="566928"/>
          </a:xfrm>
          <a:prstGeom prst="roundRect">
            <a:avLst>
              <a:gd name="adj" fmla="val 12903"/>
            </a:avLst>
          </a:prstGeom>
          <a:solidFill>
            <a:srgbClr val="E0492B"/>
          </a:solidFill>
          <a:ln w="12700">
            <a:solidFill>
              <a:srgbClr val="E0492B"/>
            </a:solidFill>
            <a:prstDash val="solid"/>
          </a:ln>
        </p:spPr>
      </p:sp>
      <p:sp>
        <p:nvSpPr>
          <p:cNvPr id="18" name="Text 16"/>
          <p:cNvSpPr txBox="1"/>
          <p:nvPr/>
        </p:nvSpPr>
        <p:spPr>
          <a:xfrm>
            <a:off x="548640" y="3319272"/>
            <a:ext cx="141732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09:00 → 14:00</a:t>
            </a:r>
            <a:endParaRPr lang="en-US" sz="1050" dirty="0"/>
          </a:p>
        </p:txBody>
      </p:sp>
      <p:sp>
        <p:nvSpPr>
          <p:cNvPr id="19" name="Text 17"/>
          <p:cNvSpPr txBox="1"/>
          <p:nvPr/>
        </p:nvSpPr>
        <p:spPr>
          <a:xfrm>
            <a:off x="2148840" y="3337560"/>
            <a:ext cx="2834640" cy="274320"/>
          </a:xfrm>
          <a:prstGeom prst="rect">
            <a:avLst/>
          </a:prstGeom>
          <a:noFill/>
          <a:ln/>
        </p:spPr>
        <p:txBody>
          <a:bodyPr wrap="square" lIns="0" tIns="0" rIns="0" bIns="0" rtlCol="0" anchor="ctr"/>
          <a:lstStyle/>
          <a:p>
            <a:pPr indent="0" marL="0">
              <a:buNone/>
            </a:pPr>
            <a:r>
              <a:rPr lang="en-US" sz="1300" b="1" dirty="0">
                <a:solidFill>
                  <a:srgbClr val="1C1916"/>
                </a:solidFill>
                <a:latin typeface="Calibri" pitchFamily="34" charset="0"/>
                <a:ea typeface="Calibri" pitchFamily="34" charset="-122"/>
                <a:cs typeface="Calibri" pitchFamily="34" charset="-120"/>
              </a:rPr>
              <a:t>3. Conception</a:t>
            </a:r>
            <a:endParaRPr lang="en-US" sz="1300" dirty="0"/>
          </a:p>
        </p:txBody>
      </p:sp>
      <p:sp>
        <p:nvSpPr>
          <p:cNvPr id="20" name="Text 18"/>
          <p:cNvSpPr txBox="1"/>
          <p:nvPr/>
        </p:nvSpPr>
        <p:spPr>
          <a:xfrm>
            <a:off x="2148840" y="3611880"/>
            <a:ext cx="7635240" cy="274320"/>
          </a:xfrm>
          <a:prstGeom prst="rect">
            <a:avLst/>
          </a:prstGeom>
          <a:noFill/>
          <a:ln/>
        </p:spPr>
        <p:txBody>
          <a:bodyPr wrap="square" lIns="0" tIns="0" rIns="0" bIns="0" rtlCol="0" anchor="ctr"/>
          <a:lstStyle/>
          <a:p>
            <a:pPr indent="0" marL="0">
              <a:buNone/>
            </a:pPr>
            <a:r>
              <a:rPr lang="en-US" sz="1050" dirty="0">
                <a:solidFill>
                  <a:srgbClr val="5B554C"/>
                </a:solidFill>
                <a:latin typeface="Calibri" pitchFamily="34" charset="0"/>
                <a:ea typeface="Calibri" pitchFamily="34" charset="-122"/>
                <a:cs typeface="Calibri" pitchFamily="34" charset="-120"/>
              </a:rPr>
              <a:t>MCD 16 tables · contraintes d'intégrité · cas d'utilisation · séquence d'inscription · architecture</a:t>
            </a:r>
            <a:endParaRPr lang="en-US" sz="1050" dirty="0"/>
          </a:p>
        </p:txBody>
      </p:sp>
      <p:sp>
        <p:nvSpPr>
          <p:cNvPr id="21" name="Shape 19"/>
          <p:cNvSpPr/>
          <p:nvPr/>
        </p:nvSpPr>
        <p:spPr>
          <a:xfrm>
            <a:off x="548640" y="3968496"/>
            <a:ext cx="1417320" cy="566928"/>
          </a:xfrm>
          <a:prstGeom prst="roundRect">
            <a:avLst>
              <a:gd name="adj" fmla="val 12903"/>
            </a:avLst>
          </a:prstGeom>
          <a:solidFill>
            <a:srgbClr val="4A40C2"/>
          </a:solidFill>
          <a:ln w="12700">
            <a:solidFill>
              <a:srgbClr val="4A40C2"/>
            </a:solidFill>
            <a:prstDash val="solid"/>
          </a:ln>
        </p:spPr>
      </p:sp>
      <p:sp>
        <p:nvSpPr>
          <p:cNvPr id="22" name="Text 20"/>
          <p:cNvSpPr txBox="1"/>
          <p:nvPr/>
        </p:nvSpPr>
        <p:spPr>
          <a:xfrm>
            <a:off x="548640" y="3968496"/>
            <a:ext cx="141732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14:00 → 22:00</a:t>
            </a:r>
            <a:endParaRPr lang="en-US" sz="1050" dirty="0"/>
          </a:p>
        </p:txBody>
      </p:sp>
      <p:sp>
        <p:nvSpPr>
          <p:cNvPr id="23" name="Text 21"/>
          <p:cNvSpPr txBox="1"/>
          <p:nvPr/>
        </p:nvSpPr>
        <p:spPr>
          <a:xfrm>
            <a:off x="2148840" y="3986784"/>
            <a:ext cx="2834640" cy="274320"/>
          </a:xfrm>
          <a:prstGeom prst="rect">
            <a:avLst/>
          </a:prstGeom>
          <a:noFill/>
          <a:ln/>
        </p:spPr>
        <p:txBody>
          <a:bodyPr wrap="square" lIns="0" tIns="0" rIns="0" bIns="0" rtlCol="0" anchor="ctr"/>
          <a:lstStyle/>
          <a:p>
            <a:pPr indent="0" marL="0">
              <a:buNone/>
            </a:pPr>
            <a:r>
              <a:rPr lang="en-US" sz="1300" b="1" dirty="0">
                <a:solidFill>
                  <a:srgbClr val="1C1916"/>
                </a:solidFill>
                <a:latin typeface="Calibri" pitchFamily="34" charset="0"/>
                <a:ea typeface="Calibri" pitchFamily="34" charset="-122"/>
                <a:cs typeface="Calibri" pitchFamily="34" charset="-120"/>
              </a:rPr>
              <a:t>4. Démonstration</a:t>
            </a:r>
            <a:endParaRPr lang="en-US" sz="1300" dirty="0"/>
          </a:p>
        </p:txBody>
      </p:sp>
      <p:sp>
        <p:nvSpPr>
          <p:cNvPr id="24" name="Text 22"/>
          <p:cNvSpPr txBox="1"/>
          <p:nvPr/>
        </p:nvSpPr>
        <p:spPr>
          <a:xfrm>
            <a:off x="2148840" y="4261104"/>
            <a:ext cx="7635240" cy="274320"/>
          </a:xfrm>
          <a:prstGeom prst="rect">
            <a:avLst/>
          </a:prstGeom>
          <a:noFill/>
          <a:ln/>
        </p:spPr>
        <p:txBody>
          <a:bodyPr wrap="square" lIns="0" tIns="0" rIns="0" bIns="0" rtlCol="0" anchor="ctr"/>
          <a:lstStyle/>
          <a:p>
            <a:pPr indent="0" marL="0">
              <a:buNone/>
            </a:pPr>
            <a:r>
              <a:rPr lang="en-US" sz="1050" dirty="0">
                <a:solidFill>
                  <a:srgbClr val="5B554C"/>
                </a:solidFill>
                <a:latin typeface="Calibri" pitchFamily="34" charset="0"/>
                <a:ea typeface="Calibri" pitchFamily="34" charset="-122"/>
                <a:cs typeface="Calibri" pitchFamily="34" charset="-120"/>
              </a:rPr>
              <a:t>Parcours étudiant · parcours partenaire + analytics · squads &amp; social · gamification · avis · PWA</a:t>
            </a:r>
            <a:endParaRPr lang="en-US" sz="1050" dirty="0"/>
          </a:p>
        </p:txBody>
      </p:sp>
      <p:sp>
        <p:nvSpPr>
          <p:cNvPr id="25" name="Shape 23"/>
          <p:cNvSpPr/>
          <p:nvPr/>
        </p:nvSpPr>
        <p:spPr>
          <a:xfrm>
            <a:off x="548640" y="4617720"/>
            <a:ext cx="1417320" cy="566928"/>
          </a:xfrm>
          <a:prstGeom prst="roundRect">
            <a:avLst>
              <a:gd name="adj" fmla="val 12903"/>
            </a:avLst>
          </a:prstGeom>
          <a:solidFill>
            <a:srgbClr val="B9821A"/>
          </a:solidFill>
          <a:ln w="12700">
            <a:solidFill>
              <a:srgbClr val="B9821A"/>
            </a:solidFill>
            <a:prstDash val="solid"/>
          </a:ln>
        </p:spPr>
      </p:sp>
      <p:sp>
        <p:nvSpPr>
          <p:cNvPr id="26" name="Text 24"/>
          <p:cNvSpPr txBox="1"/>
          <p:nvPr/>
        </p:nvSpPr>
        <p:spPr>
          <a:xfrm>
            <a:off x="548640" y="4617720"/>
            <a:ext cx="141732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22:00 → 25:00</a:t>
            </a:r>
            <a:endParaRPr lang="en-US" sz="1050" dirty="0"/>
          </a:p>
        </p:txBody>
      </p:sp>
      <p:sp>
        <p:nvSpPr>
          <p:cNvPr id="27" name="Text 25"/>
          <p:cNvSpPr txBox="1"/>
          <p:nvPr/>
        </p:nvSpPr>
        <p:spPr>
          <a:xfrm>
            <a:off x="2148840" y="4636008"/>
            <a:ext cx="2834640" cy="274320"/>
          </a:xfrm>
          <a:prstGeom prst="rect">
            <a:avLst/>
          </a:prstGeom>
          <a:noFill/>
          <a:ln/>
        </p:spPr>
        <p:txBody>
          <a:bodyPr wrap="square" lIns="0" tIns="0" rIns="0" bIns="0" rtlCol="0" anchor="ctr"/>
          <a:lstStyle/>
          <a:p>
            <a:pPr indent="0" marL="0">
              <a:buNone/>
            </a:pPr>
            <a:r>
              <a:rPr lang="en-US" sz="1300" b="1" dirty="0">
                <a:solidFill>
                  <a:srgbClr val="1C1916"/>
                </a:solidFill>
                <a:latin typeface="Calibri" pitchFamily="34" charset="0"/>
                <a:ea typeface="Calibri" pitchFamily="34" charset="-122"/>
                <a:cs typeface="Calibri" pitchFamily="34" charset="-120"/>
              </a:rPr>
              <a:t>5. Sécurité</a:t>
            </a:r>
            <a:endParaRPr lang="en-US" sz="1300" dirty="0"/>
          </a:p>
        </p:txBody>
      </p:sp>
      <p:sp>
        <p:nvSpPr>
          <p:cNvPr id="28" name="Text 26"/>
          <p:cNvSpPr txBox="1"/>
          <p:nvPr/>
        </p:nvSpPr>
        <p:spPr>
          <a:xfrm>
            <a:off x="2148840" y="4910328"/>
            <a:ext cx="7635240" cy="274320"/>
          </a:xfrm>
          <a:prstGeom prst="rect">
            <a:avLst/>
          </a:prstGeom>
          <a:noFill/>
          <a:ln/>
        </p:spPr>
        <p:txBody>
          <a:bodyPr wrap="square" lIns="0" tIns="0" rIns="0" bIns="0" rtlCol="0" anchor="ctr"/>
          <a:lstStyle/>
          <a:p>
            <a:pPr indent="0" marL="0">
              <a:buNone/>
            </a:pPr>
            <a:r>
              <a:rPr lang="en-US" sz="1050" dirty="0">
                <a:solidFill>
                  <a:srgbClr val="5B554C"/>
                </a:solidFill>
                <a:latin typeface="Calibri" pitchFamily="34" charset="0"/>
                <a:ea typeface="Calibri" pitchFamily="34" charset="-122"/>
                <a:cs typeface="Calibri" pitchFamily="34" charset="-120"/>
              </a:rPr>
              <a:t>OWASP Top 10 · PDO · bcrypt · CSRF · rate limiting · reset token · headers · contrôle d'accès</a:t>
            </a:r>
            <a:endParaRPr lang="en-US" sz="1050" dirty="0"/>
          </a:p>
        </p:txBody>
      </p:sp>
      <p:sp>
        <p:nvSpPr>
          <p:cNvPr id="29" name="Shape 27"/>
          <p:cNvSpPr/>
          <p:nvPr/>
        </p:nvSpPr>
        <p:spPr>
          <a:xfrm>
            <a:off x="548640" y="5266944"/>
            <a:ext cx="1417320" cy="566928"/>
          </a:xfrm>
          <a:prstGeom prst="roundRect">
            <a:avLst>
              <a:gd name="adj" fmla="val 12903"/>
            </a:avLst>
          </a:prstGeom>
          <a:solidFill>
            <a:srgbClr val="E0492B"/>
          </a:solidFill>
          <a:ln w="12700">
            <a:solidFill>
              <a:srgbClr val="E0492B"/>
            </a:solidFill>
            <a:prstDash val="solid"/>
          </a:ln>
        </p:spPr>
      </p:sp>
      <p:sp>
        <p:nvSpPr>
          <p:cNvPr id="30" name="Text 28"/>
          <p:cNvSpPr txBox="1"/>
          <p:nvPr/>
        </p:nvSpPr>
        <p:spPr>
          <a:xfrm>
            <a:off x="548640" y="5266944"/>
            <a:ext cx="141732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25:00 → 28:00</a:t>
            </a:r>
            <a:endParaRPr lang="en-US" sz="1050" dirty="0"/>
          </a:p>
        </p:txBody>
      </p:sp>
      <p:sp>
        <p:nvSpPr>
          <p:cNvPr id="31" name="Text 29"/>
          <p:cNvSpPr txBox="1"/>
          <p:nvPr/>
        </p:nvSpPr>
        <p:spPr>
          <a:xfrm>
            <a:off x="2148840" y="5285232"/>
            <a:ext cx="2834640" cy="274320"/>
          </a:xfrm>
          <a:prstGeom prst="rect">
            <a:avLst/>
          </a:prstGeom>
          <a:noFill/>
          <a:ln/>
        </p:spPr>
        <p:txBody>
          <a:bodyPr wrap="square" lIns="0" tIns="0" rIns="0" bIns="0" rtlCol="0" anchor="ctr"/>
          <a:lstStyle/>
          <a:p>
            <a:pPr indent="0" marL="0">
              <a:buNone/>
            </a:pPr>
            <a:r>
              <a:rPr lang="en-US" sz="1300" b="1" dirty="0">
                <a:solidFill>
                  <a:srgbClr val="1C1916"/>
                </a:solidFill>
                <a:latin typeface="Calibri" pitchFamily="34" charset="0"/>
                <a:ea typeface="Calibri" pitchFamily="34" charset="-122"/>
                <a:cs typeface="Calibri" pitchFamily="34" charset="-120"/>
              </a:rPr>
              <a:t>6. Qualité &amp; déploiement</a:t>
            </a:r>
            <a:endParaRPr lang="en-US" sz="1300" dirty="0"/>
          </a:p>
        </p:txBody>
      </p:sp>
      <p:sp>
        <p:nvSpPr>
          <p:cNvPr id="32" name="Text 30"/>
          <p:cNvSpPr txBox="1"/>
          <p:nvPr/>
        </p:nvSpPr>
        <p:spPr>
          <a:xfrm>
            <a:off x="2148840" y="5559552"/>
            <a:ext cx="7635240" cy="274320"/>
          </a:xfrm>
          <a:prstGeom prst="rect">
            <a:avLst/>
          </a:prstGeom>
          <a:noFill/>
          <a:ln/>
        </p:spPr>
        <p:txBody>
          <a:bodyPr wrap="square" lIns="0" tIns="0" rIns="0" bIns="0" rtlCol="0" anchor="ctr"/>
          <a:lstStyle/>
          <a:p>
            <a:pPr indent="0" marL="0">
              <a:buNone/>
            </a:pPr>
            <a:r>
              <a:rPr lang="en-US" sz="1050" dirty="0">
                <a:solidFill>
                  <a:srgbClr val="5B554C"/>
                </a:solidFill>
                <a:latin typeface="Calibri" pitchFamily="34" charset="0"/>
                <a:ea typeface="Calibri" pitchFamily="34" charset="-122"/>
                <a:cs typeface="Calibri" pitchFamily="34" charset="-120"/>
              </a:rPr>
              <a:t>40 tests PHPUnit · PHPStan niveau 5 · CI GitHub Actions · déploiement continu · documentation</a:t>
            </a:r>
            <a:endParaRPr lang="en-US" sz="1050" dirty="0"/>
          </a:p>
        </p:txBody>
      </p:sp>
      <p:sp>
        <p:nvSpPr>
          <p:cNvPr id="33" name="Shape 31"/>
          <p:cNvSpPr/>
          <p:nvPr/>
        </p:nvSpPr>
        <p:spPr>
          <a:xfrm>
            <a:off x="548640" y="5916168"/>
            <a:ext cx="1417320" cy="566928"/>
          </a:xfrm>
          <a:prstGeom prst="roundRect">
            <a:avLst>
              <a:gd name="adj" fmla="val 12903"/>
            </a:avLst>
          </a:prstGeom>
          <a:solidFill>
            <a:srgbClr val="4A40C2"/>
          </a:solidFill>
          <a:ln w="12700">
            <a:solidFill>
              <a:srgbClr val="4A40C2"/>
            </a:solidFill>
            <a:prstDash val="solid"/>
          </a:ln>
        </p:spPr>
      </p:sp>
      <p:sp>
        <p:nvSpPr>
          <p:cNvPr id="34" name="Text 32"/>
          <p:cNvSpPr txBox="1"/>
          <p:nvPr/>
        </p:nvSpPr>
        <p:spPr>
          <a:xfrm>
            <a:off x="548640" y="5916168"/>
            <a:ext cx="141732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28:00 → 30:00</a:t>
            </a:r>
            <a:endParaRPr lang="en-US" sz="1050" dirty="0"/>
          </a:p>
        </p:txBody>
      </p:sp>
      <p:sp>
        <p:nvSpPr>
          <p:cNvPr id="35" name="Text 33"/>
          <p:cNvSpPr txBox="1"/>
          <p:nvPr/>
        </p:nvSpPr>
        <p:spPr>
          <a:xfrm>
            <a:off x="2148840" y="5934456"/>
            <a:ext cx="2834640" cy="274320"/>
          </a:xfrm>
          <a:prstGeom prst="rect">
            <a:avLst/>
          </a:prstGeom>
          <a:noFill/>
          <a:ln/>
        </p:spPr>
        <p:txBody>
          <a:bodyPr wrap="square" lIns="0" tIns="0" rIns="0" bIns="0" rtlCol="0" anchor="ctr"/>
          <a:lstStyle/>
          <a:p>
            <a:pPr indent="0" marL="0">
              <a:buNone/>
            </a:pPr>
            <a:r>
              <a:rPr lang="en-US" sz="1300" b="1" dirty="0">
                <a:solidFill>
                  <a:srgbClr val="1C1916"/>
                </a:solidFill>
                <a:latin typeface="Calibri" pitchFamily="34" charset="0"/>
                <a:ea typeface="Calibri" pitchFamily="34" charset="-122"/>
                <a:cs typeface="Calibri" pitchFamily="34" charset="-120"/>
              </a:rPr>
              <a:t>7. Bilan &amp; perspectives</a:t>
            </a:r>
            <a:endParaRPr lang="en-US" sz="1300" dirty="0"/>
          </a:p>
        </p:txBody>
      </p:sp>
      <p:sp>
        <p:nvSpPr>
          <p:cNvPr id="36" name="Text 34"/>
          <p:cNvSpPr txBox="1"/>
          <p:nvPr/>
        </p:nvSpPr>
        <p:spPr>
          <a:xfrm>
            <a:off x="2148840" y="6208776"/>
            <a:ext cx="7635240" cy="274320"/>
          </a:xfrm>
          <a:prstGeom prst="rect">
            <a:avLst/>
          </a:prstGeom>
          <a:noFill/>
          <a:ln/>
        </p:spPr>
        <p:txBody>
          <a:bodyPr wrap="square" lIns="0" tIns="0" rIns="0" bIns="0" rtlCol="0" anchor="ctr"/>
          <a:lstStyle/>
          <a:p>
            <a:pPr indent="0" marL="0">
              <a:buNone/>
            </a:pPr>
            <a:r>
              <a:rPr lang="en-US" sz="1050" dirty="0">
                <a:solidFill>
                  <a:srgbClr val="5B554C"/>
                </a:solidFill>
                <a:latin typeface="Calibri" pitchFamily="34" charset="0"/>
                <a:ea typeface="Calibri" pitchFamily="34" charset="-122"/>
                <a:cs typeface="Calibri" pitchFamily="34" charset="-120"/>
              </a:rPr>
              <a:t>3 difficultés · 4 choix techniques assumés · évolutions · conclusion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601200" cy="256032"/>
          </a:xfrm>
          <a:prstGeom prst="rect">
            <a:avLst/>
          </a:prstGeom>
          <a:noFill/>
          <a:ln/>
        </p:spPr>
        <p:txBody>
          <a:bodyPr wrap="square" lIns="0" tIns="0" rIns="0" bIns="0" rtlCol="0" anchor="ctr"/>
          <a:lstStyle/>
          <a:p>
            <a:pPr indent="0" marL="0">
              <a:buNone/>
            </a:pPr>
            <a:r>
              <a:rPr lang="en-US" sz="1150" b="1" spc="300" kern="0" dirty="0">
                <a:solidFill>
                  <a:srgbClr val="E0492B"/>
                </a:solidFill>
                <a:latin typeface="Calibri" pitchFamily="34" charset="0"/>
                <a:ea typeface="Calibri" pitchFamily="34" charset="-122"/>
                <a:cs typeface="Calibri" pitchFamily="34" charset="-120"/>
              </a:rPr>
              <a:t>À SORTIR SANS HÉSITER</a:t>
            </a:r>
            <a:endParaRPr lang="en-US" sz="1150" dirty="0"/>
          </a:p>
        </p:txBody>
      </p:sp>
      <p:sp>
        <p:nvSpPr>
          <p:cNvPr id="3" name="Text 1"/>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2800" b="1" dirty="0">
                <a:solidFill>
                  <a:srgbClr val="1C1916"/>
                </a:solidFill>
                <a:latin typeface="Cambria" pitchFamily="34" charset="0"/>
                <a:ea typeface="Cambria" pitchFamily="34" charset="-122"/>
                <a:cs typeface="Cambria" pitchFamily="34" charset="-120"/>
              </a:rPr>
              <a:t>Les chiffres que le jury retient</a:t>
            </a:r>
            <a:endParaRPr lang="en-US" sz="2800" dirty="0"/>
          </a:p>
        </p:txBody>
      </p:sp>
      <p:sp>
        <p:nvSpPr>
          <p:cNvPr id="4" name="Text 2"/>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938B7D"/>
                </a:solidFill>
                <a:latin typeface="Calibri" pitchFamily="34" charset="0"/>
                <a:ea typeface="Calibri" pitchFamily="34" charset="-122"/>
                <a:cs typeface="Calibri" pitchFamily="34" charset="-120"/>
              </a:rPr>
              <a:t>3</a:t>
            </a:r>
            <a:endParaRPr lang="en-US" sz="1000" dirty="0"/>
          </a:p>
        </p:txBody>
      </p:sp>
      <p:sp>
        <p:nvSpPr>
          <p:cNvPr id="5" name="Text 3"/>
          <p:cNvSpPr txBox="1"/>
          <p:nvPr/>
        </p:nvSpPr>
        <p:spPr>
          <a:xfrm>
            <a:off x="548640" y="1417320"/>
            <a:ext cx="2148840" cy="777240"/>
          </a:xfrm>
          <a:prstGeom prst="rect">
            <a:avLst/>
          </a:prstGeom>
          <a:noFill/>
          <a:ln/>
        </p:spPr>
        <p:txBody>
          <a:bodyPr wrap="square" lIns="0" tIns="0" rIns="0" bIns="0" rtlCol="0" anchor="ctr"/>
          <a:lstStyle/>
          <a:p>
            <a:pPr algn="ctr" indent="0" marL="0">
              <a:buNone/>
            </a:pPr>
            <a:r>
              <a:rPr lang="en-US" sz="2400" b="1" dirty="0">
                <a:solidFill>
                  <a:srgbClr val="E0492B"/>
                </a:solidFill>
                <a:latin typeface="Cambria" pitchFamily="34" charset="0"/>
                <a:ea typeface="Cambria" pitchFamily="34" charset="-122"/>
                <a:cs typeface="Cambria" pitchFamily="34" charset="-120"/>
              </a:rPr>
              <a:t>42 500</a:t>
            </a:r>
            <a:endParaRPr lang="en-US" sz="2400" dirty="0"/>
          </a:p>
        </p:txBody>
      </p:sp>
      <p:sp>
        <p:nvSpPr>
          <p:cNvPr id="6" name="Text 4"/>
          <p:cNvSpPr txBox="1"/>
          <p:nvPr/>
        </p:nvSpPr>
        <p:spPr>
          <a:xfrm>
            <a:off x="548640" y="2203704"/>
            <a:ext cx="2148840" cy="502920"/>
          </a:xfrm>
          <a:prstGeom prst="rect">
            <a:avLst/>
          </a:prstGeom>
          <a:noFill/>
          <a:ln/>
        </p:spPr>
        <p:txBody>
          <a:bodyPr wrap="square" lIns="0" tIns="0" rIns="0" bIns="0" rtlCol="0" anchor="ctr"/>
          <a:lstStyle/>
          <a:p>
            <a:pPr algn="ctr" indent="0" marL="0">
              <a:buNone/>
            </a:pPr>
            <a:r>
              <a:rPr lang="en-US" sz="1050" dirty="0">
                <a:solidFill>
                  <a:srgbClr val="5B554C"/>
                </a:solidFill>
                <a:latin typeface="Calibri" pitchFamily="34" charset="0"/>
                <a:ea typeface="Calibri" pitchFamily="34" charset="-122"/>
                <a:cs typeface="Calibri" pitchFamily="34" charset="-120"/>
              </a:rPr>
              <a:t>étudiants à Clermont-Ferrand</a:t>
            </a:r>
            <a:endParaRPr lang="en-US" sz="1050" dirty="0"/>
          </a:p>
        </p:txBody>
      </p:sp>
      <p:sp>
        <p:nvSpPr>
          <p:cNvPr id="7" name="Text 5"/>
          <p:cNvSpPr txBox="1"/>
          <p:nvPr/>
        </p:nvSpPr>
        <p:spPr>
          <a:xfrm>
            <a:off x="2761488" y="1417320"/>
            <a:ext cx="2148840" cy="777240"/>
          </a:xfrm>
          <a:prstGeom prst="rect">
            <a:avLst/>
          </a:prstGeom>
          <a:noFill/>
          <a:ln/>
        </p:spPr>
        <p:txBody>
          <a:bodyPr wrap="square" lIns="0" tIns="0" rIns="0" bIns="0" rtlCol="0" anchor="ctr"/>
          <a:lstStyle/>
          <a:p>
            <a:pPr algn="ctr" indent="0" marL="0">
              <a:buNone/>
            </a:pPr>
            <a:r>
              <a:rPr lang="en-US" sz="2400" b="1" dirty="0">
                <a:solidFill>
                  <a:srgbClr val="4A40C2"/>
                </a:solidFill>
                <a:latin typeface="Cambria" pitchFamily="34" charset="0"/>
                <a:ea typeface="Cambria" pitchFamily="34" charset="-122"/>
                <a:cs typeface="Cambria" pitchFamily="34" charset="-120"/>
              </a:rPr>
              <a:t>3 012 800</a:t>
            </a:r>
            <a:endParaRPr lang="en-US" sz="2400" dirty="0"/>
          </a:p>
        </p:txBody>
      </p:sp>
      <p:sp>
        <p:nvSpPr>
          <p:cNvPr id="8" name="Text 6"/>
          <p:cNvSpPr txBox="1"/>
          <p:nvPr/>
        </p:nvSpPr>
        <p:spPr>
          <a:xfrm>
            <a:off x="2761488" y="2203704"/>
            <a:ext cx="2148840" cy="502920"/>
          </a:xfrm>
          <a:prstGeom prst="rect">
            <a:avLst/>
          </a:prstGeom>
          <a:noFill/>
          <a:ln/>
        </p:spPr>
        <p:txBody>
          <a:bodyPr wrap="square" lIns="0" tIns="0" rIns="0" bIns="0" rtlCol="0" anchor="ctr"/>
          <a:lstStyle/>
          <a:p>
            <a:pPr algn="ctr" indent="0" marL="0">
              <a:buNone/>
            </a:pPr>
            <a:r>
              <a:rPr lang="en-US" sz="1050" dirty="0">
                <a:solidFill>
                  <a:srgbClr val="5B554C"/>
                </a:solidFill>
                <a:latin typeface="Calibri" pitchFamily="34" charset="0"/>
                <a:ea typeface="Calibri" pitchFamily="34" charset="-122"/>
                <a:cs typeface="Calibri" pitchFamily="34" charset="-120"/>
              </a:rPr>
              <a:t>étudiants en France</a:t>
            </a:r>
            <a:endParaRPr lang="en-US" sz="1050" dirty="0"/>
          </a:p>
        </p:txBody>
      </p:sp>
      <p:sp>
        <p:nvSpPr>
          <p:cNvPr id="9" name="Text 7"/>
          <p:cNvSpPr txBox="1"/>
          <p:nvPr/>
        </p:nvSpPr>
        <p:spPr>
          <a:xfrm>
            <a:off x="4974336" y="1417320"/>
            <a:ext cx="2148840" cy="777240"/>
          </a:xfrm>
          <a:prstGeom prst="rect">
            <a:avLst/>
          </a:prstGeom>
          <a:noFill/>
          <a:ln/>
        </p:spPr>
        <p:txBody>
          <a:bodyPr wrap="square" lIns="0" tIns="0" rIns="0" bIns="0" rtlCol="0" anchor="ctr"/>
          <a:lstStyle/>
          <a:p>
            <a:pPr algn="ctr" indent="0" marL="0">
              <a:buNone/>
            </a:pPr>
            <a:r>
              <a:rPr lang="en-US" sz="2400" b="1" dirty="0">
                <a:solidFill>
                  <a:srgbClr val="B9821A"/>
                </a:solidFill>
                <a:latin typeface="Cambria" pitchFamily="34" charset="0"/>
                <a:ea typeface="Cambria" pitchFamily="34" charset="-122"/>
                <a:cs typeface="Cambria" pitchFamily="34" charset="-120"/>
              </a:rPr>
              <a:t>4</a:t>
            </a:r>
            <a:endParaRPr lang="en-US" sz="2400" dirty="0"/>
          </a:p>
        </p:txBody>
      </p:sp>
      <p:sp>
        <p:nvSpPr>
          <p:cNvPr id="10" name="Text 8"/>
          <p:cNvSpPr txBox="1"/>
          <p:nvPr/>
        </p:nvSpPr>
        <p:spPr>
          <a:xfrm>
            <a:off x="4974336" y="2203704"/>
            <a:ext cx="2148840" cy="502920"/>
          </a:xfrm>
          <a:prstGeom prst="rect">
            <a:avLst/>
          </a:prstGeom>
          <a:noFill/>
          <a:ln/>
        </p:spPr>
        <p:txBody>
          <a:bodyPr wrap="square" lIns="0" tIns="0" rIns="0" bIns="0" rtlCol="0" anchor="ctr"/>
          <a:lstStyle/>
          <a:p>
            <a:pPr algn="ctr" indent="0" marL="0">
              <a:buNone/>
            </a:pPr>
            <a:r>
              <a:rPr lang="en-US" sz="1050" dirty="0">
                <a:solidFill>
                  <a:srgbClr val="5B554C"/>
                </a:solidFill>
                <a:latin typeface="Calibri" pitchFamily="34" charset="0"/>
                <a:ea typeface="Calibri" pitchFamily="34" charset="-122"/>
                <a:cs typeface="Calibri" pitchFamily="34" charset="-120"/>
              </a:rPr>
              <a:t>personas construits</a:t>
            </a:r>
            <a:endParaRPr lang="en-US" sz="1050" dirty="0"/>
          </a:p>
        </p:txBody>
      </p:sp>
      <p:sp>
        <p:nvSpPr>
          <p:cNvPr id="11" name="Text 9"/>
          <p:cNvSpPr txBox="1"/>
          <p:nvPr/>
        </p:nvSpPr>
        <p:spPr>
          <a:xfrm>
            <a:off x="7187184" y="1417320"/>
            <a:ext cx="2148840" cy="777240"/>
          </a:xfrm>
          <a:prstGeom prst="rect">
            <a:avLst/>
          </a:prstGeom>
          <a:noFill/>
          <a:ln/>
        </p:spPr>
        <p:txBody>
          <a:bodyPr wrap="square" lIns="0" tIns="0" rIns="0" bIns="0" rtlCol="0" anchor="ctr"/>
          <a:lstStyle/>
          <a:p>
            <a:pPr algn="ctr" indent="0" marL="0">
              <a:buNone/>
            </a:pPr>
            <a:r>
              <a:rPr lang="en-US" sz="2400" b="1" dirty="0">
                <a:solidFill>
                  <a:srgbClr val="E0492B"/>
                </a:solidFill>
                <a:latin typeface="Cambria" pitchFamily="34" charset="0"/>
                <a:ea typeface="Cambria" pitchFamily="34" charset="-122"/>
                <a:cs typeface="Cambria" pitchFamily="34" charset="-120"/>
              </a:rPr>
              <a:t>42</a:t>
            </a:r>
            <a:endParaRPr lang="en-US" sz="2400" dirty="0"/>
          </a:p>
        </p:txBody>
      </p:sp>
      <p:sp>
        <p:nvSpPr>
          <p:cNvPr id="12" name="Text 10"/>
          <p:cNvSpPr txBox="1"/>
          <p:nvPr/>
        </p:nvSpPr>
        <p:spPr>
          <a:xfrm>
            <a:off x="7187184" y="2203704"/>
            <a:ext cx="2148840" cy="502920"/>
          </a:xfrm>
          <a:prstGeom prst="rect">
            <a:avLst/>
          </a:prstGeom>
          <a:noFill/>
          <a:ln/>
        </p:spPr>
        <p:txBody>
          <a:bodyPr wrap="square" lIns="0" tIns="0" rIns="0" bIns="0" rtlCol="0" anchor="ctr"/>
          <a:lstStyle/>
          <a:p>
            <a:pPr algn="ctr" indent="0" marL="0">
              <a:buNone/>
            </a:pPr>
            <a:r>
              <a:rPr lang="en-US" sz="1050" dirty="0">
                <a:solidFill>
                  <a:srgbClr val="5B554C"/>
                </a:solidFill>
                <a:latin typeface="Calibri" pitchFamily="34" charset="0"/>
                <a:ea typeface="Calibri" pitchFamily="34" charset="-122"/>
                <a:cs typeface="Calibri" pitchFamily="34" charset="-120"/>
              </a:rPr>
              <a:t>fonctionnalités MoSCoW</a:t>
            </a:r>
            <a:endParaRPr lang="en-US" sz="1050" dirty="0"/>
          </a:p>
        </p:txBody>
      </p:sp>
      <p:sp>
        <p:nvSpPr>
          <p:cNvPr id="13" name="Text 11"/>
          <p:cNvSpPr txBox="1"/>
          <p:nvPr/>
        </p:nvSpPr>
        <p:spPr>
          <a:xfrm>
            <a:off x="9400032" y="1417320"/>
            <a:ext cx="2148840" cy="777240"/>
          </a:xfrm>
          <a:prstGeom prst="rect">
            <a:avLst/>
          </a:prstGeom>
          <a:noFill/>
          <a:ln/>
        </p:spPr>
        <p:txBody>
          <a:bodyPr wrap="square" lIns="0" tIns="0" rIns="0" bIns="0" rtlCol="0" anchor="ctr"/>
          <a:lstStyle/>
          <a:p>
            <a:pPr algn="ctr" indent="0" marL="0">
              <a:buNone/>
            </a:pPr>
            <a:r>
              <a:rPr lang="en-US" sz="2400" b="1" dirty="0">
                <a:solidFill>
                  <a:srgbClr val="4A40C2"/>
                </a:solidFill>
                <a:latin typeface="Cambria" pitchFamily="34" charset="0"/>
                <a:ea typeface="Cambria" pitchFamily="34" charset="-122"/>
                <a:cs typeface="Cambria" pitchFamily="34" charset="-120"/>
              </a:rPr>
              <a:t>16</a:t>
            </a:r>
            <a:endParaRPr lang="en-US" sz="2400" dirty="0"/>
          </a:p>
        </p:txBody>
      </p:sp>
      <p:sp>
        <p:nvSpPr>
          <p:cNvPr id="14" name="Text 12"/>
          <p:cNvSpPr txBox="1"/>
          <p:nvPr/>
        </p:nvSpPr>
        <p:spPr>
          <a:xfrm>
            <a:off x="9400032" y="2203704"/>
            <a:ext cx="2148840" cy="502920"/>
          </a:xfrm>
          <a:prstGeom prst="rect">
            <a:avLst/>
          </a:prstGeom>
          <a:noFill/>
          <a:ln/>
        </p:spPr>
        <p:txBody>
          <a:bodyPr wrap="square" lIns="0" tIns="0" rIns="0" bIns="0" rtlCol="0" anchor="ctr"/>
          <a:lstStyle/>
          <a:p>
            <a:pPr algn="ctr" indent="0" marL="0">
              <a:buNone/>
            </a:pPr>
            <a:r>
              <a:rPr lang="en-US" sz="1050" dirty="0">
                <a:solidFill>
                  <a:srgbClr val="5B554C"/>
                </a:solidFill>
                <a:latin typeface="Calibri" pitchFamily="34" charset="0"/>
                <a:ea typeface="Calibri" pitchFamily="34" charset="-122"/>
                <a:cs typeface="Calibri" pitchFamily="34" charset="-120"/>
              </a:rPr>
              <a:t>tables, normalisées 3NF</a:t>
            </a:r>
            <a:endParaRPr lang="en-US" sz="1050" dirty="0"/>
          </a:p>
        </p:txBody>
      </p:sp>
      <p:sp>
        <p:nvSpPr>
          <p:cNvPr id="15" name="Text 13"/>
          <p:cNvSpPr txBox="1"/>
          <p:nvPr/>
        </p:nvSpPr>
        <p:spPr>
          <a:xfrm>
            <a:off x="548640" y="2834640"/>
            <a:ext cx="2148840" cy="777240"/>
          </a:xfrm>
          <a:prstGeom prst="rect">
            <a:avLst/>
          </a:prstGeom>
          <a:noFill/>
          <a:ln/>
        </p:spPr>
        <p:txBody>
          <a:bodyPr wrap="square" lIns="0" tIns="0" rIns="0" bIns="0" rtlCol="0" anchor="ctr"/>
          <a:lstStyle/>
          <a:p>
            <a:pPr algn="ctr" indent="0" marL="0">
              <a:buNone/>
            </a:pPr>
            <a:r>
              <a:rPr lang="en-US" sz="2400" b="1" dirty="0">
                <a:solidFill>
                  <a:srgbClr val="B9821A"/>
                </a:solidFill>
                <a:latin typeface="Cambria" pitchFamily="34" charset="0"/>
                <a:ea typeface="Cambria" pitchFamily="34" charset="-122"/>
                <a:cs typeface="Cambria" pitchFamily="34" charset="-120"/>
              </a:rPr>
              <a:t>12</a:t>
            </a:r>
            <a:endParaRPr lang="en-US" sz="2400" dirty="0"/>
          </a:p>
        </p:txBody>
      </p:sp>
      <p:sp>
        <p:nvSpPr>
          <p:cNvPr id="16" name="Text 14"/>
          <p:cNvSpPr txBox="1"/>
          <p:nvPr/>
        </p:nvSpPr>
        <p:spPr>
          <a:xfrm>
            <a:off x="548640" y="3621024"/>
            <a:ext cx="2148840" cy="502920"/>
          </a:xfrm>
          <a:prstGeom prst="rect">
            <a:avLst/>
          </a:prstGeom>
          <a:noFill/>
          <a:ln/>
        </p:spPr>
        <p:txBody>
          <a:bodyPr wrap="square" lIns="0" tIns="0" rIns="0" bIns="0" rtlCol="0" anchor="ctr"/>
          <a:lstStyle/>
          <a:p>
            <a:pPr algn="ctr" indent="0" marL="0">
              <a:buNone/>
            </a:pPr>
            <a:r>
              <a:rPr lang="en-US" sz="1050" dirty="0">
                <a:solidFill>
                  <a:srgbClr val="5B554C"/>
                </a:solidFill>
                <a:latin typeface="Calibri" pitchFamily="34" charset="0"/>
                <a:ea typeface="Calibri" pitchFamily="34" charset="-122"/>
                <a:cs typeface="Calibri" pitchFamily="34" charset="-120"/>
              </a:rPr>
              <a:t>endpoints API JSON</a:t>
            </a:r>
            <a:endParaRPr lang="en-US" sz="1050" dirty="0"/>
          </a:p>
        </p:txBody>
      </p:sp>
      <p:sp>
        <p:nvSpPr>
          <p:cNvPr id="17" name="Text 15"/>
          <p:cNvSpPr txBox="1"/>
          <p:nvPr/>
        </p:nvSpPr>
        <p:spPr>
          <a:xfrm>
            <a:off x="2761488" y="2834640"/>
            <a:ext cx="2148840" cy="777240"/>
          </a:xfrm>
          <a:prstGeom prst="rect">
            <a:avLst/>
          </a:prstGeom>
          <a:noFill/>
          <a:ln/>
        </p:spPr>
        <p:txBody>
          <a:bodyPr wrap="square" lIns="0" tIns="0" rIns="0" bIns="0" rtlCol="0" anchor="ctr"/>
          <a:lstStyle/>
          <a:p>
            <a:pPr algn="ctr" indent="0" marL="0">
              <a:buNone/>
            </a:pPr>
            <a:r>
              <a:rPr lang="en-US" sz="2400" b="1" dirty="0">
                <a:solidFill>
                  <a:srgbClr val="E0492B"/>
                </a:solidFill>
                <a:latin typeface="Cambria" pitchFamily="34" charset="0"/>
                <a:ea typeface="Cambria" pitchFamily="34" charset="-122"/>
                <a:cs typeface="Cambria" pitchFamily="34" charset="-120"/>
              </a:rPr>
              <a:t>40 / 282</a:t>
            </a:r>
            <a:endParaRPr lang="en-US" sz="2400" dirty="0"/>
          </a:p>
        </p:txBody>
      </p:sp>
      <p:sp>
        <p:nvSpPr>
          <p:cNvPr id="18" name="Text 16"/>
          <p:cNvSpPr txBox="1"/>
          <p:nvPr/>
        </p:nvSpPr>
        <p:spPr>
          <a:xfrm>
            <a:off x="2761488" y="3621024"/>
            <a:ext cx="2148840" cy="502920"/>
          </a:xfrm>
          <a:prstGeom prst="rect">
            <a:avLst/>
          </a:prstGeom>
          <a:noFill/>
          <a:ln/>
        </p:spPr>
        <p:txBody>
          <a:bodyPr wrap="square" lIns="0" tIns="0" rIns="0" bIns="0" rtlCol="0" anchor="ctr"/>
          <a:lstStyle/>
          <a:p>
            <a:pPr algn="ctr" indent="0" marL="0">
              <a:buNone/>
            </a:pPr>
            <a:r>
              <a:rPr lang="en-US" sz="1050" dirty="0">
                <a:solidFill>
                  <a:srgbClr val="5B554C"/>
                </a:solidFill>
                <a:latin typeface="Calibri" pitchFamily="34" charset="0"/>
                <a:ea typeface="Calibri" pitchFamily="34" charset="-122"/>
                <a:cs typeface="Calibri" pitchFamily="34" charset="-120"/>
              </a:rPr>
              <a:t>tests / assertions PHPUnit</a:t>
            </a:r>
            <a:endParaRPr lang="en-US" sz="1050" dirty="0"/>
          </a:p>
        </p:txBody>
      </p:sp>
      <p:sp>
        <p:nvSpPr>
          <p:cNvPr id="19" name="Text 17"/>
          <p:cNvSpPr txBox="1"/>
          <p:nvPr/>
        </p:nvSpPr>
        <p:spPr>
          <a:xfrm>
            <a:off x="4974336" y="2834640"/>
            <a:ext cx="2148840" cy="777240"/>
          </a:xfrm>
          <a:prstGeom prst="rect">
            <a:avLst/>
          </a:prstGeom>
          <a:noFill/>
          <a:ln/>
        </p:spPr>
        <p:txBody>
          <a:bodyPr wrap="square" lIns="0" tIns="0" rIns="0" bIns="0" rtlCol="0" anchor="ctr"/>
          <a:lstStyle/>
          <a:p>
            <a:pPr algn="ctr" indent="0" marL="0">
              <a:buNone/>
            </a:pPr>
            <a:r>
              <a:rPr lang="en-US" sz="2400" b="1" dirty="0">
                <a:solidFill>
                  <a:srgbClr val="4A40C2"/>
                </a:solidFill>
                <a:latin typeface="Cambria" pitchFamily="34" charset="0"/>
                <a:ea typeface="Cambria" pitchFamily="34" charset="-122"/>
                <a:cs typeface="Cambria" pitchFamily="34" charset="-120"/>
              </a:rPr>
              <a:t>Niveau 5</a:t>
            </a:r>
            <a:endParaRPr lang="en-US" sz="2400" dirty="0"/>
          </a:p>
        </p:txBody>
      </p:sp>
      <p:sp>
        <p:nvSpPr>
          <p:cNvPr id="20" name="Text 18"/>
          <p:cNvSpPr txBox="1"/>
          <p:nvPr/>
        </p:nvSpPr>
        <p:spPr>
          <a:xfrm>
            <a:off x="4974336" y="3621024"/>
            <a:ext cx="2148840" cy="502920"/>
          </a:xfrm>
          <a:prstGeom prst="rect">
            <a:avLst/>
          </a:prstGeom>
          <a:noFill/>
          <a:ln/>
        </p:spPr>
        <p:txBody>
          <a:bodyPr wrap="square" lIns="0" tIns="0" rIns="0" bIns="0" rtlCol="0" anchor="ctr"/>
          <a:lstStyle/>
          <a:p>
            <a:pPr algn="ctr" indent="0" marL="0">
              <a:buNone/>
            </a:pPr>
            <a:r>
              <a:rPr lang="en-US" sz="1050" dirty="0">
                <a:solidFill>
                  <a:srgbClr val="5B554C"/>
                </a:solidFill>
                <a:latin typeface="Calibri" pitchFamily="34" charset="0"/>
                <a:ea typeface="Calibri" pitchFamily="34" charset="-122"/>
                <a:cs typeface="Calibri" pitchFamily="34" charset="-120"/>
              </a:rPr>
              <a:t>d'analyse PHPStan</a:t>
            </a:r>
            <a:endParaRPr lang="en-US" sz="1050" dirty="0"/>
          </a:p>
        </p:txBody>
      </p:sp>
      <p:sp>
        <p:nvSpPr>
          <p:cNvPr id="21" name="Text 19"/>
          <p:cNvSpPr txBox="1"/>
          <p:nvPr/>
        </p:nvSpPr>
        <p:spPr>
          <a:xfrm>
            <a:off x="7187184" y="2834640"/>
            <a:ext cx="2148840" cy="777240"/>
          </a:xfrm>
          <a:prstGeom prst="rect">
            <a:avLst/>
          </a:prstGeom>
          <a:noFill/>
          <a:ln/>
        </p:spPr>
        <p:txBody>
          <a:bodyPr wrap="square" lIns="0" tIns="0" rIns="0" bIns="0" rtlCol="0" anchor="ctr"/>
          <a:lstStyle/>
          <a:p>
            <a:pPr algn="ctr" indent="0" marL="0">
              <a:buNone/>
            </a:pPr>
            <a:r>
              <a:rPr lang="en-US" sz="2400" b="1" dirty="0">
                <a:solidFill>
                  <a:srgbClr val="B9821A"/>
                </a:solidFill>
                <a:latin typeface="Cambria" pitchFamily="34" charset="0"/>
                <a:ea typeface="Cambria" pitchFamily="34" charset="-122"/>
                <a:cs typeface="Cambria" pitchFamily="34" charset="-120"/>
              </a:rPr>
              <a:t>8.1 → 8.3</a:t>
            </a:r>
            <a:endParaRPr lang="en-US" sz="2400" dirty="0"/>
          </a:p>
        </p:txBody>
      </p:sp>
      <p:sp>
        <p:nvSpPr>
          <p:cNvPr id="22" name="Text 20"/>
          <p:cNvSpPr txBox="1"/>
          <p:nvPr/>
        </p:nvSpPr>
        <p:spPr>
          <a:xfrm>
            <a:off x="7187184" y="3621024"/>
            <a:ext cx="2148840" cy="502920"/>
          </a:xfrm>
          <a:prstGeom prst="rect">
            <a:avLst/>
          </a:prstGeom>
          <a:noFill/>
          <a:ln/>
        </p:spPr>
        <p:txBody>
          <a:bodyPr wrap="square" lIns="0" tIns="0" rIns="0" bIns="0" rtlCol="0" anchor="ctr"/>
          <a:lstStyle/>
          <a:p>
            <a:pPr algn="ctr" indent="0" marL="0">
              <a:buNone/>
            </a:pPr>
            <a:r>
              <a:rPr lang="en-US" sz="1050" dirty="0">
                <a:solidFill>
                  <a:srgbClr val="5B554C"/>
                </a:solidFill>
                <a:latin typeface="Calibri" pitchFamily="34" charset="0"/>
                <a:ea typeface="Calibri" pitchFamily="34" charset="-122"/>
                <a:cs typeface="Calibri" pitchFamily="34" charset="-120"/>
              </a:rPr>
              <a:t>versions PHP testées en CI</a:t>
            </a:r>
            <a:endParaRPr lang="en-US" sz="1050" dirty="0"/>
          </a:p>
        </p:txBody>
      </p:sp>
      <p:sp>
        <p:nvSpPr>
          <p:cNvPr id="23" name="Text 21"/>
          <p:cNvSpPr txBox="1"/>
          <p:nvPr/>
        </p:nvSpPr>
        <p:spPr>
          <a:xfrm>
            <a:off x="9400032" y="2834640"/>
            <a:ext cx="2148840" cy="777240"/>
          </a:xfrm>
          <a:prstGeom prst="rect">
            <a:avLst/>
          </a:prstGeom>
          <a:noFill/>
          <a:ln/>
        </p:spPr>
        <p:txBody>
          <a:bodyPr wrap="square" lIns="0" tIns="0" rIns="0" bIns="0" rtlCol="0" anchor="ctr"/>
          <a:lstStyle/>
          <a:p>
            <a:pPr algn="ctr" indent="0" marL="0">
              <a:buNone/>
            </a:pPr>
            <a:r>
              <a:rPr lang="en-US" sz="2400" b="1" dirty="0">
                <a:solidFill>
                  <a:srgbClr val="E0492B"/>
                </a:solidFill>
                <a:latin typeface="Cambria" pitchFamily="34" charset="0"/>
                <a:ea typeface="Cambria" pitchFamily="34" charset="-122"/>
                <a:cs typeface="Cambria" pitchFamily="34" charset="-120"/>
              </a:rPr>
              <a:t>~2 min</a:t>
            </a:r>
            <a:endParaRPr lang="en-US" sz="2400" dirty="0"/>
          </a:p>
        </p:txBody>
      </p:sp>
      <p:sp>
        <p:nvSpPr>
          <p:cNvPr id="24" name="Text 22"/>
          <p:cNvSpPr txBox="1"/>
          <p:nvPr/>
        </p:nvSpPr>
        <p:spPr>
          <a:xfrm>
            <a:off x="9400032" y="3621024"/>
            <a:ext cx="2148840" cy="502920"/>
          </a:xfrm>
          <a:prstGeom prst="rect">
            <a:avLst/>
          </a:prstGeom>
          <a:noFill/>
          <a:ln/>
        </p:spPr>
        <p:txBody>
          <a:bodyPr wrap="square" lIns="0" tIns="0" rIns="0" bIns="0" rtlCol="0" anchor="ctr"/>
          <a:lstStyle/>
          <a:p>
            <a:pPr algn="ctr" indent="0" marL="0">
              <a:buNone/>
            </a:pPr>
            <a:r>
              <a:rPr lang="en-US" sz="1050" dirty="0">
                <a:solidFill>
                  <a:srgbClr val="5B554C"/>
                </a:solidFill>
                <a:latin typeface="Calibri" pitchFamily="34" charset="0"/>
                <a:ea typeface="Calibri" pitchFamily="34" charset="-122"/>
                <a:cs typeface="Calibri" pitchFamily="34" charset="-120"/>
              </a:rPr>
              <a:t>entre un push et la mise en ligne</a:t>
            </a:r>
            <a:endParaRPr lang="en-US" sz="1050" dirty="0"/>
          </a:p>
        </p:txBody>
      </p:sp>
      <p:sp>
        <p:nvSpPr>
          <p:cNvPr id="25" name="Shape 23"/>
          <p:cNvSpPr/>
          <p:nvPr/>
        </p:nvSpPr>
        <p:spPr>
          <a:xfrm>
            <a:off x="548640" y="4434840"/>
            <a:ext cx="11064240" cy="1417320"/>
          </a:xfrm>
          <a:prstGeom prst="roundRect">
            <a:avLst>
              <a:gd name="adj" fmla="val 5806"/>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26" name="Text 24"/>
          <p:cNvSpPr txBox="1"/>
          <p:nvPr/>
        </p:nvSpPr>
        <p:spPr>
          <a:xfrm>
            <a:off x="786384" y="4617720"/>
            <a:ext cx="10588752" cy="310896"/>
          </a:xfrm>
          <a:prstGeom prst="rect">
            <a:avLst/>
          </a:prstGeom>
          <a:noFill/>
          <a:ln/>
        </p:spPr>
        <p:txBody>
          <a:bodyPr wrap="square" lIns="0" tIns="0" rIns="0" bIns="0" rtlCol="0" anchor="ctr"/>
          <a:lstStyle/>
          <a:p>
            <a:pPr indent="0" marL="0">
              <a:buNone/>
            </a:pPr>
            <a:r>
              <a:rPr lang="en-US" sz="1450" b="1" dirty="0">
                <a:solidFill>
                  <a:srgbClr val="4A40C2"/>
                </a:solidFill>
                <a:latin typeface="Calibri" pitchFamily="34" charset="0"/>
                <a:ea typeface="Calibri" pitchFamily="34" charset="-122"/>
                <a:cs typeface="Calibri" pitchFamily="34" charset="-120"/>
              </a:rPr>
              <a:t>Deux formules à réciter sans trébucher</a:t>
            </a:r>
            <a:endParaRPr lang="en-US" sz="1450" dirty="0"/>
          </a:p>
        </p:txBody>
      </p:sp>
      <p:sp>
        <p:nvSpPr>
          <p:cNvPr id="27" name="Text 25"/>
          <p:cNvSpPr txBox="1"/>
          <p:nvPr/>
        </p:nvSpPr>
        <p:spPr>
          <a:xfrm>
            <a:off x="786384" y="5001768"/>
            <a:ext cx="10588752" cy="63093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XP = 15 × événements + 10 × squads + 5 × abonnements + 8 × avis</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Niveau = partie entière de la racine carrée de (XP / 50), plus un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C1916"/>
        </a:solidFill>
      </p:bgPr>
    </p:bg>
    <p:spTree>
      <p:nvGrpSpPr>
        <p:cNvPr id="1" name=""/>
        <p:cNvGrpSpPr/>
        <p:nvPr/>
      </p:nvGrpSpPr>
      <p:grpSpPr>
        <a:xfrm>
          <a:off x="0" y="0"/>
          <a:ext cx="0" cy="0"/>
          <a:chOff x="0" y="0"/>
          <a:chExt cx="0" cy="0"/>
        </a:xfrm>
      </p:grpSpPr>
      <p:sp>
        <p:nvSpPr>
          <p:cNvPr id="2" name="Shape 0"/>
          <p:cNvSpPr/>
          <p:nvPr/>
        </p:nvSpPr>
        <p:spPr>
          <a:xfrm>
            <a:off x="9326880" y="-1371600"/>
            <a:ext cx="4754880" cy="4754880"/>
          </a:xfrm>
          <a:prstGeom prst="ellipse">
            <a:avLst/>
          </a:prstGeom>
          <a:solidFill>
            <a:srgbClr val="E0492B">
              <a:alpha val="12000"/>
            </a:srgbClr>
          </a:solidFill>
          <a:ln/>
        </p:spPr>
      </p:sp>
      <p:sp>
        <p:nvSpPr>
          <p:cNvPr id="3" name="Text 1"/>
          <p:cNvSpPr txBox="1"/>
          <p:nvPr/>
        </p:nvSpPr>
        <p:spPr>
          <a:xfrm>
            <a:off x="9601200" y="365760"/>
            <a:ext cx="2011680" cy="320040"/>
          </a:xfrm>
          <a:prstGeom prst="rect">
            <a:avLst/>
          </a:prstGeom>
          <a:noFill/>
          <a:ln/>
        </p:spPr>
        <p:txBody>
          <a:bodyPr wrap="square" lIns="0" tIns="0" rIns="0" bIns="0" rtlCol="0" anchor="ctr"/>
          <a:lstStyle/>
          <a:p>
            <a:pPr algn="r" indent="0" marL="0">
              <a:buNone/>
            </a:pPr>
            <a:r>
              <a:rPr lang="en-US" sz="1200" b="1" dirty="0">
                <a:solidFill>
                  <a:srgbClr val="B9821A"/>
                </a:solidFill>
                <a:latin typeface="Calibri" pitchFamily="34" charset="0"/>
                <a:ea typeface="Calibri" pitchFamily="34" charset="-122"/>
                <a:cs typeface="Calibri" pitchFamily="34" charset="-120"/>
              </a:rPr>
              <a:t>00:00 → 02:00</a:t>
            </a:r>
            <a:endParaRPr lang="en-US" sz="1200" dirty="0"/>
          </a:p>
        </p:txBody>
      </p:sp>
      <p:sp>
        <p:nvSpPr>
          <p:cNvPr id="4" name="Text 2"/>
          <p:cNvSpPr txBox="1"/>
          <p:nvPr/>
        </p:nvSpPr>
        <p:spPr>
          <a:xfrm>
            <a:off x="548640" y="1874520"/>
            <a:ext cx="11064240" cy="320040"/>
          </a:xfrm>
          <a:prstGeom prst="rect">
            <a:avLst/>
          </a:prstGeom>
          <a:noFill/>
          <a:ln/>
        </p:spPr>
        <p:txBody>
          <a:bodyPr wrap="square" lIns="0" tIns="0" rIns="0" bIns="0" rtlCol="0" anchor="ctr"/>
          <a:lstStyle/>
          <a:p>
            <a:pPr indent="0" marL="0">
              <a:buNone/>
            </a:pPr>
            <a:r>
              <a:rPr lang="en-US" sz="1300" b="1" spc="300" kern="0" dirty="0">
                <a:solidFill>
                  <a:srgbClr val="E0492B"/>
                </a:solidFill>
                <a:latin typeface="Calibri" pitchFamily="34" charset="0"/>
                <a:ea typeface="Calibri" pitchFamily="34" charset="-122"/>
                <a:cs typeface="Calibri" pitchFamily="34" charset="-120"/>
              </a:rPr>
              <a:t>PARTIE 0 — INTRODUCTION</a:t>
            </a:r>
            <a:endParaRPr lang="en-US" sz="1300" dirty="0"/>
          </a:p>
        </p:txBody>
      </p:sp>
      <p:sp>
        <p:nvSpPr>
          <p:cNvPr id="5" name="Text 3"/>
          <p:cNvSpPr txBox="1"/>
          <p:nvPr/>
        </p:nvSpPr>
        <p:spPr>
          <a:xfrm>
            <a:off x="548640" y="2286000"/>
            <a:ext cx="11064240" cy="9601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Se retrouver,</a:t>
            </a:r>
            <a:endParaRPr lang="en-US" sz="4400" dirty="0"/>
          </a:p>
        </p:txBody>
      </p:sp>
      <p:sp>
        <p:nvSpPr>
          <p:cNvPr id="6" name="Text 4"/>
          <p:cNvSpPr txBox="1"/>
          <p:nvPr/>
        </p:nvSpPr>
        <p:spPr>
          <a:xfrm>
            <a:off x="548640" y="3200400"/>
            <a:ext cx="11064240" cy="868680"/>
          </a:xfrm>
          <a:prstGeom prst="rect">
            <a:avLst/>
          </a:prstGeom>
          <a:noFill/>
          <a:ln/>
        </p:spPr>
        <p:txBody>
          <a:bodyPr wrap="square" lIns="0" tIns="0" rIns="0" bIns="0" rtlCol="0" anchor="ctr"/>
          <a:lstStyle/>
          <a:p>
            <a:pPr indent="0" marL="0">
              <a:buNone/>
            </a:pPr>
            <a:r>
              <a:rPr lang="en-US" sz="3800" i="1" dirty="0">
                <a:solidFill>
                  <a:srgbClr val="E0492B"/>
                </a:solidFill>
                <a:latin typeface="Cambria" pitchFamily="34" charset="0"/>
                <a:ea typeface="Cambria" pitchFamily="34" charset="-122"/>
                <a:cs typeface="Cambria" pitchFamily="34" charset="-120"/>
              </a:rPr>
              <a:t>en payant moins cher.</a:t>
            </a:r>
            <a:endParaRPr lang="en-US" sz="3800" dirty="0"/>
          </a:p>
        </p:txBody>
      </p:sp>
      <p:sp>
        <p:nvSpPr>
          <p:cNvPr id="7" name="Shape 5"/>
          <p:cNvSpPr/>
          <p:nvPr/>
        </p:nvSpPr>
        <p:spPr>
          <a:xfrm>
            <a:off x="548640" y="4023360"/>
            <a:ext cx="11064240" cy="1691640"/>
          </a:xfrm>
          <a:prstGeom prst="roundRect">
            <a:avLst>
              <a:gd name="adj" fmla="val 5405"/>
            </a:avLst>
          </a:prstGeom>
          <a:solidFill>
            <a:srgbClr val="1C1916"/>
          </a:solidFill>
          <a:ln w="12700">
            <a:solidFill>
              <a:srgbClr val="1C1916"/>
            </a:solidFill>
            <a:prstDash val="solid"/>
          </a:ln>
          <a:effectLst>
            <a:outerShdw sx="100000" sy="100000" kx="0" ky="0" algn="bl" rotWithShape="0" blurRad="177800" dist="38100" dir="5400000">
              <a:srgbClr val="1C1916">
                <a:alpha val="10000"/>
              </a:srgbClr>
            </a:outerShdw>
          </a:effectLst>
        </p:spPr>
      </p:sp>
      <p:sp>
        <p:nvSpPr>
          <p:cNvPr id="8" name="Text 6"/>
          <p:cNvSpPr txBox="1"/>
          <p:nvPr/>
        </p:nvSpPr>
        <p:spPr>
          <a:xfrm>
            <a:off x="914400" y="4279392"/>
            <a:ext cx="10332720" cy="1005840"/>
          </a:xfrm>
          <a:prstGeom prst="rect">
            <a:avLst/>
          </a:prstGeom>
          <a:noFill/>
          <a:ln/>
        </p:spPr>
        <p:txBody>
          <a:bodyPr wrap="square" lIns="0" tIns="0" rIns="0" bIns="0" rtlCol="0" anchor="ctr"/>
          <a:lstStyle/>
          <a:p>
            <a:pPr algn="ctr" indent="0" marL="0">
              <a:buNone/>
            </a:pPr>
            <a:r>
              <a:rPr lang="en-US" sz="2000" i="1" dirty="0">
                <a:solidFill>
                  <a:srgbClr val="FFFFFF"/>
                </a:solidFill>
                <a:latin typeface="Cambria" pitchFamily="34" charset="0"/>
                <a:ea typeface="Cambria" pitchFamily="34" charset="-122"/>
                <a:cs typeface="Cambria" pitchFamily="34" charset="-120"/>
              </a:rPr>
              <a:t>« On veut tous se retrouver, mais on veut aussi payer moins cher. Et aujourd'hui, aucun outil ne répond à ça à Clermont. »</a:t>
            </a:r>
            <a:endParaRPr lang="en-US" sz="2000" dirty="0"/>
          </a:p>
        </p:txBody>
      </p:sp>
      <p:sp>
        <p:nvSpPr>
          <p:cNvPr id="9" name="Text 7"/>
          <p:cNvSpPr txBox="1"/>
          <p:nvPr/>
        </p:nvSpPr>
        <p:spPr>
          <a:xfrm>
            <a:off x="914400" y="5303520"/>
            <a:ext cx="10332720" cy="320040"/>
          </a:xfrm>
          <a:prstGeom prst="rect">
            <a:avLst/>
          </a:prstGeom>
          <a:noFill/>
          <a:ln/>
        </p:spPr>
        <p:txBody>
          <a:bodyPr wrap="square" lIns="0" tIns="0" rIns="0" bIns="0" rtlCol="0" anchor="ctr"/>
          <a:lstStyle/>
          <a:p>
            <a:pPr algn="ctr" indent="0" marL="0">
              <a:buNone/>
            </a:pPr>
            <a:r>
              <a:rPr lang="en-US" sz="1100" dirty="0">
                <a:solidFill>
                  <a:srgbClr val="B9821A"/>
                </a:solidFill>
                <a:latin typeface="Calibri" pitchFamily="34" charset="0"/>
                <a:ea typeface="Calibri" pitchFamily="34" charset="-122"/>
                <a:cs typeface="Calibri" pitchFamily="34" charset="-120"/>
              </a:rPr>
              <a:t>— le constat de départ, en une phrase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601200" cy="256032"/>
          </a:xfrm>
          <a:prstGeom prst="rect">
            <a:avLst/>
          </a:prstGeom>
          <a:noFill/>
          <a:ln/>
        </p:spPr>
        <p:txBody>
          <a:bodyPr wrap="square" lIns="0" tIns="0" rIns="0" bIns="0" rtlCol="0" anchor="ctr"/>
          <a:lstStyle/>
          <a:p>
            <a:pPr indent="0" marL="0">
              <a:buNone/>
            </a:pPr>
            <a:r>
              <a:rPr lang="en-US" sz="1150" b="1" spc="300" kern="0" dirty="0">
                <a:solidFill>
                  <a:srgbClr val="E0492B"/>
                </a:solidFill>
                <a:latin typeface="Calibri" pitchFamily="34" charset="0"/>
                <a:ea typeface="Calibri" pitchFamily="34" charset="-122"/>
                <a:cs typeface="Calibri" pitchFamily="34" charset="-120"/>
              </a:rPr>
              <a:t>PARTIE 1 — CONTEXTE</a:t>
            </a:r>
            <a:endParaRPr lang="en-US" sz="1150" dirty="0"/>
          </a:p>
        </p:txBody>
      </p:sp>
      <p:sp>
        <p:nvSpPr>
          <p:cNvPr id="3" name="Shape 1"/>
          <p:cNvSpPr/>
          <p:nvPr/>
        </p:nvSpPr>
        <p:spPr>
          <a:xfrm>
            <a:off x="10241280" y="292608"/>
            <a:ext cx="1371600" cy="365760"/>
          </a:xfrm>
          <a:prstGeom prst="roundRect">
            <a:avLst>
              <a:gd name="adj" fmla="val 50000"/>
            </a:avLst>
          </a:prstGeom>
          <a:solidFill>
            <a:srgbClr val="1C1916"/>
          </a:solidFill>
          <a:ln w="12700">
            <a:solidFill>
              <a:srgbClr val="1C1916"/>
            </a:solidFill>
            <a:prstDash val="solid"/>
          </a:ln>
        </p:spPr>
      </p:sp>
      <p:sp>
        <p:nvSpPr>
          <p:cNvPr id="4" name="Text 2"/>
          <p:cNvSpPr txBox="1"/>
          <p:nvPr/>
        </p:nvSpPr>
        <p:spPr>
          <a:xfrm>
            <a:off x="10241280" y="292608"/>
            <a:ext cx="1371600" cy="365760"/>
          </a:xfrm>
          <a:prstGeom prst="rect">
            <a:avLst/>
          </a:prstGeom>
          <a:noFill/>
          <a:ln/>
        </p:spPr>
        <p:txBody>
          <a:bodyPr wrap="square" lIns="0" tIns="0" rIns="0" bIns="0" rtlCol="0" anchor="ctr"/>
          <a:lstStyle/>
          <a:p>
            <a:pPr algn="ctr" indent="0" marL="0">
              <a:buNone/>
            </a:pPr>
            <a:r>
              <a:rPr lang="en-US" sz="1150" b="1" dirty="0">
                <a:solidFill>
                  <a:srgbClr val="B9821A"/>
                </a:solidFill>
                <a:latin typeface="Calibri" pitchFamily="34" charset="0"/>
                <a:ea typeface="Calibri" pitchFamily="34" charset="-122"/>
                <a:cs typeface="Calibri" pitchFamily="34" charset="-120"/>
              </a:rPr>
              <a:t>02:00</a:t>
            </a:r>
            <a:endParaRPr lang="en-US" sz="1150" dirty="0"/>
          </a:p>
        </p:txBody>
      </p:sp>
      <p:sp>
        <p:nvSpPr>
          <p:cNvPr id="5" name="Text 3"/>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2800" b="1" dirty="0">
                <a:solidFill>
                  <a:srgbClr val="1C1916"/>
                </a:solidFill>
                <a:latin typeface="Cambria" pitchFamily="34" charset="0"/>
                <a:ea typeface="Cambria" pitchFamily="34" charset="-122"/>
                <a:cs typeface="Cambria" pitchFamily="34" charset="-120"/>
              </a:rPr>
              <a:t>L'origine du projet et le marché local</a:t>
            </a:r>
            <a:endParaRPr lang="en-US" sz="2800" dirty="0"/>
          </a:p>
        </p:txBody>
      </p:sp>
      <p:sp>
        <p:nvSpPr>
          <p:cNvPr id="6" name="Text 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938B7D"/>
                </a:solidFill>
                <a:latin typeface="Calibri" pitchFamily="34" charset="0"/>
                <a:ea typeface="Calibri" pitchFamily="34" charset="-122"/>
                <a:cs typeface="Calibri" pitchFamily="34" charset="-120"/>
              </a:rPr>
              <a:t>5</a:t>
            </a:r>
            <a:endParaRPr lang="en-US" sz="1000" dirty="0"/>
          </a:p>
        </p:txBody>
      </p:sp>
      <p:sp>
        <p:nvSpPr>
          <p:cNvPr id="7" name="Shape 5"/>
          <p:cNvSpPr/>
          <p:nvPr/>
        </p:nvSpPr>
        <p:spPr>
          <a:xfrm>
            <a:off x="548640" y="1417320"/>
            <a:ext cx="6263640" cy="2331720"/>
          </a:xfrm>
          <a:prstGeom prst="roundRect">
            <a:avLst>
              <a:gd name="adj" fmla="val 3529"/>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8" name="Text 6"/>
          <p:cNvSpPr txBox="1"/>
          <p:nvPr/>
        </p:nvSpPr>
        <p:spPr>
          <a:xfrm>
            <a:off x="786384" y="1600200"/>
            <a:ext cx="5788152" cy="310896"/>
          </a:xfrm>
          <a:prstGeom prst="rect">
            <a:avLst/>
          </a:prstGeom>
          <a:noFill/>
          <a:ln/>
        </p:spPr>
        <p:txBody>
          <a:bodyPr wrap="square" lIns="0" tIns="0" rIns="0" bIns="0" rtlCol="0" anchor="ctr"/>
          <a:lstStyle/>
          <a:p>
            <a:pPr indent="0" marL="0">
              <a:buNone/>
            </a:pPr>
            <a:r>
              <a:rPr lang="en-US" sz="1450" b="1" dirty="0">
                <a:solidFill>
                  <a:srgbClr val="E0492B"/>
                </a:solidFill>
                <a:latin typeface="Calibri" pitchFamily="34" charset="0"/>
                <a:ea typeface="Calibri" pitchFamily="34" charset="-122"/>
                <a:cs typeface="Calibri" pitchFamily="34" charset="-120"/>
              </a:rPr>
              <a:t>1.1 — Pas un sujet imposé, mon quotidien</a:t>
            </a:r>
            <a:endParaRPr lang="en-US" sz="1450" dirty="0"/>
          </a:p>
        </p:txBody>
      </p:sp>
      <p:sp>
        <p:nvSpPr>
          <p:cNvPr id="9" name="Text 7"/>
          <p:cNvSpPr txBox="1"/>
          <p:nvPr/>
        </p:nvSpPr>
        <p:spPr>
          <a:xfrm>
            <a:off x="786384" y="1984248"/>
            <a:ext cx="5788152" cy="154533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Un groupe WhatsApp qui s'agite, quelqu'un qui cherche sur Instagram, un autre qui demande si c'est payant…</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Résultat : certains restent chez eux — l'info arrive trop tard, ou le prix refroidit</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Le problème n'est pas l'envie de sortir : c'est l'absence d'un outil pensé pour nous</a:t>
            </a:r>
            <a:endParaRPr lang="en-US" sz="1200" dirty="0"/>
          </a:p>
        </p:txBody>
      </p:sp>
      <p:sp>
        <p:nvSpPr>
          <p:cNvPr id="10" name="Shape 8"/>
          <p:cNvSpPr/>
          <p:nvPr/>
        </p:nvSpPr>
        <p:spPr>
          <a:xfrm>
            <a:off x="7086600" y="1417320"/>
            <a:ext cx="4617720" cy="2331720"/>
          </a:xfrm>
          <a:prstGeom prst="roundRect">
            <a:avLst>
              <a:gd name="adj" fmla="val 3529"/>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1" name="Text 9"/>
          <p:cNvSpPr txBox="1"/>
          <p:nvPr/>
        </p:nvSpPr>
        <p:spPr>
          <a:xfrm>
            <a:off x="7324344" y="1600200"/>
            <a:ext cx="4142232" cy="310896"/>
          </a:xfrm>
          <a:prstGeom prst="rect">
            <a:avLst/>
          </a:prstGeom>
          <a:noFill/>
          <a:ln/>
        </p:spPr>
        <p:txBody>
          <a:bodyPr wrap="square" lIns="0" tIns="0" rIns="0" bIns="0" rtlCol="0" anchor="ctr"/>
          <a:lstStyle/>
          <a:p>
            <a:pPr indent="0" marL="0">
              <a:buNone/>
            </a:pPr>
            <a:r>
              <a:rPr lang="en-US" sz="1450" b="1" dirty="0">
                <a:solidFill>
                  <a:srgbClr val="4A40C2"/>
                </a:solidFill>
                <a:latin typeface="Calibri" pitchFamily="34" charset="0"/>
                <a:ea typeface="Calibri" pitchFamily="34" charset="-122"/>
                <a:cs typeface="Calibri" pitchFamily="34" charset="-120"/>
              </a:rPr>
              <a:t>1.2 — Un bassin réel et réplicable</a:t>
            </a:r>
            <a:endParaRPr lang="en-US" sz="1450" dirty="0"/>
          </a:p>
        </p:txBody>
      </p:sp>
      <p:sp>
        <p:nvSpPr>
          <p:cNvPr id="12" name="Text 10"/>
          <p:cNvSpPr txBox="1"/>
          <p:nvPr/>
        </p:nvSpPr>
        <p:spPr>
          <a:xfrm>
            <a:off x="7324344" y="1984248"/>
            <a:ext cx="4142232" cy="154533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Clermont-Ferrand : 5 écoles (UCA, SIGMA, INP, IFSI, Hesias)</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Rien n'est spécifique à Clermont dans la modélisation</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Le champ ville existe déjà sur les établissements</a:t>
            </a:r>
            <a:endParaRPr lang="en-US" sz="1200" dirty="0"/>
          </a:p>
        </p:txBody>
      </p:sp>
      <p:sp>
        <p:nvSpPr>
          <p:cNvPr id="13" name="Text 11"/>
          <p:cNvSpPr txBox="1"/>
          <p:nvPr/>
        </p:nvSpPr>
        <p:spPr>
          <a:xfrm>
            <a:off x="548640" y="4023360"/>
            <a:ext cx="3108960" cy="777240"/>
          </a:xfrm>
          <a:prstGeom prst="rect">
            <a:avLst/>
          </a:prstGeom>
          <a:noFill/>
          <a:ln/>
        </p:spPr>
        <p:txBody>
          <a:bodyPr wrap="square" lIns="0" tIns="0" rIns="0" bIns="0" rtlCol="0" anchor="ctr"/>
          <a:lstStyle/>
          <a:p>
            <a:pPr algn="ctr" indent="0" marL="0">
              <a:buNone/>
            </a:pPr>
            <a:r>
              <a:rPr lang="en-US" sz="3400" b="1" dirty="0">
                <a:solidFill>
                  <a:srgbClr val="E0492B"/>
                </a:solidFill>
                <a:latin typeface="Cambria" pitchFamily="34" charset="0"/>
                <a:ea typeface="Cambria" pitchFamily="34" charset="-122"/>
                <a:cs typeface="Cambria" pitchFamily="34" charset="-120"/>
              </a:rPr>
              <a:t>42 500</a:t>
            </a:r>
            <a:endParaRPr lang="en-US" sz="3400" dirty="0"/>
          </a:p>
        </p:txBody>
      </p:sp>
      <p:sp>
        <p:nvSpPr>
          <p:cNvPr id="14" name="Text 12"/>
          <p:cNvSpPr txBox="1"/>
          <p:nvPr/>
        </p:nvSpPr>
        <p:spPr>
          <a:xfrm>
            <a:off x="548640" y="4809744"/>
            <a:ext cx="3108960" cy="502920"/>
          </a:xfrm>
          <a:prstGeom prst="rect">
            <a:avLst/>
          </a:prstGeom>
          <a:noFill/>
          <a:ln/>
        </p:spPr>
        <p:txBody>
          <a:bodyPr wrap="square" lIns="0" tIns="0" rIns="0" bIns="0" rtlCol="0" anchor="ctr"/>
          <a:lstStyle/>
          <a:p>
            <a:pPr algn="ctr" indent="0" marL="0">
              <a:buNone/>
            </a:pPr>
            <a:r>
              <a:rPr lang="en-US" sz="1050" dirty="0">
                <a:solidFill>
                  <a:srgbClr val="5B554C"/>
                </a:solidFill>
                <a:latin typeface="Calibri" pitchFamily="34" charset="0"/>
                <a:ea typeface="Calibri" pitchFamily="34" charset="-122"/>
                <a:cs typeface="Calibri" pitchFamily="34" charset="-120"/>
              </a:rPr>
              <a:t>étudiants à Clermont-Ferrand</a:t>
            </a:r>
            <a:endParaRPr lang="en-US" sz="1050" dirty="0"/>
          </a:p>
        </p:txBody>
      </p:sp>
      <p:sp>
        <p:nvSpPr>
          <p:cNvPr id="15" name="Text 13"/>
          <p:cNvSpPr txBox="1"/>
          <p:nvPr/>
        </p:nvSpPr>
        <p:spPr>
          <a:xfrm>
            <a:off x="3840480" y="4023360"/>
            <a:ext cx="3108960" cy="777240"/>
          </a:xfrm>
          <a:prstGeom prst="rect">
            <a:avLst/>
          </a:prstGeom>
          <a:noFill/>
          <a:ln/>
        </p:spPr>
        <p:txBody>
          <a:bodyPr wrap="square" lIns="0" tIns="0" rIns="0" bIns="0" rtlCol="0" anchor="ctr"/>
          <a:lstStyle/>
          <a:p>
            <a:pPr algn="ctr" indent="0" marL="0">
              <a:buNone/>
            </a:pPr>
            <a:r>
              <a:rPr lang="en-US" sz="3400" b="1" dirty="0">
                <a:solidFill>
                  <a:srgbClr val="4A40C2"/>
                </a:solidFill>
                <a:latin typeface="Cambria" pitchFamily="34" charset="0"/>
                <a:ea typeface="Cambria" pitchFamily="34" charset="-122"/>
                <a:cs typeface="Cambria" pitchFamily="34" charset="-120"/>
              </a:rPr>
              <a:t>3 012 800</a:t>
            </a:r>
            <a:endParaRPr lang="en-US" sz="3400" dirty="0"/>
          </a:p>
        </p:txBody>
      </p:sp>
      <p:sp>
        <p:nvSpPr>
          <p:cNvPr id="16" name="Text 14"/>
          <p:cNvSpPr txBox="1"/>
          <p:nvPr/>
        </p:nvSpPr>
        <p:spPr>
          <a:xfrm>
            <a:off x="3840480" y="4809744"/>
            <a:ext cx="3108960" cy="502920"/>
          </a:xfrm>
          <a:prstGeom prst="rect">
            <a:avLst/>
          </a:prstGeom>
          <a:noFill/>
          <a:ln/>
        </p:spPr>
        <p:txBody>
          <a:bodyPr wrap="square" lIns="0" tIns="0" rIns="0" bIns="0" rtlCol="0" anchor="ctr"/>
          <a:lstStyle/>
          <a:p>
            <a:pPr algn="ctr" indent="0" marL="0">
              <a:buNone/>
            </a:pPr>
            <a:r>
              <a:rPr lang="en-US" sz="1050" dirty="0">
                <a:solidFill>
                  <a:srgbClr val="5B554C"/>
                </a:solidFill>
                <a:latin typeface="Calibri" pitchFamily="34" charset="0"/>
                <a:ea typeface="Calibri" pitchFamily="34" charset="-122"/>
                <a:cs typeface="Calibri" pitchFamily="34" charset="-120"/>
              </a:rPr>
              <a:t>étudiants en France</a:t>
            </a:r>
            <a:endParaRPr lang="en-US" sz="1050" dirty="0"/>
          </a:p>
        </p:txBody>
      </p:sp>
      <p:sp>
        <p:nvSpPr>
          <p:cNvPr id="17" name="Shape 15"/>
          <p:cNvSpPr/>
          <p:nvPr/>
        </p:nvSpPr>
        <p:spPr>
          <a:xfrm>
            <a:off x="7086600" y="4023360"/>
            <a:ext cx="4617720" cy="2011680"/>
          </a:xfrm>
          <a:prstGeom prst="roundRect">
            <a:avLst>
              <a:gd name="adj" fmla="val 4091"/>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8" name="Text 16"/>
          <p:cNvSpPr txBox="1"/>
          <p:nvPr/>
        </p:nvSpPr>
        <p:spPr>
          <a:xfrm>
            <a:off x="7324344" y="4206240"/>
            <a:ext cx="4142232" cy="310896"/>
          </a:xfrm>
          <a:prstGeom prst="rect">
            <a:avLst/>
          </a:prstGeom>
          <a:noFill/>
          <a:ln/>
        </p:spPr>
        <p:txBody>
          <a:bodyPr wrap="square" lIns="0" tIns="0" rIns="0" bIns="0" rtlCol="0" anchor="ctr"/>
          <a:lstStyle/>
          <a:p>
            <a:pPr indent="0" marL="0">
              <a:buNone/>
            </a:pPr>
            <a:r>
              <a:rPr lang="en-US" sz="1450" b="1" dirty="0">
                <a:solidFill>
                  <a:srgbClr val="B9821A"/>
                </a:solidFill>
                <a:latin typeface="Calibri" pitchFamily="34" charset="0"/>
                <a:ea typeface="Calibri" pitchFamily="34" charset="-122"/>
                <a:cs typeface="Calibri" pitchFamily="34" charset="-120"/>
              </a:rPr>
              <a:t>Ce que ça justifie</a:t>
            </a:r>
            <a:endParaRPr lang="en-US" sz="1450" dirty="0"/>
          </a:p>
        </p:txBody>
      </p:sp>
      <p:sp>
        <p:nvSpPr>
          <p:cNvPr id="19" name="Text 17"/>
          <p:cNvSpPr txBox="1"/>
          <p:nvPr/>
        </p:nvSpPr>
        <p:spPr>
          <a:xfrm>
            <a:off x="7324344" y="4590288"/>
            <a:ext cx="4142232" cy="122529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Je commence par Clermont, mais le modèle est réplicable ville par ville</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Le bassin est doublement adressable : local d'abord, national ensuite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601200" cy="256032"/>
          </a:xfrm>
          <a:prstGeom prst="rect">
            <a:avLst/>
          </a:prstGeom>
          <a:noFill/>
          <a:ln/>
        </p:spPr>
        <p:txBody>
          <a:bodyPr wrap="square" lIns="0" tIns="0" rIns="0" bIns="0" rtlCol="0" anchor="ctr"/>
          <a:lstStyle/>
          <a:p>
            <a:pPr indent="0" marL="0">
              <a:buNone/>
            </a:pPr>
            <a:r>
              <a:rPr lang="en-US" sz="1150" b="1" spc="300" kern="0" dirty="0">
                <a:solidFill>
                  <a:srgbClr val="E0492B"/>
                </a:solidFill>
                <a:latin typeface="Calibri" pitchFamily="34" charset="0"/>
                <a:ea typeface="Calibri" pitchFamily="34" charset="-122"/>
                <a:cs typeface="Calibri" pitchFamily="34" charset="-120"/>
              </a:rPr>
              <a:t>PARTIE 1 — CONTEXTE</a:t>
            </a:r>
            <a:endParaRPr lang="en-US" sz="1150" dirty="0"/>
          </a:p>
        </p:txBody>
      </p:sp>
      <p:sp>
        <p:nvSpPr>
          <p:cNvPr id="3" name="Shape 1"/>
          <p:cNvSpPr/>
          <p:nvPr/>
        </p:nvSpPr>
        <p:spPr>
          <a:xfrm>
            <a:off x="10241280" y="292608"/>
            <a:ext cx="1371600" cy="365760"/>
          </a:xfrm>
          <a:prstGeom prst="roundRect">
            <a:avLst>
              <a:gd name="adj" fmla="val 50000"/>
            </a:avLst>
          </a:prstGeom>
          <a:solidFill>
            <a:srgbClr val="1C1916"/>
          </a:solidFill>
          <a:ln w="12700">
            <a:solidFill>
              <a:srgbClr val="1C1916"/>
            </a:solidFill>
            <a:prstDash val="solid"/>
          </a:ln>
        </p:spPr>
      </p:sp>
      <p:sp>
        <p:nvSpPr>
          <p:cNvPr id="4" name="Text 2"/>
          <p:cNvSpPr txBox="1"/>
          <p:nvPr/>
        </p:nvSpPr>
        <p:spPr>
          <a:xfrm>
            <a:off x="10241280" y="292608"/>
            <a:ext cx="1371600" cy="365760"/>
          </a:xfrm>
          <a:prstGeom prst="rect">
            <a:avLst/>
          </a:prstGeom>
          <a:noFill/>
          <a:ln/>
        </p:spPr>
        <p:txBody>
          <a:bodyPr wrap="square" lIns="0" tIns="0" rIns="0" bIns="0" rtlCol="0" anchor="ctr"/>
          <a:lstStyle/>
          <a:p>
            <a:pPr algn="ctr" indent="0" marL="0">
              <a:buNone/>
            </a:pPr>
            <a:r>
              <a:rPr lang="en-US" sz="1150" b="1" dirty="0">
                <a:solidFill>
                  <a:srgbClr val="B9821A"/>
                </a:solidFill>
                <a:latin typeface="Calibri" pitchFamily="34" charset="0"/>
                <a:ea typeface="Calibri" pitchFamily="34" charset="-122"/>
                <a:cs typeface="Calibri" pitchFamily="34" charset="-120"/>
              </a:rPr>
              <a:t>03:30</a:t>
            </a:r>
            <a:endParaRPr lang="en-US" sz="1150" dirty="0"/>
          </a:p>
        </p:txBody>
      </p:sp>
      <p:sp>
        <p:nvSpPr>
          <p:cNvPr id="5" name="Text 3"/>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2800" b="1" dirty="0">
                <a:solidFill>
                  <a:srgbClr val="1C1916"/>
                </a:solidFill>
                <a:latin typeface="Cambria" pitchFamily="34" charset="0"/>
                <a:ea typeface="Cambria" pitchFamily="34" charset="-122"/>
                <a:cs typeface="Cambria" pitchFamily="34" charset="-120"/>
              </a:rPr>
              <a:t>Un problème symétrique</a:t>
            </a:r>
            <a:endParaRPr lang="en-US" sz="2800" dirty="0"/>
          </a:p>
        </p:txBody>
      </p:sp>
      <p:sp>
        <p:nvSpPr>
          <p:cNvPr id="6" name="Text 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938B7D"/>
                </a:solidFill>
                <a:latin typeface="Calibri" pitchFamily="34" charset="0"/>
                <a:ea typeface="Calibri" pitchFamily="34" charset="-122"/>
                <a:cs typeface="Calibri" pitchFamily="34" charset="-120"/>
              </a:rPr>
              <a:t>6</a:t>
            </a:r>
            <a:endParaRPr lang="en-US" sz="1000" dirty="0"/>
          </a:p>
        </p:txBody>
      </p:sp>
      <p:sp>
        <p:nvSpPr>
          <p:cNvPr id="7" name="Shape 5"/>
          <p:cNvSpPr/>
          <p:nvPr/>
        </p:nvSpPr>
        <p:spPr>
          <a:xfrm>
            <a:off x="548640" y="1371600"/>
            <a:ext cx="5349240" cy="2468880"/>
          </a:xfrm>
          <a:prstGeom prst="roundRect">
            <a:avLst>
              <a:gd name="adj" fmla="val 3333"/>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8" name="Text 6"/>
          <p:cNvSpPr txBox="1"/>
          <p:nvPr/>
        </p:nvSpPr>
        <p:spPr>
          <a:xfrm>
            <a:off x="786384" y="1554480"/>
            <a:ext cx="4873752" cy="310896"/>
          </a:xfrm>
          <a:prstGeom prst="rect">
            <a:avLst/>
          </a:prstGeom>
          <a:noFill/>
          <a:ln/>
        </p:spPr>
        <p:txBody>
          <a:bodyPr wrap="square" lIns="0" tIns="0" rIns="0" bIns="0" rtlCol="0" anchor="ctr"/>
          <a:lstStyle/>
          <a:p>
            <a:pPr indent="0" marL="0">
              <a:buNone/>
            </a:pPr>
            <a:r>
              <a:rPr lang="en-US" sz="1450" b="1" dirty="0">
                <a:solidFill>
                  <a:srgbClr val="E0492B"/>
                </a:solidFill>
                <a:latin typeface="Calibri" pitchFamily="34" charset="0"/>
                <a:ea typeface="Calibri" pitchFamily="34" charset="-122"/>
                <a:cs typeface="Calibri" pitchFamily="34" charset="-120"/>
              </a:rPr>
              <a:t>Côté étudiant</a:t>
            </a:r>
            <a:endParaRPr lang="en-US" sz="1450" dirty="0"/>
          </a:p>
        </p:txBody>
      </p:sp>
      <p:sp>
        <p:nvSpPr>
          <p:cNvPr id="9" name="Text 7"/>
          <p:cNvSpPr txBox="1"/>
          <p:nvPr/>
        </p:nvSpPr>
        <p:spPr>
          <a:xfrm>
            <a:off x="786384" y="1938528"/>
            <a:ext cx="4873752" cy="168249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Je rate des plans : l'information circule mal</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Je paie plein tarif alors que des offres étudiantes existent</a:t>
            </a:r>
            <a:endParaRPr lang="en-US" sz="1200" dirty="0"/>
          </a:p>
        </p:txBody>
      </p:sp>
      <p:sp>
        <p:nvSpPr>
          <p:cNvPr id="10" name="Shape 8"/>
          <p:cNvSpPr/>
          <p:nvPr/>
        </p:nvSpPr>
        <p:spPr>
          <a:xfrm>
            <a:off x="6263640" y="1371600"/>
            <a:ext cx="5349240" cy="2468880"/>
          </a:xfrm>
          <a:prstGeom prst="roundRect">
            <a:avLst>
              <a:gd name="adj" fmla="val 3333"/>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1" name="Text 9"/>
          <p:cNvSpPr txBox="1"/>
          <p:nvPr/>
        </p:nvSpPr>
        <p:spPr>
          <a:xfrm>
            <a:off x="6501384" y="1554480"/>
            <a:ext cx="4873752" cy="310896"/>
          </a:xfrm>
          <a:prstGeom prst="rect">
            <a:avLst/>
          </a:prstGeom>
          <a:noFill/>
          <a:ln/>
        </p:spPr>
        <p:txBody>
          <a:bodyPr wrap="square" lIns="0" tIns="0" rIns="0" bIns="0" rtlCol="0" anchor="ctr"/>
          <a:lstStyle/>
          <a:p>
            <a:pPr indent="0" marL="0">
              <a:buNone/>
            </a:pPr>
            <a:r>
              <a:rPr lang="en-US" sz="1450" b="1" dirty="0">
                <a:solidFill>
                  <a:srgbClr val="4A40C2"/>
                </a:solidFill>
                <a:latin typeface="Calibri" pitchFamily="34" charset="0"/>
                <a:ea typeface="Calibri" pitchFamily="34" charset="-122"/>
                <a:cs typeface="Calibri" pitchFamily="34" charset="-120"/>
              </a:rPr>
              <a:t>Côté établissement (Jean)</a:t>
            </a:r>
            <a:endParaRPr lang="en-US" sz="1450" dirty="0"/>
          </a:p>
        </p:txBody>
      </p:sp>
      <p:sp>
        <p:nvSpPr>
          <p:cNvPr id="12" name="Text 10"/>
          <p:cNvSpPr txBox="1"/>
          <p:nvPr/>
        </p:nvSpPr>
        <p:spPr>
          <a:xfrm>
            <a:off x="6501384" y="1938528"/>
            <a:ext cx="4873752" cy="168249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Ne sait pas combien de monde vient avant 22h le soir même</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Communique par flyers et posts Instagram qui se noient</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Aucune donnée : ni âge, ni école, ni horaires d'affluence</a:t>
            </a:r>
            <a:endParaRPr lang="en-US" sz="1200" dirty="0"/>
          </a:p>
        </p:txBody>
      </p:sp>
      <p:sp>
        <p:nvSpPr>
          <p:cNvPr id="13" name="Shape 11"/>
          <p:cNvSpPr/>
          <p:nvPr/>
        </p:nvSpPr>
        <p:spPr>
          <a:xfrm>
            <a:off x="548640" y="4069080"/>
            <a:ext cx="11064240" cy="1828800"/>
          </a:xfrm>
          <a:prstGeom prst="roundRect">
            <a:avLst>
              <a:gd name="adj" fmla="val 5000"/>
            </a:avLst>
          </a:prstGeom>
          <a:solidFill>
            <a:srgbClr val="1C1916"/>
          </a:solidFill>
          <a:ln w="12700">
            <a:solidFill>
              <a:srgbClr val="1C1916"/>
            </a:solidFill>
            <a:prstDash val="solid"/>
          </a:ln>
          <a:effectLst>
            <a:outerShdw sx="100000" sy="100000" kx="0" ky="0" algn="bl" rotWithShape="0" blurRad="177800" dist="38100" dir="5400000">
              <a:srgbClr val="1C1916">
                <a:alpha val="10000"/>
              </a:srgbClr>
            </a:outerShdw>
          </a:effectLst>
        </p:spPr>
      </p:sp>
      <p:sp>
        <p:nvSpPr>
          <p:cNvPr id="14" name="Text 12"/>
          <p:cNvSpPr txBox="1"/>
          <p:nvPr/>
        </p:nvSpPr>
        <p:spPr>
          <a:xfrm>
            <a:off x="914400" y="4325112"/>
            <a:ext cx="10332720" cy="1143000"/>
          </a:xfrm>
          <a:prstGeom prst="rect">
            <a:avLst/>
          </a:prstGeom>
          <a:noFill/>
          <a:ln/>
        </p:spPr>
        <p:txBody>
          <a:bodyPr wrap="square" lIns="0" tIns="0" rIns="0" bIns="0" rtlCol="0" anchor="ctr"/>
          <a:lstStyle/>
          <a:p>
            <a:pPr algn="ctr" indent="0" marL="0">
              <a:buNone/>
            </a:pPr>
            <a:r>
              <a:rPr lang="en-US" sz="2000" i="1" dirty="0">
                <a:solidFill>
                  <a:srgbClr val="FFFFFF"/>
                </a:solidFill>
                <a:latin typeface="Cambria" pitchFamily="34" charset="0"/>
                <a:ea typeface="Cambria" pitchFamily="34" charset="-122"/>
                <a:cs typeface="Cambria" pitchFamily="34" charset="-120"/>
              </a:rPr>
              <a:t>Comment permettre aux étudiants de se retrouver facilement, de profiter d'offres exclusives dans les établissements locaux et de s'organiser entre eux — le tout depuis une seule application pensée pour eux ?</a:t>
            </a:r>
            <a:endParaRPr lang="en-US" sz="2000" dirty="0"/>
          </a:p>
        </p:txBody>
      </p:sp>
      <p:sp>
        <p:nvSpPr>
          <p:cNvPr id="15" name="Text 13"/>
          <p:cNvSpPr txBox="1"/>
          <p:nvPr/>
        </p:nvSpPr>
        <p:spPr>
          <a:xfrm>
            <a:off x="914400" y="5486400"/>
            <a:ext cx="10332720" cy="320040"/>
          </a:xfrm>
          <a:prstGeom prst="rect">
            <a:avLst/>
          </a:prstGeom>
          <a:noFill/>
          <a:ln/>
        </p:spPr>
        <p:txBody>
          <a:bodyPr wrap="square" lIns="0" tIns="0" rIns="0" bIns="0" rtlCol="0" anchor="ctr"/>
          <a:lstStyle/>
          <a:p>
            <a:pPr algn="ctr" indent="0" marL="0">
              <a:buNone/>
            </a:pPr>
            <a:r>
              <a:rPr lang="en-US" sz="1100" dirty="0">
                <a:solidFill>
                  <a:srgbClr val="B9821A"/>
                </a:solidFill>
                <a:latin typeface="Calibri" pitchFamily="34" charset="0"/>
                <a:ea typeface="Calibri" pitchFamily="34" charset="-122"/>
                <a:cs typeface="Calibri" pitchFamily="34" charset="-120"/>
              </a:rPr>
              <a:t>— LA problématique de l'oral. Articuler lentement, marquer un temps d'arrêt avant et après.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601200" cy="256032"/>
          </a:xfrm>
          <a:prstGeom prst="rect">
            <a:avLst/>
          </a:prstGeom>
          <a:noFill/>
          <a:ln/>
        </p:spPr>
        <p:txBody>
          <a:bodyPr wrap="square" lIns="0" tIns="0" rIns="0" bIns="0" rtlCol="0" anchor="ctr"/>
          <a:lstStyle/>
          <a:p>
            <a:pPr indent="0" marL="0">
              <a:buNone/>
            </a:pPr>
            <a:r>
              <a:rPr lang="en-US" sz="1150" b="1" spc="300" kern="0" dirty="0">
                <a:solidFill>
                  <a:srgbClr val="E0492B"/>
                </a:solidFill>
                <a:latin typeface="Calibri" pitchFamily="34" charset="0"/>
                <a:ea typeface="Calibri" pitchFamily="34" charset="-122"/>
                <a:cs typeface="Calibri" pitchFamily="34" charset="-120"/>
              </a:rPr>
              <a:t>PARTIE 1 — CONTEXTE</a:t>
            </a:r>
            <a:endParaRPr lang="en-US" sz="1150" dirty="0"/>
          </a:p>
        </p:txBody>
      </p:sp>
      <p:sp>
        <p:nvSpPr>
          <p:cNvPr id="3" name="Shape 1"/>
          <p:cNvSpPr/>
          <p:nvPr/>
        </p:nvSpPr>
        <p:spPr>
          <a:xfrm>
            <a:off x="10241280" y="292608"/>
            <a:ext cx="1371600" cy="365760"/>
          </a:xfrm>
          <a:prstGeom prst="roundRect">
            <a:avLst>
              <a:gd name="adj" fmla="val 50000"/>
            </a:avLst>
          </a:prstGeom>
          <a:solidFill>
            <a:srgbClr val="1C1916"/>
          </a:solidFill>
          <a:ln w="12700">
            <a:solidFill>
              <a:srgbClr val="1C1916"/>
            </a:solidFill>
            <a:prstDash val="solid"/>
          </a:ln>
        </p:spPr>
      </p:sp>
      <p:sp>
        <p:nvSpPr>
          <p:cNvPr id="4" name="Text 2"/>
          <p:cNvSpPr txBox="1"/>
          <p:nvPr/>
        </p:nvSpPr>
        <p:spPr>
          <a:xfrm>
            <a:off x="10241280" y="292608"/>
            <a:ext cx="1371600" cy="365760"/>
          </a:xfrm>
          <a:prstGeom prst="rect">
            <a:avLst/>
          </a:prstGeom>
          <a:noFill/>
          <a:ln/>
        </p:spPr>
        <p:txBody>
          <a:bodyPr wrap="square" lIns="0" tIns="0" rIns="0" bIns="0" rtlCol="0" anchor="ctr"/>
          <a:lstStyle/>
          <a:p>
            <a:pPr algn="ctr" indent="0" marL="0">
              <a:buNone/>
            </a:pPr>
            <a:r>
              <a:rPr lang="en-US" sz="1150" b="1" dirty="0">
                <a:solidFill>
                  <a:srgbClr val="B9821A"/>
                </a:solidFill>
                <a:latin typeface="Calibri" pitchFamily="34" charset="0"/>
                <a:ea typeface="Calibri" pitchFamily="34" charset="-122"/>
                <a:cs typeface="Calibri" pitchFamily="34" charset="-120"/>
              </a:rPr>
              <a:t>04:30</a:t>
            </a:r>
            <a:endParaRPr lang="en-US" sz="1150" dirty="0"/>
          </a:p>
        </p:txBody>
      </p:sp>
      <p:sp>
        <p:nvSpPr>
          <p:cNvPr id="5" name="Text 3"/>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2800" b="1" dirty="0">
                <a:solidFill>
                  <a:srgbClr val="1C1916"/>
                </a:solidFill>
                <a:latin typeface="Cambria" pitchFamily="34" charset="0"/>
                <a:ea typeface="Cambria" pitchFamily="34" charset="-122"/>
                <a:cs typeface="Cambria" pitchFamily="34" charset="-120"/>
              </a:rPr>
              <a:t>Quatre personas, quatre fonctionnalités</a:t>
            </a:r>
            <a:endParaRPr lang="en-US" sz="2800" dirty="0"/>
          </a:p>
        </p:txBody>
      </p:sp>
      <p:sp>
        <p:nvSpPr>
          <p:cNvPr id="6" name="Text 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938B7D"/>
                </a:solidFill>
                <a:latin typeface="Calibri" pitchFamily="34" charset="0"/>
                <a:ea typeface="Calibri" pitchFamily="34" charset="-122"/>
                <a:cs typeface="Calibri" pitchFamily="34" charset="-120"/>
              </a:rPr>
              <a:t>7</a:t>
            </a:r>
            <a:endParaRPr lang="en-US" sz="1000" dirty="0"/>
          </a:p>
        </p:txBody>
      </p:sp>
      <p:sp>
        <p:nvSpPr>
          <p:cNvPr id="7" name="Shape 5"/>
          <p:cNvSpPr/>
          <p:nvPr/>
        </p:nvSpPr>
        <p:spPr>
          <a:xfrm>
            <a:off x="548640" y="1417320"/>
            <a:ext cx="2651760" cy="4480560"/>
          </a:xfrm>
          <a:prstGeom prst="roundRect">
            <a:avLst>
              <a:gd name="adj" fmla="val 3103"/>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8" name="Shape 6"/>
          <p:cNvSpPr/>
          <p:nvPr/>
        </p:nvSpPr>
        <p:spPr>
          <a:xfrm>
            <a:off x="1508760" y="1645920"/>
            <a:ext cx="731520" cy="731520"/>
          </a:xfrm>
          <a:prstGeom prst="ellipse">
            <a:avLst/>
          </a:prstGeom>
          <a:solidFill>
            <a:srgbClr val="E0492B"/>
          </a:solidFill>
          <a:ln/>
        </p:spPr>
      </p:sp>
      <p:sp>
        <p:nvSpPr>
          <p:cNvPr id="9" name="Text 7"/>
          <p:cNvSpPr txBox="1"/>
          <p:nvPr/>
        </p:nvSpPr>
        <p:spPr>
          <a:xfrm>
            <a:off x="1508760" y="164592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10" name="Text 8"/>
          <p:cNvSpPr txBox="1"/>
          <p:nvPr/>
        </p:nvSpPr>
        <p:spPr>
          <a:xfrm>
            <a:off x="548640" y="2514600"/>
            <a:ext cx="2651760" cy="365760"/>
          </a:xfrm>
          <a:prstGeom prst="rect">
            <a:avLst/>
          </a:prstGeom>
          <a:noFill/>
          <a:ln/>
        </p:spPr>
        <p:txBody>
          <a:bodyPr wrap="square" lIns="0" tIns="0" rIns="0" bIns="0" rtlCol="0" anchor="ctr"/>
          <a:lstStyle/>
          <a:p>
            <a:pPr algn="ctr" indent="0" marL="0">
              <a:buNone/>
            </a:pPr>
            <a:r>
              <a:rPr lang="en-US" sz="1900" b="1" dirty="0">
                <a:solidFill>
                  <a:srgbClr val="1C1916"/>
                </a:solidFill>
                <a:latin typeface="Cambria" pitchFamily="34" charset="0"/>
                <a:ea typeface="Cambria" pitchFamily="34" charset="-122"/>
                <a:cs typeface="Cambria" pitchFamily="34" charset="-120"/>
              </a:rPr>
              <a:t>Arthur</a:t>
            </a:r>
            <a:endParaRPr lang="en-US" sz="1900" dirty="0"/>
          </a:p>
        </p:txBody>
      </p:sp>
      <p:sp>
        <p:nvSpPr>
          <p:cNvPr id="11" name="Text 9"/>
          <p:cNvSpPr txBox="1"/>
          <p:nvPr/>
        </p:nvSpPr>
        <p:spPr>
          <a:xfrm>
            <a:off x="731520" y="2926080"/>
            <a:ext cx="2286000" cy="685800"/>
          </a:xfrm>
          <a:prstGeom prst="rect">
            <a:avLst/>
          </a:prstGeom>
          <a:noFill/>
          <a:ln/>
        </p:spPr>
        <p:txBody>
          <a:bodyPr wrap="square" lIns="0" tIns="0" rIns="0" bIns="0" rtlCol="0" anchor="ctr"/>
          <a:lstStyle/>
          <a:p>
            <a:pPr algn="ctr" indent="0" marL="0">
              <a:buNone/>
            </a:pPr>
            <a:r>
              <a:rPr lang="en-US" sz="1000" dirty="0">
                <a:solidFill>
                  <a:srgbClr val="5B554C"/>
                </a:solidFill>
                <a:latin typeface="Calibri" pitchFamily="34" charset="0"/>
                <a:ea typeface="Calibri" pitchFamily="34" charset="-122"/>
                <a:cs typeface="Calibri" pitchFamily="34" charset="-120"/>
              </a:rPr>
              <a:t>20 ans, Hesias, l'organisateur du groupe</a:t>
            </a:r>
            <a:endParaRPr lang="en-US" sz="1000" dirty="0"/>
          </a:p>
        </p:txBody>
      </p:sp>
      <p:sp>
        <p:nvSpPr>
          <p:cNvPr id="12" name="Text 10"/>
          <p:cNvSpPr txBox="1"/>
          <p:nvPr/>
        </p:nvSpPr>
        <p:spPr>
          <a:xfrm>
            <a:off x="731520" y="3657600"/>
            <a:ext cx="2286000" cy="1051560"/>
          </a:xfrm>
          <a:prstGeom prst="rect">
            <a:avLst/>
          </a:prstGeom>
          <a:noFill/>
          <a:ln/>
        </p:spPr>
        <p:txBody>
          <a:bodyPr wrap="square" lIns="0" tIns="0" rIns="0" bIns="0" rtlCol="0" anchor="ctr"/>
          <a:lstStyle/>
          <a:p>
            <a:pPr algn="ctr" indent="0" marL="0">
              <a:buNone/>
            </a:pPr>
            <a:r>
              <a:rPr lang="en-US" sz="1250" i="1" dirty="0">
                <a:solidFill>
                  <a:srgbClr val="1C1916"/>
                </a:solidFill>
                <a:latin typeface="Cambria" pitchFamily="34" charset="0"/>
                <a:ea typeface="Cambria" pitchFamily="34" charset="-122"/>
                <a:cs typeface="Cambria" pitchFamily="34" charset="-120"/>
              </a:rPr>
              <a:t>« Je rate des soirées, j'apprends l'event la veille. »</a:t>
            </a:r>
            <a:endParaRPr lang="en-US" sz="1250" dirty="0"/>
          </a:p>
        </p:txBody>
      </p:sp>
      <p:sp>
        <p:nvSpPr>
          <p:cNvPr id="13" name="Shape 11"/>
          <p:cNvSpPr/>
          <p:nvPr/>
        </p:nvSpPr>
        <p:spPr>
          <a:xfrm>
            <a:off x="777240" y="5074920"/>
            <a:ext cx="2194560" cy="548640"/>
          </a:xfrm>
          <a:prstGeom prst="roundRect">
            <a:avLst>
              <a:gd name="adj" fmla="val 50000"/>
            </a:avLst>
          </a:prstGeom>
          <a:solidFill>
            <a:srgbClr val="E0492B"/>
          </a:solidFill>
          <a:ln w="12700">
            <a:solidFill>
              <a:srgbClr val="E0492B"/>
            </a:solidFill>
            <a:prstDash val="solid"/>
          </a:ln>
        </p:spPr>
      </p:sp>
      <p:sp>
        <p:nvSpPr>
          <p:cNvPr id="14" name="Text 12"/>
          <p:cNvSpPr txBox="1"/>
          <p:nvPr/>
        </p:nvSpPr>
        <p:spPr>
          <a:xfrm>
            <a:off x="777240" y="5074920"/>
            <a:ext cx="219456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Flash Events</a:t>
            </a:r>
            <a:endParaRPr lang="en-US" sz="1100" dirty="0"/>
          </a:p>
        </p:txBody>
      </p:sp>
      <p:sp>
        <p:nvSpPr>
          <p:cNvPr id="15" name="Shape 13"/>
          <p:cNvSpPr/>
          <p:nvPr/>
        </p:nvSpPr>
        <p:spPr>
          <a:xfrm>
            <a:off x="3410712" y="1417320"/>
            <a:ext cx="2651760" cy="4480560"/>
          </a:xfrm>
          <a:prstGeom prst="roundRect">
            <a:avLst>
              <a:gd name="adj" fmla="val 3103"/>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6" name="Shape 14"/>
          <p:cNvSpPr/>
          <p:nvPr/>
        </p:nvSpPr>
        <p:spPr>
          <a:xfrm>
            <a:off x="4370832" y="1645920"/>
            <a:ext cx="731520" cy="731520"/>
          </a:xfrm>
          <a:prstGeom prst="ellipse">
            <a:avLst/>
          </a:prstGeom>
          <a:solidFill>
            <a:srgbClr val="4A40C2"/>
          </a:solidFill>
          <a:ln/>
        </p:spPr>
      </p:sp>
      <p:sp>
        <p:nvSpPr>
          <p:cNvPr id="17" name="Text 15"/>
          <p:cNvSpPr txBox="1"/>
          <p:nvPr/>
        </p:nvSpPr>
        <p:spPr>
          <a:xfrm>
            <a:off x="4370832" y="164592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L</a:t>
            </a:r>
            <a:endParaRPr lang="en-US" sz="2200" dirty="0"/>
          </a:p>
        </p:txBody>
      </p:sp>
      <p:sp>
        <p:nvSpPr>
          <p:cNvPr id="18" name="Text 16"/>
          <p:cNvSpPr txBox="1"/>
          <p:nvPr/>
        </p:nvSpPr>
        <p:spPr>
          <a:xfrm>
            <a:off x="3410712" y="2514600"/>
            <a:ext cx="2651760" cy="365760"/>
          </a:xfrm>
          <a:prstGeom prst="rect">
            <a:avLst/>
          </a:prstGeom>
          <a:noFill/>
          <a:ln/>
        </p:spPr>
        <p:txBody>
          <a:bodyPr wrap="square" lIns="0" tIns="0" rIns="0" bIns="0" rtlCol="0" anchor="ctr"/>
          <a:lstStyle/>
          <a:p>
            <a:pPr algn="ctr" indent="0" marL="0">
              <a:buNone/>
            </a:pPr>
            <a:r>
              <a:rPr lang="en-US" sz="1900" b="1" dirty="0">
                <a:solidFill>
                  <a:srgbClr val="1C1916"/>
                </a:solidFill>
                <a:latin typeface="Cambria" pitchFamily="34" charset="0"/>
                <a:ea typeface="Cambria" pitchFamily="34" charset="-122"/>
                <a:cs typeface="Cambria" pitchFamily="34" charset="-120"/>
              </a:rPr>
              <a:t>Léa</a:t>
            </a:r>
            <a:endParaRPr lang="en-US" sz="1900" dirty="0"/>
          </a:p>
        </p:txBody>
      </p:sp>
      <p:sp>
        <p:nvSpPr>
          <p:cNvPr id="19" name="Text 17"/>
          <p:cNvSpPr txBox="1"/>
          <p:nvPr/>
        </p:nvSpPr>
        <p:spPr>
          <a:xfrm>
            <a:off x="3593592" y="2926080"/>
            <a:ext cx="2286000" cy="685800"/>
          </a:xfrm>
          <a:prstGeom prst="rect">
            <a:avLst/>
          </a:prstGeom>
          <a:noFill/>
          <a:ln/>
        </p:spPr>
        <p:txBody>
          <a:bodyPr wrap="square" lIns="0" tIns="0" rIns="0" bIns="0" rtlCol="0" anchor="ctr"/>
          <a:lstStyle/>
          <a:p>
            <a:pPr algn="ctr" indent="0" marL="0">
              <a:buNone/>
            </a:pPr>
            <a:r>
              <a:rPr lang="en-US" sz="1000" dirty="0">
                <a:solidFill>
                  <a:srgbClr val="5B554C"/>
                </a:solidFill>
                <a:latin typeface="Calibri" pitchFamily="34" charset="0"/>
                <a:ea typeface="Calibri" pitchFamily="34" charset="-122"/>
                <a:cs typeface="Calibri" pitchFamily="34" charset="-120"/>
              </a:rPr>
              <a:t>22 ans, M1 Marketing SIGMA, très active réseaux</a:t>
            </a:r>
            <a:endParaRPr lang="en-US" sz="1000" dirty="0"/>
          </a:p>
        </p:txBody>
      </p:sp>
      <p:sp>
        <p:nvSpPr>
          <p:cNvPr id="20" name="Text 18"/>
          <p:cNvSpPr txBox="1"/>
          <p:nvPr/>
        </p:nvSpPr>
        <p:spPr>
          <a:xfrm>
            <a:off x="3593592" y="3657600"/>
            <a:ext cx="2286000" cy="1051560"/>
          </a:xfrm>
          <a:prstGeom prst="rect">
            <a:avLst/>
          </a:prstGeom>
          <a:noFill/>
          <a:ln/>
        </p:spPr>
        <p:txBody>
          <a:bodyPr wrap="square" lIns="0" tIns="0" rIns="0" bIns="0" rtlCol="0" anchor="ctr"/>
          <a:lstStyle/>
          <a:p>
            <a:pPr algn="ctr" indent="0" marL="0">
              <a:buNone/>
            </a:pPr>
            <a:r>
              <a:rPr lang="en-US" sz="1250" i="1" dirty="0">
                <a:solidFill>
                  <a:srgbClr val="1C1916"/>
                </a:solidFill>
                <a:latin typeface="Cambria" pitchFamily="34" charset="0"/>
                <a:ea typeface="Cambria" pitchFamily="34" charset="-122"/>
                <a:cs typeface="Cambria" pitchFamily="34" charset="-120"/>
              </a:rPr>
              <a:t>« Shotgun ou Time Out sont pensés pour Paris. »</a:t>
            </a:r>
            <a:endParaRPr lang="en-US" sz="1250" dirty="0"/>
          </a:p>
        </p:txBody>
      </p:sp>
      <p:sp>
        <p:nvSpPr>
          <p:cNvPr id="21" name="Shape 19"/>
          <p:cNvSpPr/>
          <p:nvPr/>
        </p:nvSpPr>
        <p:spPr>
          <a:xfrm>
            <a:off x="3639312" y="5074920"/>
            <a:ext cx="2194560" cy="548640"/>
          </a:xfrm>
          <a:prstGeom prst="roundRect">
            <a:avLst>
              <a:gd name="adj" fmla="val 50000"/>
            </a:avLst>
          </a:prstGeom>
          <a:solidFill>
            <a:srgbClr val="4A40C2"/>
          </a:solidFill>
          <a:ln w="12700">
            <a:solidFill>
              <a:srgbClr val="4A40C2"/>
            </a:solidFill>
            <a:prstDash val="solid"/>
          </a:ln>
        </p:spPr>
      </p:sp>
      <p:sp>
        <p:nvSpPr>
          <p:cNvPr id="22" name="Text 20"/>
          <p:cNvSpPr txBox="1"/>
          <p:nvPr/>
        </p:nvSpPr>
        <p:spPr>
          <a:xfrm>
            <a:off x="3639312" y="5074920"/>
            <a:ext cx="219456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Ancrage local</a:t>
            </a:r>
            <a:endParaRPr lang="en-US" sz="1100" dirty="0"/>
          </a:p>
        </p:txBody>
      </p:sp>
      <p:sp>
        <p:nvSpPr>
          <p:cNvPr id="23" name="Shape 21"/>
          <p:cNvSpPr/>
          <p:nvPr/>
        </p:nvSpPr>
        <p:spPr>
          <a:xfrm>
            <a:off x="6272784" y="1417320"/>
            <a:ext cx="2651760" cy="4480560"/>
          </a:xfrm>
          <a:prstGeom prst="roundRect">
            <a:avLst>
              <a:gd name="adj" fmla="val 3103"/>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24" name="Shape 22"/>
          <p:cNvSpPr/>
          <p:nvPr/>
        </p:nvSpPr>
        <p:spPr>
          <a:xfrm>
            <a:off x="7232904" y="1645920"/>
            <a:ext cx="731520" cy="731520"/>
          </a:xfrm>
          <a:prstGeom prst="ellipse">
            <a:avLst/>
          </a:prstGeom>
          <a:solidFill>
            <a:srgbClr val="B9821A"/>
          </a:solidFill>
          <a:ln/>
        </p:spPr>
      </p:sp>
      <p:sp>
        <p:nvSpPr>
          <p:cNvPr id="25" name="Text 23"/>
          <p:cNvSpPr txBox="1"/>
          <p:nvPr/>
        </p:nvSpPr>
        <p:spPr>
          <a:xfrm>
            <a:off x="7232904" y="164592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L</a:t>
            </a:r>
            <a:endParaRPr lang="en-US" sz="2200" dirty="0"/>
          </a:p>
        </p:txBody>
      </p:sp>
      <p:sp>
        <p:nvSpPr>
          <p:cNvPr id="26" name="Text 24"/>
          <p:cNvSpPr txBox="1"/>
          <p:nvPr/>
        </p:nvSpPr>
        <p:spPr>
          <a:xfrm>
            <a:off x="6272784" y="2514600"/>
            <a:ext cx="2651760" cy="365760"/>
          </a:xfrm>
          <a:prstGeom prst="rect">
            <a:avLst/>
          </a:prstGeom>
          <a:noFill/>
          <a:ln/>
        </p:spPr>
        <p:txBody>
          <a:bodyPr wrap="square" lIns="0" tIns="0" rIns="0" bIns="0" rtlCol="0" anchor="ctr"/>
          <a:lstStyle/>
          <a:p>
            <a:pPr algn="ctr" indent="0" marL="0">
              <a:buNone/>
            </a:pPr>
            <a:r>
              <a:rPr lang="en-US" sz="1900" b="1" dirty="0">
                <a:solidFill>
                  <a:srgbClr val="1C1916"/>
                </a:solidFill>
                <a:latin typeface="Cambria" pitchFamily="34" charset="0"/>
                <a:ea typeface="Cambria" pitchFamily="34" charset="-122"/>
                <a:cs typeface="Cambria" pitchFamily="34" charset="-120"/>
              </a:rPr>
              <a:t>Lucas</a:t>
            </a:r>
            <a:endParaRPr lang="en-US" sz="1900" dirty="0"/>
          </a:p>
        </p:txBody>
      </p:sp>
      <p:sp>
        <p:nvSpPr>
          <p:cNvPr id="27" name="Text 25"/>
          <p:cNvSpPr txBox="1"/>
          <p:nvPr/>
        </p:nvSpPr>
        <p:spPr>
          <a:xfrm>
            <a:off x="6455664" y="2926080"/>
            <a:ext cx="2286000" cy="685800"/>
          </a:xfrm>
          <a:prstGeom prst="rect">
            <a:avLst/>
          </a:prstGeom>
          <a:noFill/>
          <a:ln/>
        </p:spPr>
        <p:txBody>
          <a:bodyPr wrap="square" lIns="0" tIns="0" rIns="0" bIns="0" rtlCol="0" anchor="ctr"/>
          <a:lstStyle/>
          <a:p>
            <a:pPr algn="ctr" indent="0" marL="0">
              <a:buNone/>
            </a:pPr>
            <a:r>
              <a:rPr lang="en-US" sz="1000" dirty="0">
                <a:solidFill>
                  <a:srgbClr val="5B554C"/>
                </a:solidFill>
                <a:latin typeface="Calibri" pitchFamily="34" charset="0"/>
                <a:ea typeface="Calibri" pitchFamily="34" charset="-122"/>
                <a:cs typeface="Calibri" pitchFamily="34" charset="-120"/>
              </a:rPr>
              <a:t>20 ans, INP, arrivé cette année, budget serré</a:t>
            </a:r>
            <a:endParaRPr lang="en-US" sz="1000" dirty="0"/>
          </a:p>
        </p:txBody>
      </p:sp>
      <p:sp>
        <p:nvSpPr>
          <p:cNvPr id="28" name="Text 26"/>
          <p:cNvSpPr txBox="1"/>
          <p:nvPr/>
        </p:nvSpPr>
        <p:spPr>
          <a:xfrm>
            <a:off x="6455664" y="3657600"/>
            <a:ext cx="2286000" cy="1051560"/>
          </a:xfrm>
          <a:prstGeom prst="rect">
            <a:avLst/>
          </a:prstGeom>
          <a:noFill/>
          <a:ln/>
        </p:spPr>
        <p:txBody>
          <a:bodyPr wrap="square" lIns="0" tIns="0" rIns="0" bIns="0" rtlCol="0" anchor="ctr"/>
          <a:lstStyle/>
          <a:p>
            <a:pPr algn="ctr" indent="0" marL="0">
              <a:buNone/>
            </a:pPr>
            <a:r>
              <a:rPr lang="en-US" sz="1250" i="1" dirty="0">
                <a:solidFill>
                  <a:srgbClr val="1C1916"/>
                </a:solidFill>
                <a:latin typeface="Cambria" pitchFamily="34" charset="0"/>
                <a:ea typeface="Cambria" pitchFamily="34" charset="-122"/>
                <a:cs typeface="Cambria" pitchFamily="34" charset="-120"/>
              </a:rPr>
              <a:t>« Le running seul c'est démotivant. »</a:t>
            </a:r>
            <a:endParaRPr lang="en-US" sz="1250" dirty="0"/>
          </a:p>
        </p:txBody>
      </p:sp>
      <p:sp>
        <p:nvSpPr>
          <p:cNvPr id="29" name="Shape 27"/>
          <p:cNvSpPr/>
          <p:nvPr/>
        </p:nvSpPr>
        <p:spPr>
          <a:xfrm>
            <a:off x="6501384" y="5074920"/>
            <a:ext cx="2194560" cy="548640"/>
          </a:xfrm>
          <a:prstGeom prst="roundRect">
            <a:avLst>
              <a:gd name="adj" fmla="val 50000"/>
            </a:avLst>
          </a:prstGeom>
          <a:solidFill>
            <a:srgbClr val="B9821A"/>
          </a:solidFill>
          <a:ln w="12700">
            <a:solidFill>
              <a:srgbClr val="B9821A"/>
            </a:solidFill>
            <a:prstDash val="solid"/>
          </a:ln>
        </p:spPr>
      </p:sp>
      <p:sp>
        <p:nvSpPr>
          <p:cNvPr id="30" name="Text 28"/>
          <p:cNvSpPr txBox="1"/>
          <p:nvPr/>
        </p:nvSpPr>
        <p:spPr>
          <a:xfrm>
            <a:off x="6501384" y="5074920"/>
            <a:ext cx="219456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Squads sportives</a:t>
            </a:r>
            <a:endParaRPr lang="en-US" sz="1100" dirty="0"/>
          </a:p>
        </p:txBody>
      </p:sp>
      <p:sp>
        <p:nvSpPr>
          <p:cNvPr id="31" name="Shape 29"/>
          <p:cNvSpPr/>
          <p:nvPr/>
        </p:nvSpPr>
        <p:spPr>
          <a:xfrm>
            <a:off x="9134856" y="1417320"/>
            <a:ext cx="2651760" cy="4480560"/>
          </a:xfrm>
          <a:prstGeom prst="roundRect">
            <a:avLst>
              <a:gd name="adj" fmla="val 3103"/>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32" name="Shape 30"/>
          <p:cNvSpPr/>
          <p:nvPr/>
        </p:nvSpPr>
        <p:spPr>
          <a:xfrm>
            <a:off x="10094976" y="1645920"/>
            <a:ext cx="731520" cy="731520"/>
          </a:xfrm>
          <a:prstGeom prst="ellipse">
            <a:avLst/>
          </a:prstGeom>
          <a:solidFill>
            <a:srgbClr val="E0492B"/>
          </a:solidFill>
          <a:ln/>
        </p:spPr>
      </p:sp>
      <p:sp>
        <p:nvSpPr>
          <p:cNvPr id="33" name="Text 31"/>
          <p:cNvSpPr txBox="1"/>
          <p:nvPr/>
        </p:nvSpPr>
        <p:spPr>
          <a:xfrm>
            <a:off x="10094976" y="164592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J</a:t>
            </a:r>
            <a:endParaRPr lang="en-US" sz="2200" dirty="0"/>
          </a:p>
        </p:txBody>
      </p:sp>
      <p:sp>
        <p:nvSpPr>
          <p:cNvPr id="34" name="Text 32"/>
          <p:cNvSpPr txBox="1"/>
          <p:nvPr/>
        </p:nvSpPr>
        <p:spPr>
          <a:xfrm>
            <a:off x="9134856" y="2514600"/>
            <a:ext cx="2651760" cy="365760"/>
          </a:xfrm>
          <a:prstGeom prst="rect">
            <a:avLst/>
          </a:prstGeom>
          <a:noFill/>
          <a:ln/>
        </p:spPr>
        <p:txBody>
          <a:bodyPr wrap="square" lIns="0" tIns="0" rIns="0" bIns="0" rtlCol="0" anchor="ctr"/>
          <a:lstStyle/>
          <a:p>
            <a:pPr algn="ctr" indent="0" marL="0">
              <a:buNone/>
            </a:pPr>
            <a:r>
              <a:rPr lang="en-US" sz="1900" b="1" dirty="0">
                <a:solidFill>
                  <a:srgbClr val="1C1916"/>
                </a:solidFill>
                <a:latin typeface="Cambria" pitchFamily="34" charset="0"/>
                <a:ea typeface="Cambria" pitchFamily="34" charset="-122"/>
                <a:cs typeface="Cambria" pitchFamily="34" charset="-120"/>
              </a:rPr>
              <a:t>Jean</a:t>
            </a:r>
            <a:endParaRPr lang="en-US" sz="1900" dirty="0"/>
          </a:p>
        </p:txBody>
      </p:sp>
      <p:sp>
        <p:nvSpPr>
          <p:cNvPr id="35" name="Text 33"/>
          <p:cNvSpPr txBox="1"/>
          <p:nvPr/>
        </p:nvSpPr>
        <p:spPr>
          <a:xfrm>
            <a:off x="9317736" y="2926080"/>
            <a:ext cx="2286000" cy="685800"/>
          </a:xfrm>
          <a:prstGeom prst="rect">
            <a:avLst/>
          </a:prstGeom>
          <a:noFill/>
          <a:ln/>
        </p:spPr>
        <p:txBody>
          <a:bodyPr wrap="square" lIns="0" tIns="0" rIns="0" bIns="0" rtlCol="0" anchor="ctr"/>
          <a:lstStyle/>
          <a:p>
            <a:pPr algn="ctr" indent="0" marL="0">
              <a:buNone/>
            </a:pPr>
            <a:r>
              <a:rPr lang="en-US" sz="1000" dirty="0">
                <a:solidFill>
                  <a:srgbClr val="5B554C"/>
                </a:solidFill>
                <a:latin typeface="Calibri" pitchFamily="34" charset="0"/>
                <a:ea typeface="Calibri" pitchFamily="34" charset="-122"/>
                <a:cs typeface="Calibri" pitchFamily="34" charset="-120"/>
              </a:rPr>
              <a:t>38 ans, gérant de bar, 300-500€ com/mois</a:t>
            </a:r>
            <a:endParaRPr lang="en-US" sz="1000" dirty="0"/>
          </a:p>
        </p:txBody>
      </p:sp>
      <p:sp>
        <p:nvSpPr>
          <p:cNvPr id="36" name="Text 34"/>
          <p:cNvSpPr txBox="1"/>
          <p:nvPr/>
        </p:nvSpPr>
        <p:spPr>
          <a:xfrm>
            <a:off x="9317736" y="3657600"/>
            <a:ext cx="2286000" cy="1051560"/>
          </a:xfrm>
          <a:prstGeom prst="rect">
            <a:avLst/>
          </a:prstGeom>
          <a:noFill/>
          <a:ln/>
        </p:spPr>
        <p:txBody>
          <a:bodyPr wrap="square" lIns="0" tIns="0" rIns="0" bIns="0" rtlCol="0" anchor="ctr"/>
          <a:lstStyle/>
          <a:p>
            <a:pPr algn="ctr" indent="0" marL="0">
              <a:buNone/>
            </a:pPr>
            <a:r>
              <a:rPr lang="en-US" sz="1250" i="1" dirty="0">
                <a:solidFill>
                  <a:srgbClr val="1C1916"/>
                </a:solidFill>
                <a:latin typeface="Cambria" pitchFamily="34" charset="0"/>
                <a:ea typeface="Cambria" pitchFamily="34" charset="-122"/>
                <a:cs typeface="Cambria" pitchFamily="34" charset="-120"/>
              </a:rPr>
              <a:t>« Je veux remplir mon jeudi et savoir d'où viennent mes clients. »</a:t>
            </a:r>
            <a:endParaRPr lang="en-US" sz="1250" dirty="0"/>
          </a:p>
        </p:txBody>
      </p:sp>
      <p:sp>
        <p:nvSpPr>
          <p:cNvPr id="37" name="Shape 35"/>
          <p:cNvSpPr/>
          <p:nvPr/>
        </p:nvSpPr>
        <p:spPr>
          <a:xfrm>
            <a:off x="9363456" y="5074920"/>
            <a:ext cx="2194560" cy="548640"/>
          </a:xfrm>
          <a:prstGeom prst="roundRect">
            <a:avLst>
              <a:gd name="adj" fmla="val 50000"/>
            </a:avLst>
          </a:prstGeom>
          <a:solidFill>
            <a:srgbClr val="E0492B"/>
          </a:solidFill>
          <a:ln w="12700">
            <a:solidFill>
              <a:srgbClr val="E0492B"/>
            </a:solidFill>
            <a:prstDash val="solid"/>
          </a:ln>
        </p:spPr>
      </p:sp>
      <p:sp>
        <p:nvSpPr>
          <p:cNvPr id="38" name="Text 36"/>
          <p:cNvSpPr txBox="1"/>
          <p:nvPr/>
        </p:nvSpPr>
        <p:spPr>
          <a:xfrm>
            <a:off x="9363456" y="5074920"/>
            <a:ext cx="219456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Analytics &amp; check-in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601200" cy="256032"/>
          </a:xfrm>
          <a:prstGeom prst="rect">
            <a:avLst/>
          </a:prstGeom>
          <a:noFill/>
          <a:ln/>
        </p:spPr>
        <p:txBody>
          <a:bodyPr wrap="square" lIns="0" tIns="0" rIns="0" bIns="0" rtlCol="0" anchor="ctr"/>
          <a:lstStyle/>
          <a:p>
            <a:pPr indent="0" marL="0">
              <a:buNone/>
            </a:pPr>
            <a:r>
              <a:rPr lang="en-US" sz="1150" b="1" spc="300" kern="0" dirty="0">
                <a:solidFill>
                  <a:srgbClr val="E0492B"/>
                </a:solidFill>
                <a:latin typeface="Calibri" pitchFamily="34" charset="0"/>
                <a:ea typeface="Calibri" pitchFamily="34" charset="-122"/>
                <a:cs typeface="Calibri" pitchFamily="34" charset="-120"/>
              </a:rPr>
              <a:t>PARTIE 1 — CONTEXTE</a:t>
            </a:r>
            <a:endParaRPr lang="en-US" sz="1150" dirty="0"/>
          </a:p>
        </p:txBody>
      </p:sp>
      <p:sp>
        <p:nvSpPr>
          <p:cNvPr id="3" name="Shape 1"/>
          <p:cNvSpPr/>
          <p:nvPr/>
        </p:nvSpPr>
        <p:spPr>
          <a:xfrm>
            <a:off x="10241280" y="292608"/>
            <a:ext cx="1371600" cy="365760"/>
          </a:xfrm>
          <a:prstGeom prst="roundRect">
            <a:avLst>
              <a:gd name="adj" fmla="val 50000"/>
            </a:avLst>
          </a:prstGeom>
          <a:solidFill>
            <a:srgbClr val="1C1916"/>
          </a:solidFill>
          <a:ln w="12700">
            <a:solidFill>
              <a:srgbClr val="1C1916"/>
            </a:solidFill>
            <a:prstDash val="solid"/>
          </a:ln>
        </p:spPr>
      </p:sp>
      <p:sp>
        <p:nvSpPr>
          <p:cNvPr id="4" name="Text 2"/>
          <p:cNvSpPr txBox="1"/>
          <p:nvPr/>
        </p:nvSpPr>
        <p:spPr>
          <a:xfrm>
            <a:off x="10241280" y="292608"/>
            <a:ext cx="1371600" cy="365760"/>
          </a:xfrm>
          <a:prstGeom prst="rect">
            <a:avLst/>
          </a:prstGeom>
          <a:noFill/>
          <a:ln/>
        </p:spPr>
        <p:txBody>
          <a:bodyPr wrap="square" lIns="0" tIns="0" rIns="0" bIns="0" rtlCol="0" anchor="ctr"/>
          <a:lstStyle/>
          <a:p>
            <a:pPr algn="ctr" indent="0" marL="0">
              <a:buNone/>
            </a:pPr>
            <a:r>
              <a:rPr lang="en-US" sz="1150" b="1" dirty="0">
                <a:solidFill>
                  <a:srgbClr val="B9821A"/>
                </a:solidFill>
                <a:latin typeface="Calibri" pitchFamily="34" charset="0"/>
                <a:ea typeface="Calibri" pitchFamily="34" charset="-122"/>
                <a:cs typeface="Calibri" pitchFamily="34" charset="-120"/>
              </a:rPr>
              <a:t>05:45</a:t>
            </a:r>
            <a:endParaRPr lang="en-US" sz="1150" dirty="0"/>
          </a:p>
        </p:txBody>
      </p:sp>
      <p:sp>
        <p:nvSpPr>
          <p:cNvPr id="5" name="Text 3"/>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2800" b="1" dirty="0">
                <a:solidFill>
                  <a:srgbClr val="1C1916"/>
                </a:solidFill>
                <a:latin typeface="Cambria" pitchFamily="34" charset="0"/>
                <a:ea typeface="Cambria" pitchFamily="34" charset="-122"/>
                <a:cs typeface="Cambria" pitchFamily="34" charset="-120"/>
              </a:rPr>
              <a:t>Face à l'existant</a:t>
            </a:r>
            <a:endParaRPr lang="en-US" sz="2800" dirty="0"/>
          </a:p>
        </p:txBody>
      </p:sp>
      <p:sp>
        <p:nvSpPr>
          <p:cNvPr id="6" name="Text 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938B7D"/>
                </a:solidFill>
                <a:latin typeface="Calibri" pitchFamily="34" charset="0"/>
                <a:ea typeface="Calibri" pitchFamily="34" charset="-122"/>
                <a:cs typeface="Calibri" pitchFamily="34" charset="-120"/>
              </a:rPr>
              <a:t>8</a:t>
            </a:r>
            <a:endParaRPr lang="en-US" sz="1000" dirty="0"/>
          </a:p>
        </p:txBody>
      </p:sp>
      <p:sp>
        <p:nvSpPr>
          <p:cNvPr id="7" name="Shape 5"/>
          <p:cNvSpPr/>
          <p:nvPr/>
        </p:nvSpPr>
        <p:spPr>
          <a:xfrm>
            <a:off x="548640" y="1463040"/>
            <a:ext cx="7863840" cy="4206240"/>
          </a:xfrm>
          <a:prstGeom prst="roundRect">
            <a:avLst>
              <a:gd name="adj" fmla="val 1957"/>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8" name="Text 6"/>
          <p:cNvSpPr txBox="1"/>
          <p:nvPr/>
        </p:nvSpPr>
        <p:spPr>
          <a:xfrm>
            <a:off x="786384" y="1645920"/>
            <a:ext cx="7388352" cy="310896"/>
          </a:xfrm>
          <a:prstGeom prst="rect">
            <a:avLst/>
          </a:prstGeom>
          <a:noFill/>
          <a:ln/>
        </p:spPr>
        <p:txBody>
          <a:bodyPr wrap="square" lIns="0" tIns="0" rIns="0" bIns="0" rtlCol="0" anchor="ctr"/>
          <a:lstStyle/>
          <a:p>
            <a:pPr indent="0" marL="0">
              <a:buNone/>
            </a:pPr>
            <a:r>
              <a:rPr lang="en-US" sz="1450" b="1" dirty="0">
                <a:solidFill>
                  <a:srgbClr val="5B554C"/>
                </a:solidFill>
                <a:latin typeface="Calibri" pitchFamily="34" charset="0"/>
                <a:ea typeface="Calibri" pitchFamily="34" charset="-122"/>
                <a:cs typeface="Calibri" pitchFamily="34" charset="-120"/>
              </a:rPr>
              <a:t>Ce qui existe déjà… et pourquoi ça ne suffit pas</a:t>
            </a:r>
            <a:endParaRPr lang="en-US" sz="1450" dirty="0"/>
          </a:p>
        </p:txBody>
      </p:sp>
      <p:sp>
        <p:nvSpPr>
          <p:cNvPr id="9" name="Text 7"/>
          <p:cNvSpPr txBox="1"/>
          <p:nvPr/>
        </p:nvSpPr>
        <p:spPr>
          <a:xfrm>
            <a:off x="786384" y="2029968"/>
            <a:ext cx="7388352" cy="341985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Shotgun / Dice — centrés grandes villes, commissions trop lourdes pour un bar de quartier</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Facebook Events — plus utilisé par les étudiants</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Instagram — ni inscription, ni gestion de quota, ni donnée exploitable pour le gérant</a:t>
            </a:r>
            <a:endParaRPr lang="en-US" sz="1200" dirty="0"/>
          </a:p>
        </p:txBody>
      </p:sp>
      <p:sp>
        <p:nvSpPr>
          <p:cNvPr id="10" name="Shape 8"/>
          <p:cNvSpPr/>
          <p:nvPr/>
        </p:nvSpPr>
        <p:spPr>
          <a:xfrm>
            <a:off x="8686800" y="1463040"/>
            <a:ext cx="3474720" cy="4206240"/>
          </a:xfrm>
          <a:prstGeom prst="roundRect">
            <a:avLst>
              <a:gd name="adj" fmla="val 2368"/>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1" name="Text 9"/>
          <p:cNvSpPr txBox="1"/>
          <p:nvPr/>
        </p:nvSpPr>
        <p:spPr>
          <a:xfrm>
            <a:off x="8924544" y="1645920"/>
            <a:ext cx="2999232" cy="310896"/>
          </a:xfrm>
          <a:prstGeom prst="rect">
            <a:avLst/>
          </a:prstGeom>
          <a:noFill/>
          <a:ln/>
        </p:spPr>
        <p:txBody>
          <a:bodyPr wrap="square" lIns="0" tIns="0" rIns="0" bIns="0" rtlCol="0" anchor="ctr"/>
          <a:lstStyle/>
          <a:p>
            <a:pPr indent="0" marL="0">
              <a:buNone/>
            </a:pPr>
            <a:r>
              <a:rPr lang="en-US" sz="1450" b="1" dirty="0">
                <a:solidFill>
                  <a:srgbClr val="E0492B"/>
                </a:solidFill>
                <a:latin typeface="Calibri" pitchFamily="34" charset="0"/>
                <a:ea typeface="Calibri" pitchFamily="34" charset="-122"/>
                <a:cs typeface="Calibri" pitchFamily="34" charset="-120"/>
              </a:rPr>
              <a:t>StudentLink</a:t>
            </a:r>
            <a:endParaRPr lang="en-US" sz="1450" dirty="0"/>
          </a:p>
        </p:txBody>
      </p:sp>
      <p:sp>
        <p:nvSpPr>
          <p:cNvPr id="12" name="Text 10"/>
          <p:cNvSpPr txBox="1"/>
          <p:nvPr/>
        </p:nvSpPr>
        <p:spPr>
          <a:xfrm>
            <a:off x="8924544" y="2029968"/>
            <a:ext cx="2999232" cy="341985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Local</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Gratuit pour l'étudiant</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Orienté données pour le partenaire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601200" cy="256032"/>
          </a:xfrm>
          <a:prstGeom prst="rect">
            <a:avLst/>
          </a:prstGeom>
          <a:noFill/>
          <a:ln/>
        </p:spPr>
        <p:txBody>
          <a:bodyPr wrap="square" lIns="0" tIns="0" rIns="0" bIns="0" rtlCol="0" anchor="ctr"/>
          <a:lstStyle/>
          <a:p>
            <a:pPr indent="0" marL="0">
              <a:buNone/>
            </a:pPr>
            <a:r>
              <a:rPr lang="en-US" sz="1150" b="1" spc="300" kern="0" dirty="0">
                <a:solidFill>
                  <a:srgbClr val="E0492B"/>
                </a:solidFill>
                <a:latin typeface="Calibri" pitchFamily="34" charset="0"/>
                <a:ea typeface="Calibri" pitchFamily="34" charset="-122"/>
                <a:cs typeface="Calibri" pitchFamily="34" charset="-120"/>
              </a:rPr>
              <a:t>PARTIE 2 — CAHIER DES CHARGES</a:t>
            </a:r>
            <a:endParaRPr lang="en-US" sz="1150" dirty="0"/>
          </a:p>
        </p:txBody>
      </p:sp>
      <p:sp>
        <p:nvSpPr>
          <p:cNvPr id="3" name="Shape 1"/>
          <p:cNvSpPr/>
          <p:nvPr/>
        </p:nvSpPr>
        <p:spPr>
          <a:xfrm>
            <a:off x="10241280" y="292608"/>
            <a:ext cx="1371600" cy="365760"/>
          </a:xfrm>
          <a:prstGeom prst="roundRect">
            <a:avLst>
              <a:gd name="adj" fmla="val 50000"/>
            </a:avLst>
          </a:prstGeom>
          <a:solidFill>
            <a:srgbClr val="1C1916"/>
          </a:solidFill>
          <a:ln w="12700">
            <a:solidFill>
              <a:srgbClr val="1C1916"/>
            </a:solidFill>
            <a:prstDash val="solid"/>
          </a:ln>
        </p:spPr>
      </p:sp>
      <p:sp>
        <p:nvSpPr>
          <p:cNvPr id="4" name="Text 2"/>
          <p:cNvSpPr txBox="1"/>
          <p:nvPr/>
        </p:nvSpPr>
        <p:spPr>
          <a:xfrm>
            <a:off x="10241280" y="292608"/>
            <a:ext cx="1371600" cy="365760"/>
          </a:xfrm>
          <a:prstGeom prst="rect">
            <a:avLst/>
          </a:prstGeom>
          <a:noFill/>
          <a:ln/>
        </p:spPr>
        <p:txBody>
          <a:bodyPr wrap="square" lIns="0" tIns="0" rIns="0" bIns="0" rtlCol="0" anchor="ctr"/>
          <a:lstStyle/>
          <a:p>
            <a:pPr algn="ctr" indent="0" marL="0">
              <a:buNone/>
            </a:pPr>
            <a:r>
              <a:rPr lang="en-US" sz="1150" b="1" dirty="0">
                <a:solidFill>
                  <a:srgbClr val="B9821A"/>
                </a:solidFill>
                <a:latin typeface="Calibri" pitchFamily="34" charset="0"/>
                <a:ea typeface="Calibri" pitchFamily="34" charset="-122"/>
                <a:cs typeface="Calibri" pitchFamily="34" charset="-120"/>
              </a:rPr>
              <a:t>06:00</a:t>
            </a:r>
            <a:endParaRPr lang="en-US" sz="1150" dirty="0"/>
          </a:p>
        </p:txBody>
      </p:sp>
      <p:sp>
        <p:nvSpPr>
          <p:cNvPr id="5" name="Text 3"/>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2800" b="1" dirty="0">
                <a:solidFill>
                  <a:srgbClr val="1C1916"/>
                </a:solidFill>
                <a:latin typeface="Cambria" pitchFamily="34" charset="0"/>
                <a:ea typeface="Cambria" pitchFamily="34" charset="-122"/>
                <a:cs typeface="Cambria" pitchFamily="34" charset="-120"/>
              </a:rPr>
              <a:t>42 fonctionnalités, priorisées MoSCoW</a:t>
            </a:r>
            <a:endParaRPr lang="en-US" sz="2800" dirty="0"/>
          </a:p>
        </p:txBody>
      </p:sp>
      <p:sp>
        <p:nvSpPr>
          <p:cNvPr id="6" name="Text 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938B7D"/>
                </a:solidFill>
                <a:latin typeface="Calibri" pitchFamily="34" charset="0"/>
                <a:ea typeface="Calibri" pitchFamily="34" charset="-122"/>
                <a:cs typeface="Calibri" pitchFamily="34" charset="-120"/>
              </a:rPr>
              <a:t>9</a:t>
            </a:r>
            <a:endParaRPr lang="en-US" sz="1000" dirty="0"/>
          </a:p>
        </p:txBody>
      </p:sp>
      <p:sp>
        <p:nvSpPr>
          <p:cNvPr id="7" name="Shape 5"/>
          <p:cNvSpPr/>
          <p:nvPr/>
        </p:nvSpPr>
        <p:spPr>
          <a:xfrm>
            <a:off x="548640" y="1371600"/>
            <a:ext cx="2030136" cy="384048"/>
          </a:xfrm>
          <a:prstGeom prst="rect">
            <a:avLst/>
          </a:prstGeom>
          <a:solidFill>
            <a:srgbClr val="1C1916"/>
          </a:solidFill>
          <a:ln/>
        </p:spPr>
      </p:sp>
      <p:sp>
        <p:nvSpPr>
          <p:cNvPr id="8" name="Text 6"/>
          <p:cNvSpPr txBox="1"/>
          <p:nvPr/>
        </p:nvSpPr>
        <p:spPr>
          <a:xfrm>
            <a:off x="640080" y="1426464"/>
            <a:ext cx="1847256"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Module</a:t>
            </a:r>
            <a:endParaRPr lang="en-US" sz="1050" dirty="0"/>
          </a:p>
        </p:txBody>
      </p:sp>
      <p:sp>
        <p:nvSpPr>
          <p:cNvPr id="9" name="Shape 7"/>
          <p:cNvSpPr/>
          <p:nvPr/>
        </p:nvSpPr>
        <p:spPr>
          <a:xfrm>
            <a:off x="2578776" y="1371600"/>
            <a:ext cx="7105475" cy="384048"/>
          </a:xfrm>
          <a:prstGeom prst="rect">
            <a:avLst/>
          </a:prstGeom>
          <a:solidFill>
            <a:srgbClr val="1C1916"/>
          </a:solidFill>
          <a:ln/>
        </p:spPr>
      </p:sp>
      <p:sp>
        <p:nvSpPr>
          <p:cNvPr id="10" name="Text 8"/>
          <p:cNvSpPr txBox="1"/>
          <p:nvPr/>
        </p:nvSpPr>
        <p:spPr>
          <a:xfrm>
            <a:off x="2670216" y="1426464"/>
            <a:ext cx="6922595"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Fonctionnalités principales</a:t>
            </a:r>
            <a:endParaRPr lang="en-US" sz="1050" dirty="0"/>
          </a:p>
        </p:txBody>
      </p:sp>
      <p:sp>
        <p:nvSpPr>
          <p:cNvPr id="11" name="Shape 9"/>
          <p:cNvSpPr/>
          <p:nvPr/>
        </p:nvSpPr>
        <p:spPr>
          <a:xfrm>
            <a:off x="9684251" y="1371600"/>
            <a:ext cx="1928629" cy="384048"/>
          </a:xfrm>
          <a:prstGeom prst="rect">
            <a:avLst/>
          </a:prstGeom>
          <a:solidFill>
            <a:srgbClr val="1C1916"/>
          </a:solidFill>
          <a:ln/>
        </p:spPr>
      </p:sp>
      <p:sp>
        <p:nvSpPr>
          <p:cNvPr id="12" name="Text 10"/>
          <p:cNvSpPr txBox="1"/>
          <p:nvPr/>
        </p:nvSpPr>
        <p:spPr>
          <a:xfrm>
            <a:off x="9775691" y="1426464"/>
            <a:ext cx="1745749"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Priorité</a:t>
            </a:r>
            <a:endParaRPr lang="en-US" sz="1050" dirty="0"/>
          </a:p>
        </p:txBody>
      </p:sp>
      <p:sp>
        <p:nvSpPr>
          <p:cNvPr id="13" name="Shape 11"/>
          <p:cNvSpPr/>
          <p:nvPr/>
        </p:nvSpPr>
        <p:spPr>
          <a:xfrm>
            <a:off x="548640" y="1755648"/>
            <a:ext cx="2030136" cy="658368"/>
          </a:xfrm>
          <a:prstGeom prst="rect">
            <a:avLst/>
          </a:prstGeom>
          <a:solidFill>
            <a:srgbClr val="FFFFFF"/>
          </a:solidFill>
          <a:ln w="9525">
            <a:solidFill>
              <a:srgbClr val="DED6C6"/>
            </a:solidFill>
            <a:prstDash val="solid"/>
          </a:ln>
        </p:spPr>
      </p:sp>
      <p:sp>
        <p:nvSpPr>
          <p:cNvPr id="14" name="Text 12"/>
          <p:cNvSpPr txBox="1"/>
          <p:nvPr/>
        </p:nvSpPr>
        <p:spPr>
          <a:xfrm>
            <a:off x="640080" y="1801368"/>
            <a:ext cx="1847256" cy="566928"/>
          </a:xfrm>
          <a:prstGeom prst="rect">
            <a:avLst/>
          </a:prstGeom>
          <a:noFill/>
          <a:ln/>
        </p:spPr>
        <p:txBody>
          <a:bodyPr wrap="square" lIns="0" tIns="0" rIns="0" bIns="0" rtlCol="0" anchor="t"/>
          <a:lstStyle/>
          <a:p>
            <a:pPr indent="0" marL="0">
              <a:buNone/>
            </a:pPr>
            <a:r>
              <a:rPr lang="en-US" sz="1050" b="1" dirty="0">
                <a:solidFill>
                  <a:srgbClr val="1C1916"/>
                </a:solidFill>
                <a:latin typeface="Calibri" pitchFamily="34" charset="0"/>
                <a:ea typeface="Calibri" pitchFamily="34" charset="-122"/>
                <a:cs typeface="Calibri" pitchFamily="34" charset="-120"/>
              </a:rPr>
              <a:t>Authentification</a:t>
            </a:r>
            <a:endParaRPr lang="en-US" sz="1050" dirty="0"/>
          </a:p>
        </p:txBody>
      </p:sp>
      <p:sp>
        <p:nvSpPr>
          <p:cNvPr id="15" name="Shape 13"/>
          <p:cNvSpPr/>
          <p:nvPr/>
        </p:nvSpPr>
        <p:spPr>
          <a:xfrm>
            <a:off x="2578776" y="1755648"/>
            <a:ext cx="7105475" cy="658368"/>
          </a:xfrm>
          <a:prstGeom prst="rect">
            <a:avLst/>
          </a:prstGeom>
          <a:solidFill>
            <a:srgbClr val="FFFFFF"/>
          </a:solidFill>
          <a:ln w="9525">
            <a:solidFill>
              <a:srgbClr val="DED6C6"/>
            </a:solidFill>
            <a:prstDash val="solid"/>
          </a:ln>
        </p:spPr>
      </p:sp>
      <p:sp>
        <p:nvSpPr>
          <p:cNvPr id="16" name="Text 14"/>
          <p:cNvSpPr txBox="1"/>
          <p:nvPr/>
        </p:nvSpPr>
        <p:spPr>
          <a:xfrm>
            <a:off x="2670216" y="1801368"/>
            <a:ext cx="6922595" cy="566928"/>
          </a:xfrm>
          <a:prstGeom prst="rect">
            <a:avLst/>
          </a:prstGeom>
          <a:noFill/>
          <a:ln/>
        </p:spPr>
        <p:txBody>
          <a:bodyPr wrap="square" lIns="0" tIns="0" rIns="0" bIns="0" rtlCol="0" anchor="t"/>
          <a:lstStyle/>
          <a:p>
            <a:pPr indent="0" marL="0">
              <a:buNone/>
            </a:pPr>
            <a:r>
              <a:rPr lang="en-US" sz="1050" dirty="0">
                <a:solidFill>
                  <a:srgbClr val="333333"/>
                </a:solidFill>
                <a:latin typeface="Calibri" pitchFamily="34" charset="0"/>
                <a:ea typeface="Calibri" pitchFamily="34" charset="-122"/>
                <a:cs typeface="Calibri" pitchFamily="34" charset="-120"/>
              </a:rPr>
              <a:t>Inscription, connexion, mot de passe oublié, onboarding</a:t>
            </a:r>
            <a:endParaRPr lang="en-US" sz="1050" dirty="0"/>
          </a:p>
        </p:txBody>
      </p:sp>
      <p:sp>
        <p:nvSpPr>
          <p:cNvPr id="17" name="Shape 15"/>
          <p:cNvSpPr/>
          <p:nvPr/>
        </p:nvSpPr>
        <p:spPr>
          <a:xfrm>
            <a:off x="9684251" y="1755648"/>
            <a:ext cx="1928629" cy="658368"/>
          </a:xfrm>
          <a:prstGeom prst="rect">
            <a:avLst/>
          </a:prstGeom>
          <a:solidFill>
            <a:srgbClr val="FFFFFF"/>
          </a:solidFill>
          <a:ln w="9525">
            <a:solidFill>
              <a:srgbClr val="DED6C6"/>
            </a:solidFill>
            <a:prstDash val="solid"/>
          </a:ln>
        </p:spPr>
      </p:sp>
      <p:sp>
        <p:nvSpPr>
          <p:cNvPr id="18" name="Text 16"/>
          <p:cNvSpPr txBox="1"/>
          <p:nvPr/>
        </p:nvSpPr>
        <p:spPr>
          <a:xfrm>
            <a:off x="9775691" y="1801368"/>
            <a:ext cx="1745749" cy="566928"/>
          </a:xfrm>
          <a:prstGeom prst="rect">
            <a:avLst/>
          </a:prstGeom>
          <a:noFill/>
          <a:ln/>
        </p:spPr>
        <p:txBody>
          <a:bodyPr wrap="square" lIns="0" tIns="0" rIns="0" bIns="0" rtlCol="0" anchor="t"/>
          <a:lstStyle/>
          <a:p>
            <a:pPr indent="0" marL="0">
              <a:buNone/>
            </a:pPr>
            <a:r>
              <a:rPr lang="en-US" sz="1050" dirty="0">
                <a:solidFill>
                  <a:srgbClr val="333333"/>
                </a:solidFill>
                <a:latin typeface="Calibri" pitchFamily="34" charset="0"/>
                <a:ea typeface="Calibri" pitchFamily="34" charset="-122"/>
                <a:cs typeface="Calibri" pitchFamily="34" charset="-120"/>
              </a:rPr>
              <a:t>MUST</a:t>
            </a:r>
            <a:endParaRPr lang="en-US" sz="1050" dirty="0"/>
          </a:p>
        </p:txBody>
      </p:sp>
      <p:sp>
        <p:nvSpPr>
          <p:cNvPr id="19" name="Shape 17"/>
          <p:cNvSpPr/>
          <p:nvPr/>
        </p:nvSpPr>
        <p:spPr>
          <a:xfrm>
            <a:off x="548640" y="2414016"/>
            <a:ext cx="2030136" cy="658368"/>
          </a:xfrm>
          <a:prstGeom prst="rect">
            <a:avLst/>
          </a:prstGeom>
          <a:solidFill>
            <a:srgbClr val="F7F3EA"/>
          </a:solidFill>
          <a:ln w="9525">
            <a:solidFill>
              <a:srgbClr val="DED6C6"/>
            </a:solidFill>
            <a:prstDash val="solid"/>
          </a:ln>
        </p:spPr>
      </p:sp>
      <p:sp>
        <p:nvSpPr>
          <p:cNvPr id="20" name="Text 18"/>
          <p:cNvSpPr txBox="1"/>
          <p:nvPr/>
        </p:nvSpPr>
        <p:spPr>
          <a:xfrm>
            <a:off x="640080" y="2459736"/>
            <a:ext cx="1847256" cy="566928"/>
          </a:xfrm>
          <a:prstGeom prst="rect">
            <a:avLst/>
          </a:prstGeom>
          <a:noFill/>
          <a:ln/>
        </p:spPr>
        <p:txBody>
          <a:bodyPr wrap="square" lIns="0" tIns="0" rIns="0" bIns="0" rtlCol="0" anchor="t"/>
          <a:lstStyle/>
          <a:p>
            <a:pPr indent="0" marL="0">
              <a:buNone/>
            </a:pPr>
            <a:r>
              <a:rPr lang="en-US" sz="1050" b="1" dirty="0">
                <a:solidFill>
                  <a:srgbClr val="1C1916"/>
                </a:solidFill>
                <a:latin typeface="Calibri" pitchFamily="34" charset="0"/>
                <a:ea typeface="Calibri" pitchFamily="34" charset="-122"/>
                <a:cs typeface="Calibri" pitchFamily="34" charset="-120"/>
              </a:rPr>
              <a:t>Événements</a:t>
            </a:r>
            <a:endParaRPr lang="en-US" sz="1050" dirty="0"/>
          </a:p>
        </p:txBody>
      </p:sp>
      <p:sp>
        <p:nvSpPr>
          <p:cNvPr id="21" name="Shape 19"/>
          <p:cNvSpPr/>
          <p:nvPr/>
        </p:nvSpPr>
        <p:spPr>
          <a:xfrm>
            <a:off x="2578776" y="2414016"/>
            <a:ext cx="7105475" cy="658368"/>
          </a:xfrm>
          <a:prstGeom prst="rect">
            <a:avLst/>
          </a:prstGeom>
          <a:solidFill>
            <a:srgbClr val="F7F3EA"/>
          </a:solidFill>
          <a:ln w="9525">
            <a:solidFill>
              <a:srgbClr val="DED6C6"/>
            </a:solidFill>
            <a:prstDash val="solid"/>
          </a:ln>
        </p:spPr>
      </p:sp>
      <p:sp>
        <p:nvSpPr>
          <p:cNvPr id="22" name="Text 20"/>
          <p:cNvSpPr txBox="1"/>
          <p:nvPr/>
        </p:nvSpPr>
        <p:spPr>
          <a:xfrm>
            <a:off x="2670216" y="2459736"/>
            <a:ext cx="6922595" cy="566928"/>
          </a:xfrm>
          <a:prstGeom prst="rect">
            <a:avLst/>
          </a:prstGeom>
          <a:noFill/>
          <a:ln/>
        </p:spPr>
        <p:txBody>
          <a:bodyPr wrap="square" lIns="0" tIns="0" rIns="0" bIns="0" rtlCol="0" anchor="t"/>
          <a:lstStyle/>
          <a:p>
            <a:pPr indent="0" marL="0">
              <a:buNone/>
            </a:pPr>
            <a:r>
              <a:rPr lang="en-US" sz="1050" dirty="0">
                <a:solidFill>
                  <a:srgbClr val="333333"/>
                </a:solidFill>
                <a:latin typeface="Calibri" pitchFamily="34" charset="0"/>
                <a:ea typeface="Calibri" pitchFamily="34" charset="-122"/>
                <a:cs typeface="Calibri" pitchFamily="34" charset="-120"/>
              </a:rPr>
              <a:t>Explorer avec filtres, détail, inscription, annulation, Flash Events, invitation</a:t>
            </a:r>
            <a:endParaRPr lang="en-US" sz="1050" dirty="0"/>
          </a:p>
        </p:txBody>
      </p:sp>
      <p:sp>
        <p:nvSpPr>
          <p:cNvPr id="23" name="Shape 21"/>
          <p:cNvSpPr/>
          <p:nvPr/>
        </p:nvSpPr>
        <p:spPr>
          <a:xfrm>
            <a:off x="9684251" y="2414016"/>
            <a:ext cx="1928629" cy="658368"/>
          </a:xfrm>
          <a:prstGeom prst="rect">
            <a:avLst/>
          </a:prstGeom>
          <a:solidFill>
            <a:srgbClr val="F7F3EA"/>
          </a:solidFill>
          <a:ln w="9525">
            <a:solidFill>
              <a:srgbClr val="DED6C6"/>
            </a:solidFill>
            <a:prstDash val="solid"/>
          </a:ln>
        </p:spPr>
      </p:sp>
      <p:sp>
        <p:nvSpPr>
          <p:cNvPr id="24" name="Text 22"/>
          <p:cNvSpPr txBox="1"/>
          <p:nvPr/>
        </p:nvSpPr>
        <p:spPr>
          <a:xfrm>
            <a:off x="9775691" y="2459736"/>
            <a:ext cx="1745749" cy="566928"/>
          </a:xfrm>
          <a:prstGeom prst="rect">
            <a:avLst/>
          </a:prstGeom>
          <a:noFill/>
          <a:ln/>
        </p:spPr>
        <p:txBody>
          <a:bodyPr wrap="square" lIns="0" tIns="0" rIns="0" bIns="0" rtlCol="0" anchor="t"/>
          <a:lstStyle/>
          <a:p>
            <a:pPr indent="0" marL="0">
              <a:buNone/>
            </a:pPr>
            <a:r>
              <a:rPr lang="en-US" sz="1050" dirty="0">
                <a:solidFill>
                  <a:srgbClr val="333333"/>
                </a:solidFill>
                <a:latin typeface="Calibri" pitchFamily="34" charset="0"/>
                <a:ea typeface="Calibri" pitchFamily="34" charset="-122"/>
                <a:cs typeface="Calibri" pitchFamily="34" charset="-120"/>
              </a:rPr>
              <a:t>MUST</a:t>
            </a:r>
            <a:endParaRPr lang="en-US" sz="1050" dirty="0"/>
          </a:p>
        </p:txBody>
      </p:sp>
      <p:sp>
        <p:nvSpPr>
          <p:cNvPr id="25" name="Shape 23"/>
          <p:cNvSpPr/>
          <p:nvPr/>
        </p:nvSpPr>
        <p:spPr>
          <a:xfrm>
            <a:off x="548640" y="3072384"/>
            <a:ext cx="2030136" cy="658368"/>
          </a:xfrm>
          <a:prstGeom prst="rect">
            <a:avLst/>
          </a:prstGeom>
          <a:solidFill>
            <a:srgbClr val="FFFFFF"/>
          </a:solidFill>
          <a:ln w="9525">
            <a:solidFill>
              <a:srgbClr val="DED6C6"/>
            </a:solidFill>
            <a:prstDash val="solid"/>
          </a:ln>
        </p:spPr>
      </p:sp>
      <p:sp>
        <p:nvSpPr>
          <p:cNvPr id="26" name="Text 24"/>
          <p:cNvSpPr txBox="1"/>
          <p:nvPr/>
        </p:nvSpPr>
        <p:spPr>
          <a:xfrm>
            <a:off x="640080" y="3118104"/>
            <a:ext cx="1847256" cy="566928"/>
          </a:xfrm>
          <a:prstGeom prst="rect">
            <a:avLst/>
          </a:prstGeom>
          <a:noFill/>
          <a:ln/>
        </p:spPr>
        <p:txBody>
          <a:bodyPr wrap="square" lIns="0" tIns="0" rIns="0" bIns="0" rtlCol="0" anchor="t"/>
          <a:lstStyle/>
          <a:p>
            <a:pPr indent="0" marL="0">
              <a:buNone/>
            </a:pPr>
            <a:r>
              <a:rPr lang="en-US" sz="1050" b="1" dirty="0">
                <a:solidFill>
                  <a:srgbClr val="1C1916"/>
                </a:solidFill>
                <a:latin typeface="Calibri" pitchFamily="34" charset="0"/>
                <a:ea typeface="Calibri" pitchFamily="34" charset="-122"/>
                <a:cs typeface="Calibri" pitchFamily="34" charset="-120"/>
              </a:rPr>
              <a:t>Wallet</a:t>
            </a:r>
            <a:endParaRPr lang="en-US" sz="1050" dirty="0"/>
          </a:p>
        </p:txBody>
      </p:sp>
      <p:sp>
        <p:nvSpPr>
          <p:cNvPr id="27" name="Shape 25"/>
          <p:cNvSpPr/>
          <p:nvPr/>
        </p:nvSpPr>
        <p:spPr>
          <a:xfrm>
            <a:off x="2578776" y="3072384"/>
            <a:ext cx="7105475" cy="658368"/>
          </a:xfrm>
          <a:prstGeom prst="rect">
            <a:avLst/>
          </a:prstGeom>
          <a:solidFill>
            <a:srgbClr val="FFFFFF"/>
          </a:solidFill>
          <a:ln w="9525">
            <a:solidFill>
              <a:srgbClr val="DED6C6"/>
            </a:solidFill>
            <a:prstDash val="solid"/>
          </a:ln>
        </p:spPr>
      </p:sp>
      <p:sp>
        <p:nvSpPr>
          <p:cNvPr id="28" name="Text 26"/>
          <p:cNvSpPr txBox="1"/>
          <p:nvPr/>
        </p:nvSpPr>
        <p:spPr>
          <a:xfrm>
            <a:off x="2670216" y="3118104"/>
            <a:ext cx="6922595" cy="566928"/>
          </a:xfrm>
          <a:prstGeom prst="rect">
            <a:avLst/>
          </a:prstGeom>
          <a:noFill/>
          <a:ln/>
        </p:spPr>
        <p:txBody>
          <a:bodyPr wrap="square" lIns="0" tIns="0" rIns="0" bIns="0" rtlCol="0" anchor="t"/>
          <a:lstStyle/>
          <a:p>
            <a:pPr indent="0" marL="0">
              <a:buNone/>
            </a:pPr>
            <a:r>
              <a:rPr lang="en-US" sz="1050" dirty="0">
                <a:solidFill>
                  <a:srgbClr val="333333"/>
                </a:solidFill>
                <a:latin typeface="Calibri" pitchFamily="34" charset="0"/>
                <a:ea typeface="Calibri" pitchFamily="34" charset="-122"/>
                <a:cs typeface="Calibri" pitchFamily="34" charset="-120"/>
              </a:rPr>
              <a:t>Pass QR actifs, historique, cumul des économies, avis après check-in</a:t>
            </a:r>
            <a:endParaRPr lang="en-US" sz="1050" dirty="0"/>
          </a:p>
        </p:txBody>
      </p:sp>
      <p:sp>
        <p:nvSpPr>
          <p:cNvPr id="29" name="Shape 27"/>
          <p:cNvSpPr/>
          <p:nvPr/>
        </p:nvSpPr>
        <p:spPr>
          <a:xfrm>
            <a:off x="9684251" y="3072384"/>
            <a:ext cx="1928629" cy="658368"/>
          </a:xfrm>
          <a:prstGeom prst="rect">
            <a:avLst/>
          </a:prstGeom>
          <a:solidFill>
            <a:srgbClr val="FFFFFF"/>
          </a:solidFill>
          <a:ln w="9525">
            <a:solidFill>
              <a:srgbClr val="DED6C6"/>
            </a:solidFill>
            <a:prstDash val="solid"/>
          </a:ln>
        </p:spPr>
      </p:sp>
      <p:sp>
        <p:nvSpPr>
          <p:cNvPr id="30" name="Text 28"/>
          <p:cNvSpPr txBox="1"/>
          <p:nvPr/>
        </p:nvSpPr>
        <p:spPr>
          <a:xfrm>
            <a:off x="9775691" y="3118104"/>
            <a:ext cx="1745749" cy="566928"/>
          </a:xfrm>
          <a:prstGeom prst="rect">
            <a:avLst/>
          </a:prstGeom>
          <a:noFill/>
          <a:ln/>
        </p:spPr>
        <p:txBody>
          <a:bodyPr wrap="square" lIns="0" tIns="0" rIns="0" bIns="0" rtlCol="0" anchor="t"/>
          <a:lstStyle/>
          <a:p>
            <a:pPr indent="0" marL="0">
              <a:buNone/>
            </a:pPr>
            <a:r>
              <a:rPr lang="en-US" sz="1050" dirty="0">
                <a:solidFill>
                  <a:srgbClr val="333333"/>
                </a:solidFill>
                <a:latin typeface="Calibri" pitchFamily="34" charset="0"/>
                <a:ea typeface="Calibri" pitchFamily="34" charset="-122"/>
                <a:cs typeface="Calibri" pitchFamily="34" charset="-120"/>
              </a:rPr>
              <a:t>MUST</a:t>
            </a:r>
            <a:endParaRPr lang="en-US" sz="1050" dirty="0"/>
          </a:p>
        </p:txBody>
      </p:sp>
      <p:sp>
        <p:nvSpPr>
          <p:cNvPr id="31" name="Shape 29"/>
          <p:cNvSpPr/>
          <p:nvPr/>
        </p:nvSpPr>
        <p:spPr>
          <a:xfrm>
            <a:off x="548640" y="3730752"/>
            <a:ext cx="2030136" cy="658368"/>
          </a:xfrm>
          <a:prstGeom prst="rect">
            <a:avLst/>
          </a:prstGeom>
          <a:solidFill>
            <a:srgbClr val="F7F3EA"/>
          </a:solidFill>
          <a:ln w="9525">
            <a:solidFill>
              <a:srgbClr val="DED6C6"/>
            </a:solidFill>
            <a:prstDash val="solid"/>
          </a:ln>
        </p:spPr>
      </p:sp>
      <p:sp>
        <p:nvSpPr>
          <p:cNvPr id="32" name="Text 30"/>
          <p:cNvSpPr txBox="1"/>
          <p:nvPr/>
        </p:nvSpPr>
        <p:spPr>
          <a:xfrm>
            <a:off x="640080" y="3776472"/>
            <a:ext cx="1847256" cy="566928"/>
          </a:xfrm>
          <a:prstGeom prst="rect">
            <a:avLst/>
          </a:prstGeom>
          <a:noFill/>
          <a:ln/>
        </p:spPr>
        <p:txBody>
          <a:bodyPr wrap="square" lIns="0" tIns="0" rIns="0" bIns="0" rtlCol="0" anchor="t"/>
          <a:lstStyle/>
          <a:p>
            <a:pPr indent="0" marL="0">
              <a:buNone/>
            </a:pPr>
            <a:r>
              <a:rPr lang="en-US" sz="1050" b="1" dirty="0">
                <a:solidFill>
                  <a:srgbClr val="1C1916"/>
                </a:solidFill>
                <a:latin typeface="Calibri" pitchFamily="34" charset="0"/>
                <a:ea typeface="Calibri" pitchFamily="34" charset="-122"/>
                <a:cs typeface="Calibri" pitchFamily="34" charset="-120"/>
              </a:rPr>
              <a:t>Social</a:t>
            </a:r>
            <a:endParaRPr lang="en-US" sz="1050" dirty="0"/>
          </a:p>
        </p:txBody>
      </p:sp>
      <p:sp>
        <p:nvSpPr>
          <p:cNvPr id="33" name="Shape 31"/>
          <p:cNvSpPr/>
          <p:nvPr/>
        </p:nvSpPr>
        <p:spPr>
          <a:xfrm>
            <a:off x="2578776" y="3730752"/>
            <a:ext cx="7105475" cy="658368"/>
          </a:xfrm>
          <a:prstGeom prst="rect">
            <a:avLst/>
          </a:prstGeom>
          <a:solidFill>
            <a:srgbClr val="F7F3EA"/>
          </a:solidFill>
          <a:ln w="9525">
            <a:solidFill>
              <a:srgbClr val="DED6C6"/>
            </a:solidFill>
            <a:prstDash val="solid"/>
          </a:ln>
        </p:spPr>
      </p:sp>
      <p:sp>
        <p:nvSpPr>
          <p:cNvPr id="34" name="Text 32"/>
          <p:cNvSpPr txBox="1"/>
          <p:nvPr/>
        </p:nvSpPr>
        <p:spPr>
          <a:xfrm>
            <a:off x="2670216" y="3776472"/>
            <a:ext cx="6922595" cy="566928"/>
          </a:xfrm>
          <a:prstGeom prst="rect">
            <a:avLst/>
          </a:prstGeom>
          <a:noFill/>
          <a:ln/>
        </p:spPr>
        <p:txBody>
          <a:bodyPr wrap="square" lIns="0" tIns="0" rIns="0" bIns="0" rtlCol="0" anchor="t"/>
          <a:lstStyle/>
          <a:p>
            <a:pPr indent="0" marL="0">
              <a:buNone/>
            </a:pPr>
            <a:r>
              <a:rPr lang="en-US" sz="1050" dirty="0">
                <a:solidFill>
                  <a:srgbClr val="333333"/>
                </a:solidFill>
                <a:latin typeface="Calibri" pitchFamily="34" charset="0"/>
                <a:ea typeface="Calibri" pitchFamily="34" charset="-122"/>
                <a:cs typeface="Calibri" pitchFamily="34" charset="-120"/>
              </a:rPr>
              <a:t>Suivre un étudiant, profil public, recherche par nom/école/intérêt</a:t>
            </a:r>
            <a:endParaRPr lang="en-US" sz="1050" dirty="0"/>
          </a:p>
        </p:txBody>
      </p:sp>
      <p:sp>
        <p:nvSpPr>
          <p:cNvPr id="35" name="Shape 33"/>
          <p:cNvSpPr/>
          <p:nvPr/>
        </p:nvSpPr>
        <p:spPr>
          <a:xfrm>
            <a:off x="9684251" y="3730752"/>
            <a:ext cx="1928629" cy="658368"/>
          </a:xfrm>
          <a:prstGeom prst="rect">
            <a:avLst/>
          </a:prstGeom>
          <a:solidFill>
            <a:srgbClr val="F7F3EA"/>
          </a:solidFill>
          <a:ln w="9525">
            <a:solidFill>
              <a:srgbClr val="DED6C6"/>
            </a:solidFill>
            <a:prstDash val="solid"/>
          </a:ln>
        </p:spPr>
      </p:sp>
      <p:sp>
        <p:nvSpPr>
          <p:cNvPr id="36" name="Text 34"/>
          <p:cNvSpPr txBox="1"/>
          <p:nvPr/>
        </p:nvSpPr>
        <p:spPr>
          <a:xfrm>
            <a:off x="9775691" y="3776472"/>
            <a:ext cx="1745749" cy="566928"/>
          </a:xfrm>
          <a:prstGeom prst="rect">
            <a:avLst/>
          </a:prstGeom>
          <a:noFill/>
          <a:ln/>
        </p:spPr>
        <p:txBody>
          <a:bodyPr wrap="square" lIns="0" tIns="0" rIns="0" bIns="0" rtlCol="0" anchor="t"/>
          <a:lstStyle/>
          <a:p>
            <a:pPr indent="0" marL="0">
              <a:buNone/>
            </a:pPr>
            <a:r>
              <a:rPr lang="en-US" sz="1050" dirty="0">
                <a:solidFill>
                  <a:srgbClr val="333333"/>
                </a:solidFill>
                <a:latin typeface="Calibri" pitchFamily="34" charset="0"/>
                <a:ea typeface="Calibri" pitchFamily="34" charset="-122"/>
                <a:cs typeface="Calibri" pitchFamily="34" charset="-120"/>
              </a:rPr>
              <a:t>MUST</a:t>
            </a:r>
            <a:endParaRPr lang="en-US" sz="1050" dirty="0"/>
          </a:p>
        </p:txBody>
      </p:sp>
      <p:sp>
        <p:nvSpPr>
          <p:cNvPr id="37" name="Shape 35"/>
          <p:cNvSpPr/>
          <p:nvPr/>
        </p:nvSpPr>
        <p:spPr>
          <a:xfrm>
            <a:off x="548640" y="4389120"/>
            <a:ext cx="2030136" cy="658368"/>
          </a:xfrm>
          <a:prstGeom prst="rect">
            <a:avLst/>
          </a:prstGeom>
          <a:solidFill>
            <a:srgbClr val="FFFFFF"/>
          </a:solidFill>
          <a:ln w="9525">
            <a:solidFill>
              <a:srgbClr val="DED6C6"/>
            </a:solidFill>
            <a:prstDash val="solid"/>
          </a:ln>
        </p:spPr>
      </p:sp>
      <p:sp>
        <p:nvSpPr>
          <p:cNvPr id="38" name="Text 36"/>
          <p:cNvSpPr txBox="1"/>
          <p:nvPr/>
        </p:nvSpPr>
        <p:spPr>
          <a:xfrm>
            <a:off x="640080" y="4434840"/>
            <a:ext cx="1847256" cy="566928"/>
          </a:xfrm>
          <a:prstGeom prst="rect">
            <a:avLst/>
          </a:prstGeom>
          <a:noFill/>
          <a:ln/>
        </p:spPr>
        <p:txBody>
          <a:bodyPr wrap="square" lIns="0" tIns="0" rIns="0" bIns="0" rtlCol="0" anchor="t"/>
          <a:lstStyle/>
          <a:p>
            <a:pPr indent="0" marL="0">
              <a:buNone/>
            </a:pPr>
            <a:r>
              <a:rPr lang="en-US" sz="1050" b="1" dirty="0">
                <a:solidFill>
                  <a:srgbClr val="1C1916"/>
                </a:solidFill>
                <a:latin typeface="Calibri" pitchFamily="34" charset="0"/>
                <a:ea typeface="Calibri" pitchFamily="34" charset="-122"/>
                <a:cs typeface="Calibri" pitchFamily="34" charset="-120"/>
              </a:rPr>
              <a:t>Squads</a:t>
            </a:r>
            <a:endParaRPr lang="en-US" sz="1050" dirty="0"/>
          </a:p>
        </p:txBody>
      </p:sp>
      <p:sp>
        <p:nvSpPr>
          <p:cNvPr id="39" name="Shape 37"/>
          <p:cNvSpPr/>
          <p:nvPr/>
        </p:nvSpPr>
        <p:spPr>
          <a:xfrm>
            <a:off x="2578776" y="4389120"/>
            <a:ext cx="7105475" cy="658368"/>
          </a:xfrm>
          <a:prstGeom prst="rect">
            <a:avLst/>
          </a:prstGeom>
          <a:solidFill>
            <a:srgbClr val="FFFFFF"/>
          </a:solidFill>
          <a:ln w="9525">
            <a:solidFill>
              <a:srgbClr val="DED6C6"/>
            </a:solidFill>
            <a:prstDash val="solid"/>
          </a:ln>
        </p:spPr>
      </p:sp>
      <p:sp>
        <p:nvSpPr>
          <p:cNvPr id="40" name="Text 38"/>
          <p:cNvSpPr txBox="1"/>
          <p:nvPr/>
        </p:nvSpPr>
        <p:spPr>
          <a:xfrm>
            <a:off x="2670216" y="4434840"/>
            <a:ext cx="6922595" cy="566928"/>
          </a:xfrm>
          <a:prstGeom prst="rect">
            <a:avLst/>
          </a:prstGeom>
          <a:noFill/>
          <a:ln/>
        </p:spPr>
        <p:txBody>
          <a:bodyPr wrap="square" lIns="0" tIns="0" rIns="0" bIns="0" rtlCol="0" anchor="t"/>
          <a:lstStyle/>
          <a:p>
            <a:pPr indent="0" marL="0">
              <a:buNone/>
            </a:pPr>
            <a:r>
              <a:rPr lang="en-US" sz="1050" dirty="0">
                <a:solidFill>
                  <a:srgbClr val="333333"/>
                </a:solidFill>
                <a:latin typeface="Calibri" pitchFamily="34" charset="0"/>
                <a:ea typeface="Calibri" pitchFamily="34" charset="-122"/>
                <a:cs typeface="Calibri" pitchFamily="34" charset="-120"/>
              </a:rPr>
              <a:t>Créer, rejoindre, quitter, consulter les membres, inviter</a:t>
            </a:r>
            <a:endParaRPr lang="en-US" sz="1050" dirty="0"/>
          </a:p>
        </p:txBody>
      </p:sp>
      <p:sp>
        <p:nvSpPr>
          <p:cNvPr id="41" name="Shape 39"/>
          <p:cNvSpPr/>
          <p:nvPr/>
        </p:nvSpPr>
        <p:spPr>
          <a:xfrm>
            <a:off x="9684251" y="4389120"/>
            <a:ext cx="1928629" cy="658368"/>
          </a:xfrm>
          <a:prstGeom prst="rect">
            <a:avLst/>
          </a:prstGeom>
          <a:solidFill>
            <a:srgbClr val="FFFFFF"/>
          </a:solidFill>
          <a:ln w="9525">
            <a:solidFill>
              <a:srgbClr val="DED6C6"/>
            </a:solidFill>
            <a:prstDash val="solid"/>
          </a:ln>
        </p:spPr>
      </p:sp>
      <p:sp>
        <p:nvSpPr>
          <p:cNvPr id="42" name="Text 40"/>
          <p:cNvSpPr txBox="1"/>
          <p:nvPr/>
        </p:nvSpPr>
        <p:spPr>
          <a:xfrm>
            <a:off x="9775691" y="4434840"/>
            <a:ext cx="1745749" cy="566928"/>
          </a:xfrm>
          <a:prstGeom prst="rect">
            <a:avLst/>
          </a:prstGeom>
          <a:noFill/>
          <a:ln/>
        </p:spPr>
        <p:txBody>
          <a:bodyPr wrap="square" lIns="0" tIns="0" rIns="0" bIns="0" rtlCol="0" anchor="t"/>
          <a:lstStyle/>
          <a:p>
            <a:pPr indent="0" marL="0">
              <a:buNone/>
            </a:pPr>
            <a:r>
              <a:rPr lang="en-US" sz="1050" dirty="0">
                <a:solidFill>
                  <a:srgbClr val="333333"/>
                </a:solidFill>
                <a:latin typeface="Calibri" pitchFamily="34" charset="0"/>
                <a:ea typeface="Calibri" pitchFamily="34" charset="-122"/>
                <a:cs typeface="Calibri" pitchFamily="34" charset="-120"/>
              </a:rPr>
              <a:t>MUST</a:t>
            </a:r>
            <a:endParaRPr lang="en-US" sz="1050" dirty="0"/>
          </a:p>
        </p:txBody>
      </p:sp>
      <p:sp>
        <p:nvSpPr>
          <p:cNvPr id="43" name="Shape 41"/>
          <p:cNvSpPr/>
          <p:nvPr/>
        </p:nvSpPr>
        <p:spPr>
          <a:xfrm>
            <a:off x="548640" y="5047488"/>
            <a:ext cx="2030136" cy="658368"/>
          </a:xfrm>
          <a:prstGeom prst="rect">
            <a:avLst/>
          </a:prstGeom>
          <a:solidFill>
            <a:srgbClr val="F7F3EA"/>
          </a:solidFill>
          <a:ln w="9525">
            <a:solidFill>
              <a:srgbClr val="DED6C6"/>
            </a:solidFill>
            <a:prstDash val="solid"/>
          </a:ln>
        </p:spPr>
      </p:sp>
      <p:sp>
        <p:nvSpPr>
          <p:cNvPr id="44" name="Text 42"/>
          <p:cNvSpPr txBox="1"/>
          <p:nvPr/>
        </p:nvSpPr>
        <p:spPr>
          <a:xfrm>
            <a:off x="640080" y="5093208"/>
            <a:ext cx="1847256" cy="566928"/>
          </a:xfrm>
          <a:prstGeom prst="rect">
            <a:avLst/>
          </a:prstGeom>
          <a:noFill/>
          <a:ln/>
        </p:spPr>
        <p:txBody>
          <a:bodyPr wrap="square" lIns="0" tIns="0" rIns="0" bIns="0" rtlCol="0" anchor="t"/>
          <a:lstStyle/>
          <a:p>
            <a:pPr indent="0" marL="0">
              <a:buNone/>
            </a:pPr>
            <a:r>
              <a:rPr lang="en-US" sz="1050" b="1" dirty="0">
                <a:solidFill>
                  <a:srgbClr val="1C1916"/>
                </a:solidFill>
                <a:latin typeface="Calibri" pitchFamily="34" charset="0"/>
                <a:ea typeface="Calibri" pitchFamily="34" charset="-122"/>
                <a:cs typeface="Calibri" pitchFamily="34" charset="-120"/>
              </a:rPr>
              <a:t>Gamification</a:t>
            </a:r>
            <a:endParaRPr lang="en-US" sz="1050" dirty="0"/>
          </a:p>
        </p:txBody>
      </p:sp>
      <p:sp>
        <p:nvSpPr>
          <p:cNvPr id="45" name="Shape 43"/>
          <p:cNvSpPr/>
          <p:nvPr/>
        </p:nvSpPr>
        <p:spPr>
          <a:xfrm>
            <a:off x="2578776" y="5047488"/>
            <a:ext cx="7105475" cy="658368"/>
          </a:xfrm>
          <a:prstGeom prst="rect">
            <a:avLst/>
          </a:prstGeom>
          <a:solidFill>
            <a:srgbClr val="F7F3EA"/>
          </a:solidFill>
          <a:ln w="9525">
            <a:solidFill>
              <a:srgbClr val="DED6C6"/>
            </a:solidFill>
            <a:prstDash val="solid"/>
          </a:ln>
        </p:spPr>
      </p:sp>
      <p:sp>
        <p:nvSpPr>
          <p:cNvPr id="46" name="Text 44"/>
          <p:cNvSpPr txBox="1"/>
          <p:nvPr/>
        </p:nvSpPr>
        <p:spPr>
          <a:xfrm>
            <a:off x="2670216" y="5093208"/>
            <a:ext cx="6922595" cy="566928"/>
          </a:xfrm>
          <a:prstGeom prst="rect">
            <a:avLst/>
          </a:prstGeom>
          <a:noFill/>
          <a:ln/>
        </p:spPr>
        <p:txBody>
          <a:bodyPr wrap="square" lIns="0" tIns="0" rIns="0" bIns="0" rtlCol="0" anchor="t"/>
          <a:lstStyle/>
          <a:p>
            <a:pPr indent="0" marL="0">
              <a:buNone/>
            </a:pPr>
            <a:r>
              <a:rPr lang="en-US" sz="1050" dirty="0">
                <a:solidFill>
                  <a:srgbClr val="333333"/>
                </a:solidFill>
                <a:latin typeface="Calibri" pitchFamily="34" charset="0"/>
                <a:ea typeface="Calibri" pitchFamily="34" charset="-122"/>
                <a:cs typeface="Calibri" pitchFamily="34" charset="-120"/>
              </a:rPr>
              <a:t>Calcul d'XP, niveaux progressifs, déblocage automatique des badges</a:t>
            </a:r>
            <a:endParaRPr lang="en-US" sz="1050" dirty="0"/>
          </a:p>
        </p:txBody>
      </p:sp>
      <p:sp>
        <p:nvSpPr>
          <p:cNvPr id="47" name="Shape 45"/>
          <p:cNvSpPr/>
          <p:nvPr/>
        </p:nvSpPr>
        <p:spPr>
          <a:xfrm>
            <a:off x="9684251" y="5047488"/>
            <a:ext cx="1928629" cy="658368"/>
          </a:xfrm>
          <a:prstGeom prst="rect">
            <a:avLst/>
          </a:prstGeom>
          <a:solidFill>
            <a:srgbClr val="F7F3EA"/>
          </a:solidFill>
          <a:ln w="9525">
            <a:solidFill>
              <a:srgbClr val="DED6C6"/>
            </a:solidFill>
            <a:prstDash val="solid"/>
          </a:ln>
        </p:spPr>
      </p:sp>
      <p:sp>
        <p:nvSpPr>
          <p:cNvPr id="48" name="Text 46"/>
          <p:cNvSpPr txBox="1"/>
          <p:nvPr/>
        </p:nvSpPr>
        <p:spPr>
          <a:xfrm>
            <a:off x="9775691" y="5093208"/>
            <a:ext cx="1745749" cy="566928"/>
          </a:xfrm>
          <a:prstGeom prst="rect">
            <a:avLst/>
          </a:prstGeom>
          <a:noFill/>
          <a:ln/>
        </p:spPr>
        <p:txBody>
          <a:bodyPr wrap="square" lIns="0" tIns="0" rIns="0" bIns="0" rtlCol="0" anchor="t"/>
          <a:lstStyle/>
          <a:p>
            <a:pPr indent="0" marL="0">
              <a:buNone/>
            </a:pPr>
            <a:r>
              <a:rPr lang="en-US" sz="1050" dirty="0">
                <a:solidFill>
                  <a:srgbClr val="333333"/>
                </a:solidFill>
                <a:latin typeface="Calibri" pitchFamily="34" charset="0"/>
                <a:ea typeface="Calibri" pitchFamily="34" charset="-122"/>
                <a:cs typeface="Calibri" pitchFamily="34" charset="-120"/>
              </a:rPr>
              <a:t>SHOULD</a:t>
            </a:r>
            <a:endParaRPr lang="en-US" sz="1050" dirty="0"/>
          </a:p>
        </p:txBody>
      </p:sp>
      <p:sp>
        <p:nvSpPr>
          <p:cNvPr id="49" name="Shape 47"/>
          <p:cNvSpPr/>
          <p:nvPr/>
        </p:nvSpPr>
        <p:spPr>
          <a:xfrm>
            <a:off x="548640" y="5705856"/>
            <a:ext cx="2030136" cy="658368"/>
          </a:xfrm>
          <a:prstGeom prst="rect">
            <a:avLst/>
          </a:prstGeom>
          <a:solidFill>
            <a:srgbClr val="FFFFFF"/>
          </a:solidFill>
          <a:ln w="9525">
            <a:solidFill>
              <a:srgbClr val="DED6C6"/>
            </a:solidFill>
            <a:prstDash val="solid"/>
          </a:ln>
        </p:spPr>
      </p:sp>
      <p:sp>
        <p:nvSpPr>
          <p:cNvPr id="50" name="Text 48"/>
          <p:cNvSpPr txBox="1"/>
          <p:nvPr/>
        </p:nvSpPr>
        <p:spPr>
          <a:xfrm>
            <a:off x="640080" y="5751576"/>
            <a:ext cx="1847256" cy="566928"/>
          </a:xfrm>
          <a:prstGeom prst="rect">
            <a:avLst/>
          </a:prstGeom>
          <a:noFill/>
          <a:ln/>
        </p:spPr>
        <p:txBody>
          <a:bodyPr wrap="square" lIns="0" tIns="0" rIns="0" bIns="0" rtlCol="0" anchor="t"/>
          <a:lstStyle/>
          <a:p>
            <a:pPr indent="0" marL="0">
              <a:buNone/>
            </a:pPr>
            <a:r>
              <a:rPr lang="en-US" sz="1050" b="1" dirty="0">
                <a:solidFill>
                  <a:srgbClr val="1C1916"/>
                </a:solidFill>
                <a:latin typeface="Calibri" pitchFamily="34" charset="0"/>
                <a:ea typeface="Calibri" pitchFamily="34" charset="-122"/>
                <a:cs typeface="Calibri" pitchFamily="34" charset="-120"/>
              </a:rPr>
              <a:t>Partenaire</a:t>
            </a:r>
            <a:endParaRPr lang="en-US" sz="1050" dirty="0"/>
          </a:p>
        </p:txBody>
      </p:sp>
      <p:sp>
        <p:nvSpPr>
          <p:cNvPr id="51" name="Shape 49"/>
          <p:cNvSpPr/>
          <p:nvPr/>
        </p:nvSpPr>
        <p:spPr>
          <a:xfrm>
            <a:off x="2578776" y="5705856"/>
            <a:ext cx="7105475" cy="658368"/>
          </a:xfrm>
          <a:prstGeom prst="rect">
            <a:avLst/>
          </a:prstGeom>
          <a:solidFill>
            <a:srgbClr val="FFFFFF"/>
          </a:solidFill>
          <a:ln w="9525">
            <a:solidFill>
              <a:srgbClr val="DED6C6"/>
            </a:solidFill>
            <a:prstDash val="solid"/>
          </a:ln>
        </p:spPr>
      </p:sp>
      <p:sp>
        <p:nvSpPr>
          <p:cNvPr id="52" name="Text 50"/>
          <p:cNvSpPr txBox="1"/>
          <p:nvPr/>
        </p:nvSpPr>
        <p:spPr>
          <a:xfrm>
            <a:off x="2670216" y="5751576"/>
            <a:ext cx="6922595" cy="566928"/>
          </a:xfrm>
          <a:prstGeom prst="rect">
            <a:avLst/>
          </a:prstGeom>
          <a:noFill/>
          <a:ln/>
        </p:spPr>
        <p:txBody>
          <a:bodyPr wrap="square" lIns="0" tIns="0" rIns="0" bIns="0" rtlCol="0" anchor="t"/>
          <a:lstStyle/>
          <a:p>
            <a:pPr indent="0" marL="0">
              <a:buNone/>
            </a:pPr>
            <a:r>
              <a:rPr lang="en-US" sz="1050" dirty="0">
                <a:solidFill>
                  <a:srgbClr val="333333"/>
                </a:solidFill>
                <a:latin typeface="Calibri" pitchFamily="34" charset="0"/>
                <a:ea typeface="Calibri" pitchFamily="34" charset="-122"/>
                <a:cs typeface="Calibri" pitchFamily="34" charset="-120"/>
              </a:rPr>
              <a:t>Créer/gérer événements, scanner un QR, dashboard temps réel, 3 graphiques</a:t>
            </a:r>
            <a:endParaRPr lang="en-US" sz="1050" dirty="0"/>
          </a:p>
        </p:txBody>
      </p:sp>
      <p:sp>
        <p:nvSpPr>
          <p:cNvPr id="53" name="Shape 51"/>
          <p:cNvSpPr/>
          <p:nvPr/>
        </p:nvSpPr>
        <p:spPr>
          <a:xfrm>
            <a:off x="9684251" y="5705856"/>
            <a:ext cx="1928629" cy="658368"/>
          </a:xfrm>
          <a:prstGeom prst="rect">
            <a:avLst/>
          </a:prstGeom>
          <a:solidFill>
            <a:srgbClr val="FFFFFF"/>
          </a:solidFill>
          <a:ln w="9525">
            <a:solidFill>
              <a:srgbClr val="DED6C6"/>
            </a:solidFill>
            <a:prstDash val="solid"/>
          </a:ln>
        </p:spPr>
      </p:sp>
      <p:sp>
        <p:nvSpPr>
          <p:cNvPr id="54" name="Text 52"/>
          <p:cNvSpPr txBox="1"/>
          <p:nvPr/>
        </p:nvSpPr>
        <p:spPr>
          <a:xfrm>
            <a:off x="9775691" y="5751576"/>
            <a:ext cx="1745749" cy="566928"/>
          </a:xfrm>
          <a:prstGeom prst="rect">
            <a:avLst/>
          </a:prstGeom>
          <a:noFill/>
          <a:ln/>
        </p:spPr>
        <p:txBody>
          <a:bodyPr wrap="square" lIns="0" tIns="0" rIns="0" bIns="0" rtlCol="0" anchor="t"/>
          <a:lstStyle/>
          <a:p>
            <a:pPr indent="0" marL="0">
              <a:buNone/>
            </a:pPr>
            <a:r>
              <a:rPr lang="en-US" sz="1050" dirty="0">
                <a:solidFill>
                  <a:srgbClr val="333333"/>
                </a:solidFill>
                <a:latin typeface="Calibri" pitchFamily="34" charset="0"/>
                <a:ea typeface="Calibri" pitchFamily="34" charset="-122"/>
                <a:cs typeface="Calibri" pitchFamily="34" charset="-120"/>
              </a:rPr>
              <a:t>MUST</a:t>
            </a:r>
            <a:endParaRPr lang="en-US" sz="1050" dirty="0"/>
          </a:p>
        </p:txBody>
      </p:sp>
      <p:sp>
        <p:nvSpPr>
          <p:cNvPr id="55" name="Shape 53"/>
          <p:cNvSpPr/>
          <p:nvPr/>
        </p:nvSpPr>
        <p:spPr>
          <a:xfrm>
            <a:off x="548640" y="6364224"/>
            <a:ext cx="2030136" cy="658368"/>
          </a:xfrm>
          <a:prstGeom prst="rect">
            <a:avLst/>
          </a:prstGeom>
          <a:solidFill>
            <a:srgbClr val="F7F3EA"/>
          </a:solidFill>
          <a:ln w="9525">
            <a:solidFill>
              <a:srgbClr val="DED6C6"/>
            </a:solidFill>
            <a:prstDash val="solid"/>
          </a:ln>
        </p:spPr>
      </p:sp>
      <p:sp>
        <p:nvSpPr>
          <p:cNvPr id="56" name="Text 54"/>
          <p:cNvSpPr txBox="1"/>
          <p:nvPr/>
        </p:nvSpPr>
        <p:spPr>
          <a:xfrm>
            <a:off x="640080" y="6409944"/>
            <a:ext cx="1847256" cy="566928"/>
          </a:xfrm>
          <a:prstGeom prst="rect">
            <a:avLst/>
          </a:prstGeom>
          <a:noFill/>
          <a:ln/>
        </p:spPr>
        <p:txBody>
          <a:bodyPr wrap="square" lIns="0" tIns="0" rIns="0" bIns="0" rtlCol="0" anchor="t"/>
          <a:lstStyle/>
          <a:p>
            <a:pPr indent="0" marL="0">
              <a:buNone/>
            </a:pPr>
            <a:r>
              <a:rPr lang="en-US" sz="1050" b="1" dirty="0">
                <a:solidFill>
                  <a:srgbClr val="1C1916"/>
                </a:solidFill>
                <a:latin typeface="Calibri" pitchFamily="34" charset="0"/>
                <a:ea typeface="Calibri" pitchFamily="34" charset="-122"/>
                <a:cs typeface="Calibri" pitchFamily="34" charset="-120"/>
              </a:rPr>
              <a:t>Apparence &amp; accessibilité</a:t>
            </a:r>
            <a:endParaRPr lang="en-US" sz="1050" dirty="0"/>
          </a:p>
        </p:txBody>
      </p:sp>
      <p:sp>
        <p:nvSpPr>
          <p:cNvPr id="57" name="Shape 55"/>
          <p:cNvSpPr/>
          <p:nvPr/>
        </p:nvSpPr>
        <p:spPr>
          <a:xfrm>
            <a:off x="2578776" y="6364224"/>
            <a:ext cx="7105475" cy="658368"/>
          </a:xfrm>
          <a:prstGeom prst="rect">
            <a:avLst/>
          </a:prstGeom>
          <a:solidFill>
            <a:srgbClr val="F7F3EA"/>
          </a:solidFill>
          <a:ln w="9525">
            <a:solidFill>
              <a:srgbClr val="DED6C6"/>
            </a:solidFill>
            <a:prstDash val="solid"/>
          </a:ln>
        </p:spPr>
      </p:sp>
      <p:sp>
        <p:nvSpPr>
          <p:cNvPr id="58" name="Text 56"/>
          <p:cNvSpPr txBox="1"/>
          <p:nvPr/>
        </p:nvSpPr>
        <p:spPr>
          <a:xfrm>
            <a:off x="2670216" y="6409944"/>
            <a:ext cx="6922595" cy="566928"/>
          </a:xfrm>
          <a:prstGeom prst="rect">
            <a:avLst/>
          </a:prstGeom>
          <a:noFill/>
          <a:ln/>
        </p:spPr>
        <p:txBody>
          <a:bodyPr wrap="square" lIns="0" tIns="0" rIns="0" bIns="0" rtlCol="0" anchor="t"/>
          <a:lstStyle/>
          <a:p>
            <a:pPr indent="0" marL="0">
              <a:buNone/>
            </a:pPr>
            <a:r>
              <a:rPr lang="en-US" sz="1050" dirty="0">
                <a:solidFill>
                  <a:srgbClr val="333333"/>
                </a:solidFill>
                <a:latin typeface="Calibri" pitchFamily="34" charset="0"/>
                <a:ea typeface="Calibri" pitchFamily="34" charset="-122"/>
                <a:cs typeface="Calibri" pitchFamily="34" charset="-120"/>
              </a:rPr>
              <a:t>Dark mode persistant, PWA installable, navigation clavier, WCAG 2.1 AA</a:t>
            </a:r>
            <a:endParaRPr lang="en-US" sz="1050" dirty="0"/>
          </a:p>
        </p:txBody>
      </p:sp>
      <p:sp>
        <p:nvSpPr>
          <p:cNvPr id="59" name="Shape 57"/>
          <p:cNvSpPr/>
          <p:nvPr/>
        </p:nvSpPr>
        <p:spPr>
          <a:xfrm>
            <a:off x="9684251" y="6364224"/>
            <a:ext cx="1928629" cy="658368"/>
          </a:xfrm>
          <a:prstGeom prst="rect">
            <a:avLst/>
          </a:prstGeom>
          <a:solidFill>
            <a:srgbClr val="F7F3EA"/>
          </a:solidFill>
          <a:ln w="9525">
            <a:solidFill>
              <a:srgbClr val="DED6C6"/>
            </a:solidFill>
            <a:prstDash val="solid"/>
          </a:ln>
        </p:spPr>
      </p:sp>
      <p:sp>
        <p:nvSpPr>
          <p:cNvPr id="60" name="Text 58"/>
          <p:cNvSpPr txBox="1"/>
          <p:nvPr/>
        </p:nvSpPr>
        <p:spPr>
          <a:xfrm>
            <a:off x="9775691" y="6409944"/>
            <a:ext cx="1745749" cy="566928"/>
          </a:xfrm>
          <a:prstGeom prst="rect">
            <a:avLst/>
          </a:prstGeom>
          <a:noFill/>
          <a:ln/>
        </p:spPr>
        <p:txBody>
          <a:bodyPr wrap="square" lIns="0" tIns="0" rIns="0" bIns="0" rtlCol="0" anchor="t"/>
          <a:lstStyle/>
          <a:p>
            <a:pPr indent="0" marL="0">
              <a:buNone/>
            </a:pPr>
            <a:r>
              <a:rPr lang="en-US" sz="1050" dirty="0">
                <a:solidFill>
                  <a:srgbClr val="333333"/>
                </a:solidFill>
                <a:latin typeface="Calibri" pitchFamily="34" charset="0"/>
                <a:ea typeface="Calibri" pitchFamily="34" charset="-122"/>
                <a:cs typeface="Calibri" pitchFamily="34" charset="-120"/>
              </a:rPr>
              <a:t>COULD/MUST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601200" cy="256032"/>
          </a:xfrm>
          <a:prstGeom prst="rect">
            <a:avLst/>
          </a:prstGeom>
          <a:noFill/>
          <a:ln/>
        </p:spPr>
        <p:txBody>
          <a:bodyPr wrap="square" lIns="0" tIns="0" rIns="0" bIns="0" rtlCol="0" anchor="ctr"/>
          <a:lstStyle/>
          <a:p>
            <a:pPr indent="0" marL="0">
              <a:buNone/>
            </a:pPr>
            <a:r>
              <a:rPr lang="en-US" sz="1150" b="1" spc="300" kern="0" dirty="0">
                <a:solidFill>
                  <a:srgbClr val="E0492B"/>
                </a:solidFill>
                <a:latin typeface="Calibri" pitchFamily="34" charset="0"/>
                <a:ea typeface="Calibri" pitchFamily="34" charset="-122"/>
                <a:cs typeface="Calibri" pitchFamily="34" charset="-120"/>
              </a:rPr>
              <a:t>PARTIE 2 — CAHIER DES CHARGES</a:t>
            </a:r>
            <a:endParaRPr lang="en-US" sz="1150" dirty="0"/>
          </a:p>
        </p:txBody>
      </p:sp>
      <p:sp>
        <p:nvSpPr>
          <p:cNvPr id="3" name="Shape 1"/>
          <p:cNvSpPr/>
          <p:nvPr/>
        </p:nvSpPr>
        <p:spPr>
          <a:xfrm>
            <a:off x="10241280" y="292608"/>
            <a:ext cx="1371600" cy="365760"/>
          </a:xfrm>
          <a:prstGeom prst="roundRect">
            <a:avLst>
              <a:gd name="adj" fmla="val 50000"/>
            </a:avLst>
          </a:prstGeom>
          <a:solidFill>
            <a:srgbClr val="1C1916"/>
          </a:solidFill>
          <a:ln w="12700">
            <a:solidFill>
              <a:srgbClr val="1C1916"/>
            </a:solidFill>
            <a:prstDash val="solid"/>
          </a:ln>
        </p:spPr>
      </p:sp>
      <p:sp>
        <p:nvSpPr>
          <p:cNvPr id="4" name="Text 2"/>
          <p:cNvSpPr txBox="1"/>
          <p:nvPr/>
        </p:nvSpPr>
        <p:spPr>
          <a:xfrm>
            <a:off x="10241280" y="292608"/>
            <a:ext cx="1371600" cy="365760"/>
          </a:xfrm>
          <a:prstGeom prst="rect">
            <a:avLst/>
          </a:prstGeom>
          <a:noFill/>
          <a:ln/>
        </p:spPr>
        <p:txBody>
          <a:bodyPr wrap="square" lIns="0" tIns="0" rIns="0" bIns="0" rtlCol="0" anchor="ctr"/>
          <a:lstStyle/>
          <a:p>
            <a:pPr algn="ctr" indent="0" marL="0">
              <a:buNone/>
            </a:pPr>
            <a:r>
              <a:rPr lang="en-US" sz="1150" b="1" dirty="0">
                <a:solidFill>
                  <a:srgbClr val="B9821A"/>
                </a:solidFill>
                <a:latin typeface="Calibri" pitchFamily="34" charset="0"/>
                <a:ea typeface="Calibri" pitchFamily="34" charset="-122"/>
                <a:cs typeface="Calibri" pitchFamily="34" charset="-120"/>
              </a:rPr>
              <a:t>07:15</a:t>
            </a:r>
            <a:endParaRPr lang="en-US" sz="1150" dirty="0"/>
          </a:p>
        </p:txBody>
      </p:sp>
      <p:sp>
        <p:nvSpPr>
          <p:cNvPr id="5" name="Text 3"/>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2800" b="1" dirty="0">
                <a:solidFill>
                  <a:srgbClr val="1C1916"/>
                </a:solidFill>
                <a:latin typeface="Cambria" pitchFamily="34" charset="0"/>
                <a:ea typeface="Cambria" pitchFamily="34" charset="-122"/>
                <a:cs typeface="Cambria" pitchFamily="34" charset="-120"/>
              </a:rPr>
              <a:t>Exigences non fonctionnelles et méthode</a:t>
            </a:r>
            <a:endParaRPr lang="en-US" sz="2800" dirty="0"/>
          </a:p>
        </p:txBody>
      </p:sp>
      <p:sp>
        <p:nvSpPr>
          <p:cNvPr id="6" name="Text 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938B7D"/>
                </a:solidFill>
                <a:latin typeface="Calibri" pitchFamily="34" charset="0"/>
                <a:ea typeface="Calibri" pitchFamily="34" charset="-122"/>
                <a:cs typeface="Calibri" pitchFamily="34" charset="-120"/>
              </a:rPr>
              <a:t>10</a:t>
            </a:r>
            <a:endParaRPr lang="en-US" sz="1000" dirty="0"/>
          </a:p>
        </p:txBody>
      </p:sp>
      <p:sp>
        <p:nvSpPr>
          <p:cNvPr id="7" name="Shape 5"/>
          <p:cNvSpPr/>
          <p:nvPr/>
        </p:nvSpPr>
        <p:spPr>
          <a:xfrm>
            <a:off x="548640" y="1417320"/>
            <a:ext cx="6263640" cy="4160520"/>
          </a:xfrm>
          <a:prstGeom prst="roundRect">
            <a:avLst>
              <a:gd name="adj" fmla="val 1978"/>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8" name="Text 6"/>
          <p:cNvSpPr txBox="1"/>
          <p:nvPr/>
        </p:nvSpPr>
        <p:spPr>
          <a:xfrm>
            <a:off x="786384" y="1600200"/>
            <a:ext cx="5788152" cy="310896"/>
          </a:xfrm>
          <a:prstGeom prst="rect">
            <a:avLst/>
          </a:prstGeom>
          <a:noFill/>
          <a:ln/>
        </p:spPr>
        <p:txBody>
          <a:bodyPr wrap="square" lIns="0" tIns="0" rIns="0" bIns="0" rtlCol="0" anchor="ctr"/>
          <a:lstStyle/>
          <a:p>
            <a:pPr indent="0" marL="0">
              <a:buNone/>
            </a:pPr>
            <a:r>
              <a:rPr lang="en-US" sz="1450" b="1" dirty="0">
                <a:solidFill>
                  <a:srgbClr val="E0492B"/>
                </a:solidFill>
                <a:latin typeface="Calibri" pitchFamily="34" charset="0"/>
                <a:ea typeface="Calibri" pitchFamily="34" charset="-122"/>
                <a:cs typeface="Calibri" pitchFamily="34" charset="-120"/>
              </a:rPr>
              <a:t>Quatre exigences mesurables</a:t>
            </a:r>
            <a:endParaRPr lang="en-US" sz="1450" dirty="0"/>
          </a:p>
        </p:txBody>
      </p:sp>
      <p:sp>
        <p:nvSpPr>
          <p:cNvPr id="9" name="Text 7"/>
          <p:cNvSpPr txBox="1"/>
          <p:nvPr/>
        </p:nvSpPr>
        <p:spPr>
          <a:xfrm>
            <a:off x="786384" y="1984248"/>
            <a:ext cx="5788152" cy="337413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Performance — moins de 2 secondes de chargement en 4G, zéro requête N+1</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Mobile-first — cible principale 375 à 430 pixels de large</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Sécurité — couverture explicite de l'OWASP Top 10 (partie 5)</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Accessibilité — conformité WCAG 2.1 niveau AA</a:t>
            </a:r>
            <a:endParaRPr lang="en-US" sz="1200" dirty="0"/>
          </a:p>
        </p:txBody>
      </p:sp>
      <p:sp>
        <p:nvSpPr>
          <p:cNvPr id="10" name="Shape 8"/>
          <p:cNvSpPr/>
          <p:nvPr/>
        </p:nvSpPr>
        <p:spPr>
          <a:xfrm>
            <a:off x="7086600" y="1417320"/>
            <a:ext cx="4617720" cy="4160520"/>
          </a:xfrm>
          <a:prstGeom prst="roundRect">
            <a:avLst>
              <a:gd name="adj" fmla="val 1978"/>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1" name="Text 9"/>
          <p:cNvSpPr txBox="1"/>
          <p:nvPr/>
        </p:nvSpPr>
        <p:spPr>
          <a:xfrm>
            <a:off x="7324344" y="1600200"/>
            <a:ext cx="4142232" cy="310896"/>
          </a:xfrm>
          <a:prstGeom prst="rect">
            <a:avLst/>
          </a:prstGeom>
          <a:noFill/>
          <a:ln/>
        </p:spPr>
        <p:txBody>
          <a:bodyPr wrap="square" lIns="0" tIns="0" rIns="0" bIns="0" rtlCol="0" anchor="ctr"/>
          <a:lstStyle/>
          <a:p>
            <a:pPr indent="0" marL="0">
              <a:buNone/>
            </a:pPr>
            <a:r>
              <a:rPr lang="en-US" sz="1450" b="1" dirty="0">
                <a:solidFill>
                  <a:srgbClr val="4A40C2"/>
                </a:solidFill>
                <a:latin typeface="Calibri" pitchFamily="34" charset="0"/>
                <a:ea typeface="Calibri" pitchFamily="34" charset="-122"/>
                <a:cs typeface="Calibri" pitchFamily="34" charset="-120"/>
              </a:rPr>
              <a:t>Méthode de travail</a:t>
            </a:r>
            <a:endParaRPr lang="en-US" sz="1450" dirty="0"/>
          </a:p>
        </p:txBody>
      </p:sp>
      <p:sp>
        <p:nvSpPr>
          <p:cNvPr id="12" name="Text 10"/>
          <p:cNvSpPr txBox="1"/>
          <p:nvPr/>
        </p:nvSpPr>
        <p:spPr>
          <a:xfrm>
            <a:off x="7324344" y="1984248"/>
            <a:ext cx="4142232" cy="337413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Solo, en itératif</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Conventional commits</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CHANGELOG versionné</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Intégration continue GitHub Actions</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Fonctionnalité développée → testée → fusionnée une fois la CI au vert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601200" cy="256032"/>
          </a:xfrm>
          <a:prstGeom prst="rect">
            <a:avLst/>
          </a:prstGeom>
          <a:noFill/>
          <a:ln/>
        </p:spPr>
        <p:txBody>
          <a:bodyPr wrap="square" lIns="0" tIns="0" rIns="0" bIns="0" rtlCol="0" anchor="ctr"/>
          <a:lstStyle/>
          <a:p>
            <a:pPr indent="0" marL="0">
              <a:buNone/>
            </a:pPr>
            <a:r>
              <a:rPr lang="en-US" sz="1150" b="1" spc="300" kern="0" dirty="0">
                <a:solidFill>
                  <a:srgbClr val="E0492B"/>
                </a:solidFill>
                <a:latin typeface="Calibri" pitchFamily="34" charset="0"/>
                <a:ea typeface="Calibri" pitchFamily="34" charset="-122"/>
                <a:cs typeface="Calibri" pitchFamily="34" charset="-120"/>
              </a:rPr>
              <a:t>PARTIE 2 — CAHIER DES CHARGES</a:t>
            </a:r>
            <a:endParaRPr lang="en-US" sz="1150" dirty="0"/>
          </a:p>
        </p:txBody>
      </p:sp>
      <p:sp>
        <p:nvSpPr>
          <p:cNvPr id="3" name="Shape 1"/>
          <p:cNvSpPr/>
          <p:nvPr/>
        </p:nvSpPr>
        <p:spPr>
          <a:xfrm>
            <a:off x="10241280" y="292608"/>
            <a:ext cx="1371600" cy="365760"/>
          </a:xfrm>
          <a:prstGeom prst="roundRect">
            <a:avLst>
              <a:gd name="adj" fmla="val 50000"/>
            </a:avLst>
          </a:prstGeom>
          <a:solidFill>
            <a:srgbClr val="1C1916"/>
          </a:solidFill>
          <a:ln w="12700">
            <a:solidFill>
              <a:srgbClr val="1C1916"/>
            </a:solidFill>
            <a:prstDash val="solid"/>
          </a:ln>
        </p:spPr>
      </p:sp>
      <p:sp>
        <p:nvSpPr>
          <p:cNvPr id="4" name="Text 2"/>
          <p:cNvSpPr txBox="1"/>
          <p:nvPr/>
        </p:nvSpPr>
        <p:spPr>
          <a:xfrm>
            <a:off x="10241280" y="292608"/>
            <a:ext cx="1371600" cy="365760"/>
          </a:xfrm>
          <a:prstGeom prst="rect">
            <a:avLst/>
          </a:prstGeom>
          <a:noFill/>
          <a:ln/>
        </p:spPr>
        <p:txBody>
          <a:bodyPr wrap="square" lIns="0" tIns="0" rIns="0" bIns="0" rtlCol="0" anchor="ctr"/>
          <a:lstStyle/>
          <a:p>
            <a:pPr algn="ctr" indent="0" marL="0">
              <a:buNone/>
            </a:pPr>
            <a:r>
              <a:rPr lang="en-US" sz="1150" b="1" dirty="0">
                <a:solidFill>
                  <a:srgbClr val="B9821A"/>
                </a:solidFill>
                <a:latin typeface="Calibri" pitchFamily="34" charset="0"/>
                <a:ea typeface="Calibri" pitchFamily="34" charset="-122"/>
                <a:cs typeface="Calibri" pitchFamily="34" charset="-120"/>
              </a:rPr>
              <a:t>08:15</a:t>
            </a:r>
            <a:endParaRPr lang="en-US" sz="1150" dirty="0"/>
          </a:p>
        </p:txBody>
      </p:sp>
      <p:sp>
        <p:nvSpPr>
          <p:cNvPr id="5" name="Text 3"/>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2800" b="1" dirty="0">
                <a:solidFill>
                  <a:srgbClr val="1C1916"/>
                </a:solidFill>
                <a:latin typeface="Cambria" pitchFamily="34" charset="0"/>
                <a:ea typeface="Cambria" pitchFamily="34" charset="-122"/>
                <a:cs typeface="Cambria" pitchFamily="34" charset="-120"/>
              </a:rPr>
              <a:t>Le périmètre exclu, et pourquoi</a:t>
            </a:r>
            <a:endParaRPr lang="en-US" sz="2800" dirty="0"/>
          </a:p>
        </p:txBody>
      </p:sp>
      <p:sp>
        <p:nvSpPr>
          <p:cNvPr id="6" name="Text 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938B7D"/>
                </a:solidFill>
                <a:latin typeface="Calibri" pitchFamily="34" charset="0"/>
                <a:ea typeface="Calibri" pitchFamily="34" charset="-122"/>
                <a:cs typeface="Calibri" pitchFamily="34" charset="-120"/>
              </a:rPr>
              <a:t>11</a:t>
            </a:r>
            <a:endParaRPr lang="en-US" sz="1000" dirty="0"/>
          </a:p>
        </p:txBody>
      </p:sp>
      <p:sp>
        <p:nvSpPr>
          <p:cNvPr id="7" name="Shape 5"/>
          <p:cNvSpPr/>
          <p:nvPr/>
        </p:nvSpPr>
        <p:spPr>
          <a:xfrm>
            <a:off x="548640" y="1371600"/>
            <a:ext cx="3134868" cy="384048"/>
          </a:xfrm>
          <a:prstGeom prst="rect">
            <a:avLst/>
          </a:prstGeom>
          <a:solidFill>
            <a:srgbClr val="1C1916"/>
          </a:solidFill>
          <a:ln/>
        </p:spPr>
      </p:sp>
      <p:sp>
        <p:nvSpPr>
          <p:cNvPr id="8" name="Text 6"/>
          <p:cNvSpPr txBox="1"/>
          <p:nvPr/>
        </p:nvSpPr>
        <p:spPr>
          <a:xfrm>
            <a:off x="640080" y="1426464"/>
            <a:ext cx="2951988"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Ce que j'ai exclu</a:t>
            </a:r>
            <a:endParaRPr lang="en-US" sz="1050" dirty="0"/>
          </a:p>
        </p:txBody>
      </p:sp>
      <p:sp>
        <p:nvSpPr>
          <p:cNvPr id="9" name="Shape 7"/>
          <p:cNvSpPr/>
          <p:nvPr/>
        </p:nvSpPr>
        <p:spPr>
          <a:xfrm>
            <a:off x="3683508" y="1371600"/>
            <a:ext cx="7929372" cy="384048"/>
          </a:xfrm>
          <a:prstGeom prst="rect">
            <a:avLst/>
          </a:prstGeom>
          <a:solidFill>
            <a:srgbClr val="1C1916"/>
          </a:solidFill>
          <a:ln/>
        </p:spPr>
      </p:sp>
      <p:sp>
        <p:nvSpPr>
          <p:cNvPr id="10" name="Text 8"/>
          <p:cNvSpPr txBox="1"/>
          <p:nvPr/>
        </p:nvSpPr>
        <p:spPr>
          <a:xfrm>
            <a:off x="3774948" y="1426464"/>
            <a:ext cx="7746492"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Ma justification à l'oral</a:t>
            </a:r>
            <a:endParaRPr lang="en-US" sz="1050" dirty="0"/>
          </a:p>
        </p:txBody>
      </p:sp>
      <p:sp>
        <p:nvSpPr>
          <p:cNvPr id="11" name="Shape 9"/>
          <p:cNvSpPr/>
          <p:nvPr/>
        </p:nvSpPr>
        <p:spPr>
          <a:xfrm>
            <a:off x="548640" y="1755648"/>
            <a:ext cx="3134868" cy="896112"/>
          </a:xfrm>
          <a:prstGeom prst="rect">
            <a:avLst/>
          </a:prstGeom>
          <a:solidFill>
            <a:srgbClr val="FFFFFF"/>
          </a:solidFill>
          <a:ln w="9525">
            <a:solidFill>
              <a:srgbClr val="DED6C6"/>
            </a:solidFill>
            <a:prstDash val="solid"/>
          </a:ln>
        </p:spPr>
      </p:sp>
      <p:sp>
        <p:nvSpPr>
          <p:cNvPr id="12" name="Text 10"/>
          <p:cNvSpPr txBox="1"/>
          <p:nvPr/>
        </p:nvSpPr>
        <p:spPr>
          <a:xfrm>
            <a:off x="640080" y="1801368"/>
            <a:ext cx="2951988" cy="804672"/>
          </a:xfrm>
          <a:prstGeom prst="rect">
            <a:avLst/>
          </a:prstGeom>
          <a:noFill/>
          <a:ln/>
        </p:spPr>
        <p:txBody>
          <a:bodyPr wrap="square" lIns="0" tIns="0" rIns="0" bIns="0" rtlCol="0" anchor="t"/>
          <a:lstStyle/>
          <a:p>
            <a:pPr indent="0" marL="0">
              <a:buNone/>
            </a:pPr>
            <a:r>
              <a:rPr lang="en-US" sz="1100" b="1" dirty="0">
                <a:solidFill>
                  <a:srgbClr val="1C1916"/>
                </a:solidFill>
                <a:latin typeface="Calibri" pitchFamily="34" charset="0"/>
                <a:ea typeface="Calibri" pitchFamily="34" charset="-122"/>
                <a:cs typeface="Calibri" pitchFamily="34" charset="-120"/>
              </a:rPr>
              <a:t>Paiement en ligne (Stripe)</a:t>
            </a:r>
            <a:endParaRPr lang="en-US" sz="1100" dirty="0"/>
          </a:p>
        </p:txBody>
      </p:sp>
      <p:sp>
        <p:nvSpPr>
          <p:cNvPr id="13" name="Shape 11"/>
          <p:cNvSpPr/>
          <p:nvPr/>
        </p:nvSpPr>
        <p:spPr>
          <a:xfrm>
            <a:off x="3683508" y="1755648"/>
            <a:ext cx="7929372" cy="896112"/>
          </a:xfrm>
          <a:prstGeom prst="rect">
            <a:avLst/>
          </a:prstGeom>
          <a:solidFill>
            <a:srgbClr val="FFFFFF"/>
          </a:solidFill>
          <a:ln w="9525">
            <a:solidFill>
              <a:srgbClr val="DED6C6"/>
            </a:solidFill>
            <a:prstDash val="solid"/>
          </a:ln>
        </p:spPr>
      </p:sp>
      <p:sp>
        <p:nvSpPr>
          <p:cNvPr id="14" name="Text 12"/>
          <p:cNvSpPr txBox="1"/>
          <p:nvPr/>
        </p:nvSpPr>
        <p:spPr>
          <a:xfrm>
            <a:off x="3774948" y="1801368"/>
            <a:ext cx="7746492" cy="804672"/>
          </a:xfrm>
          <a:prstGeom prst="rect">
            <a:avLst/>
          </a:prstGeom>
          <a:noFill/>
          <a:ln/>
        </p:spPr>
        <p:txBody>
          <a:bodyPr wrap="square" lIns="0" tIns="0" rIns="0" bIns="0" rtlCol="0" anchor="t"/>
          <a:lstStyle/>
          <a:p>
            <a:pPr indent="0" marL="0">
              <a:buNone/>
            </a:pPr>
            <a:r>
              <a:rPr lang="en-US" sz="1100" dirty="0">
                <a:solidFill>
                  <a:srgbClr val="333333"/>
                </a:solidFill>
                <a:latin typeface="Calibri" pitchFamily="34" charset="0"/>
                <a:ea typeface="Calibri" pitchFamily="34" charset="-122"/>
                <a:cs typeface="Calibri" pitchFamily="34" charset="-120"/>
              </a:rPr>
              <a:t>Conformité PCI-DSS + tiers de confiance. La réduction s'applique en caisse, pas sur la billetterie.</a:t>
            </a:r>
            <a:endParaRPr lang="en-US" sz="1100" dirty="0"/>
          </a:p>
        </p:txBody>
      </p:sp>
      <p:sp>
        <p:nvSpPr>
          <p:cNvPr id="15" name="Shape 13"/>
          <p:cNvSpPr/>
          <p:nvPr/>
        </p:nvSpPr>
        <p:spPr>
          <a:xfrm>
            <a:off x="548640" y="2651760"/>
            <a:ext cx="3134868" cy="896112"/>
          </a:xfrm>
          <a:prstGeom prst="rect">
            <a:avLst/>
          </a:prstGeom>
          <a:solidFill>
            <a:srgbClr val="F7F3EA"/>
          </a:solidFill>
          <a:ln w="9525">
            <a:solidFill>
              <a:srgbClr val="DED6C6"/>
            </a:solidFill>
            <a:prstDash val="solid"/>
          </a:ln>
        </p:spPr>
      </p:sp>
      <p:sp>
        <p:nvSpPr>
          <p:cNvPr id="16" name="Text 14"/>
          <p:cNvSpPr txBox="1"/>
          <p:nvPr/>
        </p:nvSpPr>
        <p:spPr>
          <a:xfrm>
            <a:off x="640080" y="2697480"/>
            <a:ext cx="2951988" cy="804672"/>
          </a:xfrm>
          <a:prstGeom prst="rect">
            <a:avLst/>
          </a:prstGeom>
          <a:noFill/>
          <a:ln/>
        </p:spPr>
        <p:txBody>
          <a:bodyPr wrap="square" lIns="0" tIns="0" rIns="0" bIns="0" rtlCol="0" anchor="t"/>
          <a:lstStyle/>
          <a:p>
            <a:pPr indent="0" marL="0">
              <a:buNone/>
            </a:pPr>
            <a:r>
              <a:rPr lang="en-US" sz="1100" b="1" dirty="0">
                <a:solidFill>
                  <a:srgbClr val="1C1916"/>
                </a:solidFill>
                <a:latin typeface="Calibri" pitchFamily="34" charset="0"/>
                <a:ea typeface="Calibri" pitchFamily="34" charset="-122"/>
                <a:cs typeface="Calibri" pitchFamily="34" charset="-120"/>
              </a:rPr>
              <a:t>Application native iOS/Android</a:t>
            </a:r>
            <a:endParaRPr lang="en-US" sz="1100" dirty="0"/>
          </a:p>
        </p:txBody>
      </p:sp>
      <p:sp>
        <p:nvSpPr>
          <p:cNvPr id="17" name="Shape 15"/>
          <p:cNvSpPr/>
          <p:nvPr/>
        </p:nvSpPr>
        <p:spPr>
          <a:xfrm>
            <a:off x="3683508" y="2651760"/>
            <a:ext cx="7929372" cy="896112"/>
          </a:xfrm>
          <a:prstGeom prst="rect">
            <a:avLst/>
          </a:prstGeom>
          <a:solidFill>
            <a:srgbClr val="F7F3EA"/>
          </a:solidFill>
          <a:ln w="9525">
            <a:solidFill>
              <a:srgbClr val="DED6C6"/>
            </a:solidFill>
            <a:prstDash val="solid"/>
          </a:ln>
        </p:spPr>
      </p:sp>
      <p:sp>
        <p:nvSpPr>
          <p:cNvPr id="18" name="Text 16"/>
          <p:cNvSpPr txBox="1"/>
          <p:nvPr/>
        </p:nvSpPr>
        <p:spPr>
          <a:xfrm>
            <a:off x="3774948" y="2697480"/>
            <a:ext cx="7746492" cy="804672"/>
          </a:xfrm>
          <a:prstGeom prst="rect">
            <a:avLst/>
          </a:prstGeom>
          <a:noFill/>
          <a:ln/>
        </p:spPr>
        <p:txBody>
          <a:bodyPr wrap="square" lIns="0" tIns="0" rIns="0" bIns="0" rtlCol="0" anchor="t"/>
          <a:lstStyle/>
          <a:p>
            <a:pPr indent="0" marL="0">
              <a:buNone/>
            </a:pPr>
            <a:r>
              <a:rPr lang="en-US" sz="1100" dirty="0">
                <a:solidFill>
                  <a:srgbClr val="333333"/>
                </a:solidFill>
                <a:latin typeface="Calibri" pitchFamily="34" charset="0"/>
                <a:ea typeface="Calibri" pitchFamily="34" charset="-122"/>
                <a:cs typeface="Calibri" pitchFamily="34" charset="-120"/>
              </a:rPr>
              <a:t>Une PWA installable couvre l'essentiel — icône, plein écran — sans stores ni double base de code.</a:t>
            </a:r>
            <a:endParaRPr lang="en-US" sz="1100" dirty="0"/>
          </a:p>
        </p:txBody>
      </p:sp>
      <p:sp>
        <p:nvSpPr>
          <p:cNvPr id="19" name="Shape 17"/>
          <p:cNvSpPr/>
          <p:nvPr/>
        </p:nvSpPr>
        <p:spPr>
          <a:xfrm>
            <a:off x="548640" y="3547872"/>
            <a:ext cx="3134868" cy="658368"/>
          </a:xfrm>
          <a:prstGeom prst="rect">
            <a:avLst/>
          </a:prstGeom>
          <a:solidFill>
            <a:srgbClr val="FFFFFF"/>
          </a:solidFill>
          <a:ln w="9525">
            <a:solidFill>
              <a:srgbClr val="DED6C6"/>
            </a:solidFill>
            <a:prstDash val="solid"/>
          </a:ln>
        </p:spPr>
      </p:sp>
      <p:sp>
        <p:nvSpPr>
          <p:cNvPr id="20" name="Text 18"/>
          <p:cNvSpPr txBox="1"/>
          <p:nvPr/>
        </p:nvSpPr>
        <p:spPr>
          <a:xfrm>
            <a:off x="640080" y="3593592"/>
            <a:ext cx="2951988" cy="566928"/>
          </a:xfrm>
          <a:prstGeom prst="rect">
            <a:avLst/>
          </a:prstGeom>
          <a:noFill/>
          <a:ln/>
        </p:spPr>
        <p:txBody>
          <a:bodyPr wrap="square" lIns="0" tIns="0" rIns="0" bIns="0" rtlCol="0" anchor="t"/>
          <a:lstStyle/>
          <a:p>
            <a:pPr indent="0" marL="0">
              <a:buNone/>
            </a:pPr>
            <a:r>
              <a:rPr lang="en-US" sz="1100" b="1" dirty="0">
                <a:solidFill>
                  <a:srgbClr val="1C1916"/>
                </a:solidFill>
                <a:latin typeface="Calibri" pitchFamily="34" charset="0"/>
                <a:ea typeface="Calibri" pitchFamily="34" charset="-122"/>
                <a:cs typeface="Calibri" pitchFamily="34" charset="-120"/>
              </a:rPr>
              <a:t>Géolocalisation temps réel</a:t>
            </a:r>
            <a:endParaRPr lang="en-US" sz="1100" dirty="0"/>
          </a:p>
        </p:txBody>
      </p:sp>
      <p:sp>
        <p:nvSpPr>
          <p:cNvPr id="21" name="Shape 19"/>
          <p:cNvSpPr/>
          <p:nvPr/>
        </p:nvSpPr>
        <p:spPr>
          <a:xfrm>
            <a:off x="3683508" y="3547872"/>
            <a:ext cx="7929372" cy="658368"/>
          </a:xfrm>
          <a:prstGeom prst="rect">
            <a:avLst/>
          </a:prstGeom>
          <a:solidFill>
            <a:srgbClr val="FFFFFF"/>
          </a:solidFill>
          <a:ln w="9525">
            <a:solidFill>
              <a:srgbClr val="DED6C6"/>
            </a:solidFill>
            <a:prstDash val="solid"/>
          </a:ln>
        </p:spPr>
      </p:sp>
      <p:sp>
        <p:nvSpPr>
          <p:cNvPr id="22" name="Text 20"/>
          <p:cNvSpPr txBox="1"/>
          <p:nvPr/>
        </p:nvSpPr>
        <p:spPr>
          <a:xfrm>
            <a:off x="3774948" y="3593592"/>
            <a:ext cx="7746492" cy="566928"/>
          </a:xfrm>
          <a:prstGeom prst="rect">
            <a:avLst/>
          </a:prstGeom>
          <a:noFill/>
          <a:ln/>
        </p:spPr>
        <p:txBody>
          <a:bodyPr wrap="square" lIns="0" tIns="0" rIns="0" bIns="0" rtlCol="0" anchor="t"/>
          <a:lstStyle/>
          <a:p>
            <a:pPr indent="0" marL="0">
              <a:buNone/>
            </a:pPr>
            <a:r>
              <a:rPr lang="en-US" sz="1100" dirty="0">
                <a:solidFill>
                  <a:srgbClr val="333333"/>
                </a:solidFill>
                <a:latin typeface="Calibri" pitchFamily="34" charset="0"/>
                <a:ea typeface="Calibri" pitchFamily="34" charset="-122"/>
                <a:cs typeface="Calibri" pitchFamily="34" charset="-120"/>
              </a:rPr>
              <a:t>Coût RGPD élevé pour une valeur faible : les établissements sont fixes et peu nombreux.</a:t>
            </a:r>
            <a:endParaRPr lang="en-US" sz="1100" dirty="0"/>
          </a:p>
        </p:txBody>
      </p:sp>
      <p:sp>
        <p:nvSpPr>
          <p:cNvPr id="23" name="Shape 21"/>
          <p:cNvSpPr/>
          <p:nvPr/>
        </p:nvSpPr>
        <p:spPr>
          <a:xfrm>
            <a:off x="548640" y="4206240"/>
            <a:ext cx="3134868" cy="658368"/>
          </a:xfrm>
          <a:prstGeom prst="rect">
            <a:avLst/>
          </a:prstGeom>
          <a:solidFill>
            <a:srgbClr val="F7F3EA"/>
          </a:solidFill>
          <a:ln w="9525">
            <a:solidFill>
              <a:srgbClr val="DED6C6"/>
            </a:solidFill>
            <a:prstDash val="solid"/>
          </a:ln>
        </p:spPr>
      </p:sp>
      <p:sp>
        <p:nvSpPr>
          <p:cNvPr id="24" name="Text 22"/>
          <p:cNvSpPr txBox="1"/>
          <p:nvPr/>
        </p:nvSpPr>
        <p:spPr>
          <a:xfrm>
            <a:off x="640080" y="4251960"/>
            <a:ext cx="2951988" cy="566928"/>
          </a:xfrm>
          <a:prstGeom prst="rect">
            <a:avLst/>
          </a:prstGeom>
          <a:noFill/>
          <a:ln/>
        </p:spPr>
        <p:txBody>
          <a:bodyPr wrap="square" lIns="0" tIns="0" rIns="0" bIns="0" rtlCol="0" anchor="t"/>
          <a:lstStyle/>
          <a:p>
            <a:pPr indent="0" marL="0">
              <a:buNone/>
            </a:pPr>
            <a:r>
              <a:rPr lang="en-US" sz="1100" b="1" dirty="0">
                <a:solidFill>
                  <a:srgbClr val="1C1916"/>
                </a:solidFill>
                <a:latin typeface="Calibri" pitchFamily="34" charset="0"/>
                <a:ea typeface="Calibri" pitchFamily="34" charset="-122"/>
                <a:cs typeface="Calibri" pitchFamily="34" charset="-120"/>
              </a:rPr>
              <a:t>Messagerie instantanée</a:t>
            </a:r>
            <a:endParaRPr lang="en-US" sz="1100" dirty="0"/>
          </a:p>
        </p:txBody>
      </p:sp>
      <p:sp>
        <p:nvSpPr>
          <p:cNvPr id="25" name="Shape 23"/>
          <p:cNvSpPr/>
          <p:nvPr/>
        </p:nvSpPr>
        <p:spPr>
          <a:xfrm>
            <a:off x="3683508" y="4206240"/>
            <a:ext cx="7929372" cy="658368"/>
          </a:xfrm>
          <a:prstGeom prst="rect">
            <a:avLst/>
          </a:prstGeom>
          <a:solidFill>
            <a:srgbClr val="F7F3EA"/>
          </a:solidFill>
          <a:ln w="9525">
            <a:solidFill>
              <a:srgbClr val="DED6C6"/>
            </a:solidFill>
            <a:prstDash val="solid"/>
          </a:ln>
        </p:spPr>
      </p:sp>
      <p:sp>
        <p:nvSpPr>
          <p:cNvPr id="26" name="Text 24"/>
          <p:cNvSpPr txBox="1"/>
          <p:nvPr/>
        </p:nvSpPr>
        <p:spPr>
          <a:xfrm>
            <a:off x="3774948" y="4251960"/>
            <a:ext cx="7746492" cy="566928"/>
          </a:xfrm>
          <a:prstGeom prst="rect">
            <a:avLst/>
          </a:prstGeom>
          <a:noFill/>
          <a:ln/>
        </p:spPr>
        <p:txBody>
          <a:bodyPr wrap="square" lIns="0" tIns="0" rIns="0" bIns="0" rtlCol="0" anchor="t"/>
          <a:lstStyle/>
          <a:p>
            <a:pPr indent="0" marL="0">
              <a:buNone/>
            </a:pPr>
            <a:r>
              <a:rPr lang="en-US" sz="1100" dirty="0">
                <a:solidFill>
                  <a:srgbClr val="333333"/>
                </a:solidFill>
                <a:latin typeface="Calibri" pitchFamily="34" charset="0"/>
                <a:ea typeface="Calibri" pitchFamily="34" charset="-122"/>
                <a:cs typeface="Calibri" pitchFamily="34" charset="-120"/>
              </a:rPr>
              <a:t>Impose modération + canal temps réel. Squads et invitations couvrent déjà la coordination.</a:t>
            </a:r>
            <a:endParaRPr lang="en-US" sz="1100" dirty="0"/>
          </a:p>
        </p:txBody>
      </p:sp>
      <p:sp>
        <p:nvSpPr>
          <p:cNvPr id="27" name="Shape 25"/>
          <p:cNvSpPr/>
          <p:nvPr/>
        </p:nvSpPr>
        <p:spPr>
          <a:xfrm>
            <a:off x="548640" y="4864608"/>
            <a:ext cx="3134868" cy="896112"/>
          </a:xfrm>
          <a:prstGeom prst="rect">
            <a:avLst/>
          </a:prstGeom>
          <a:solidFill>
            <a:srgbClr val="FFFFFF"/>
          </a:solidFill>
          <a:ln w="9525">
            <a:solidFill>
              <a:srgbClr val="DED6C6"/>
            </a:solidFill>
            <a:prstDash val="solid"/>
          </a:ln>
        </p:spPr>
      </p:sp>
      <p:sp>
        <p:nvSpPr>
          <p:cNvPr id="28" name="Text 26"/>
          <p:cNvSpPr txBox="1"/>
          <p:nvPr/>
        </p:nvSpPr>
        <p:spPr>
          <a:xfrm>
            <a:off x="640080" y="4910328"/>
            <a:ext cx="2951988" cy="804672"/>
          </a:xfrm>
          <a:prstGeom prst="rect">
            <a:avLst/>
          </a:prstGeom>
          <a:noFill/>
          <a:ln/>
        </p:spPr>
        <p:txBody>
          <a:bodyPr wrap="square" lIns="0" tIns="0" rIns="0" bIns="0" rtlCol="0" anchor="t"/>
          <a:lstStyle/>
          <a:p>
            <a:pPr indent="0" marL="0">
              <a:buNone/>
            </a:pPr>
            <a:r>
              <a:rPr lang="en-US" sz="1100" b="1" dirty="0">
                <a:solidFill>
                  <a:srgbClr val="1C1916"/>
                </a:solidFill>
                <a:latin typeface="Calibri" pitchFamily="34" charset="0"/>
                <a:ea typeface="Calibri" pitchFamily="34" charset="-122"/>
                <a:cs typeface="Calibri" pitchFamily="34" charset="-120"/>
              </a:rPr>
              <a:t>Recommandation par IA</a:t>
            </a:r>
            <a:endParaRPr lang="en-US" sz="1100" dirty="0"/>
          </a:p>
        </p:txBody>
      </p:sp>
      <p:sp>
        <p:nvSpPr>
          <p:cNvPr id="29" name="Shape 27"/>
          <p:cNvSpPr/>
          <p:nvPr/>
        </p:nvSpPr>
        <p:spPr>
          <a:xfrm>
            <a:off x="3683508" y="4864608"/>
            <a:ext cx="7929372" cy="896112"/>
          </a:xfrm>
          <a:prstGeom prst="rect">
            <a:avLst/>
          </a:prstGeom>
          <a:solidFill>
            <a:srgbClr val="FFFFFF"/>
          </a:solidFill>
          <a:ln w="9525">
            <a:solidFill>
              <a:srgbClr val="DED6C6"/>
            </a:solidFill>
            <a:prstDash val="solid"/>
          </a:ln>
        </p:spPr>
      </p:sp>
      <p:sp>
        <p:nvSpPr>
          <p:cNvPr id="30" name="Text 28"/>
          <p:cNvSpPr txBox="1"/>
          <p:nvPr/>
        </p:nvSpPr>
        <p:spPr>
          <a:xfrm>
            <a:off x="3774948" y="4910328"/>
            <a:ext cx="7746492" cy="804672"/>
          </a:xfrm>
          <a:prstGeom prst="rect">
            <a:avLst/>
          </a:prstGeom>
          <a:noFill/>
          <a:ln/>
        </p:spPr>
        <p:txBody>
          <a:bodyPr wrap="square" lIns="0" tIns="0" rIns="0" bIns="0" rtlCol="0" anchor="t"/>
          <a:lstStyle/>
          <a:p>
            <a:pPr indent="0" marL="0">
              <a:buNone/>
            </a:pPr>
            <a:r>
              <a:rPr lang="en-US" sz="1100" dirty="0">
                <a:solidFill>
                  <a:srgbClr val="333333"/>
                </a:solidFill>
                <a:latin typeface="Calibri" pitchFamily="34" charset="0"/>
                <a:ea typeface="Calibri" pitchFamily="34" charset="-122"/>
                <a:cs typeface="Calibri" pitchFamily="34" charset="-120"/>
              </a:rPr>
              <a:t>Nécessite un volume de données que la V1 n'a pas. Filtre « pour moi » basé école/intérêts en attendant.</a:t>
            </a:r>
            <a:endParaRPr lang="en-US" sz="1100" dirty="0"/>
          </a:p>
        </p:txBody>
      </p:sp>
      <p:sp>
        <p:nvSpPr>
          <p:cNvPr id="31" name="Shape 29"/>
          <p:cNvSpPr/>
          <p:nvPr/>
        </p:nvSpPr>
        <p:spPr>
          <a:xfrm>
            <a:off x="548640" y="5989320"/>
            <a:ext cx="11064240" cy="594360"/>
          </a:xfrm>
          <a:prstGeom prst="roundRect">
            <a:avLst>
              <a:gd name="adj" fmla="val 13846"/>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32" name="Text 30"/>
          <p:cNvSpPr txBox="1"/>
          <p:nvPr/>
        </p:nvSpPr>
        <p:spPr>
          <a:xfrm>
            <a:off x="786384" y="6190488"/>
            <a:ext cx="10588752" cy="17373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Un jury juge autant la capacité à exclure qu'à produire — un manque justifié devient un arbitrage.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601200" cy="256032"/>
          </a:xfrm>
          <a:prstGeom prst="rect">
            <a:avLst/>
          </a:prstGeom>
          <a:noFill/>
          <a:ln/>
        </p:spPr>
        <p:txBody>
          <a:bodyPr wrap="square" lIns="0" tIns="0" rIns="0" bIns="0" rtlCol="0" anchor="ctr"/>
          <a:lstStyle/>
          <a:p>
            <a:pPr indent="0" marL="0">
              <a:buNone/>
            </a:pPr>
            <a:r>
              <a:rPr lang="en-US" sz="1150" b="1" spc="300" kern="0" dirty="0">
                <a:solidFill>
                  <a:srgbClr val="E0492B"/>
                </a:solidFill>
                <a:latin typeface="Calibri" pitchFamily="34" charset="0"/>
                <a:ea typeface="Calibri" pitchFamily="34" charset="-122"/>
                <a:cs typeface="Calibri" pitchFamily="34" charset="-120"/>
              </a:rPr>
              <a:t>PARTIE 3 — CONCEPTION</a:t>
            </a:r>
            <a:endParaRPr lang="en-US" sz="1150" dirty="0"/>
          </a:p>
        </p:txBody>
      </p:sp>
      <p:sp>
        <p:nvSpPr>
          <p:cNvPr id="3" name="Shape 1"/>
          <p:cNvSpPr/>
          <p:nvPr/>
        </p:nvSpPr>
        <p:spPr>
          <a:xfrm>
            <a:off x="10241280" y="292608"/>
            <a:ext cx="1371600" cy="365760"/>
          </a:xfrm>
          <a:prstGeom prst="roundRect">
            <a:avLst>
              <a:gd name="adj" fmla="val 50000"/>
            </a:avLst>
          </a:prstGeom>
          <a:solidFill>
            <a:srgbClr val="1C1916"/>
          </a:solidFill>
          <a:ln w="12700">
            <a:solidFill>
              <a:srgbClr val="1C1916"/>
            </a:solidFill>
            <a:prstDash val="solid"/>
          </a:ln>
        </p:spPr>
      </p:sp>
      <p:sp>
        <p:nvSpPr>
          <p:cNvPr id="4" name="Text 2"/>
          <p:cNvSpPr txBox="1"/>
          <p:nvPr/>
        </p:nvSpPr>
        <p:spPr>
          <a:xfrm>
            <a:off x="10241280" y="292608"/>
            <a:ext cx="1371600" cy="365760"/>
          </a:xfrm>
          <a:prstGeom prst="rect">
            <a:avLst/>
          </a:prstGeom>
          <a:noFill/>
          <a:ln/>
        </p:spPr>
        <p:txBody>
          <a:bodyPr wrap="square" lIns="0" tIns="0" rIns="0" bIns="0" rtlCol="0" anchor="ctr"/>
          <a:lstStyle/>
          <a:p>
            <a:pPr algn="ctr" indent="0" marL="0">
              <a:buNone/>
            </a:pPr>
            <a:r>
              <a:rPr lang="en-US" sz="1150" b="1" dirty="0">
                <a:solidFill>
                  <a:srgbClr val="B9821A"/>
                </a:solidFill>
                <a:latin typeface="Calibri" pitchFamily="34" charset="0"/>
                <a:ea typeface="Calibri" pitchFamily="34" charset="-122"/>
                <a:cs typeface="Calibri" pitchFamily="34" charset="-120"/>
              </a:rPr>
              <a:t>09:00</a:t>
            </a:r>
            <a:endParaRPr lang="en-US" sz="1150" dirty="0"/>
          </a:p>
        </p:txBody>
      </p:sp>
      <p:sp>
        <p:nvSpPr>
          <p:cNvPr id="5" name="Text 3"/>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2800" b="1" dirty="0">
                <a:solidFill>
                  <a:srgbClr val="1C1916"/>
                </a:solidFill>
                <a:latin typeface="Cambria" pitchFamily="34" charset="0"/>
                <a:ea typeface="Cambria" pitchFamily="34" charset="-122"/>
                <a:cs typeface="Cambria" pitchFamily="34" charset="-120"/>
              </a:rPr>
              <a:t>Le modèle de données : 16 tables en 3NF</a:t>
            </a:r>
            <a:endParaRPr lang="en-US" sz="2800" dirty="0"/>
          </a:p>
        </p:txBody>
      </p:sp>
      <p:sp>
        <p:nvSpPr>
          <p:cNvPr id="6" name="Text 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938B7D"/>
                </a:solidFill>
                <a:latin typeface="Calibri" pitchFamily="34" charset="0"/>
                <a:ea typeface="Calibri" pitchFamily="34" charset="-122"/>
                <a:cs typeface="Calibri" pitchFamily="34" charset="-120"/>
              </a:rPr>
              <a:t>12</a:t>
            </a:r>
            <a:endParaRPr lang="en-US" sz="1000" dirty="0"/>
          </a:p>
        </p:txBody>
      </p:sp>
      <p:sp>
        <p:nvSpPr>
          <p:cNvPr id="7" name="Shape 5"/>
          <p:cNvSpPr/>
          <p:nvPr/>
        </p:nvSpPr>
        <p:spPr>
          <a:xfrm>
            <a:off x="512064" y="1289304"/>
            <a:ext cx="6793992" cy="4535861"/>
          </a:xfrm>
          <a:prstGeom prst="roundRect">
            <a:avLst>
              <a:gd name="adj" fmla="val 1008"/>
            </a:avLst>
          </a:prstGeom>
          <a:solidFill>
            <a:srgbClr val="DED6C6"/>
          </a:solidFill>
          <a:ln w="12700">
            <a:solidFill>
              <a:srgbClr val="DED6C6"/>
            </a:solidFill>
            <a:prstDash val="solid"/>
          </a:ln>
          <a:effectLst>
            <a:outerShdw sx="100000" sy="100000" kx="0" ky="0" algn="bl" rotWithShape="0" blurRad="177800" dist="38100" dir="5400000">
              <a:srgbClr val="1C1916">
                <a:alpha val="10000"/>
              </a:srgbClr>
            </a:outerShdw>
          </a:effectLst>
        </p:spPr>
      </p:sp>
      <p:pic>
        <p:nvPicPr>
          <p:cNvPr id="8" name="Image 0" descr="C:/Users/arthu/AppData/Local/Temp/claude/C--wamp64-www-TitreRNCP/65338c5b-341d-4a9a-a20f-7844345c8908/scratchpad/oral/mcd.png">    </p:cNvPr>
          <p:cNvPicPr>
            <a:picLocks noChangeAspect="1"/>
          </p:cNvPicPr>
          <p:nvPr/>
        </p:nvPicPr>
        <p:blipFill>
          <a:blip r:embed="rId1"/>
          <a:stretch>
            <a:fillRect/>
          </a:stretch>
        </p:blipFill>
        <p:spPr>
          <a:xfrm>
            <a:off x="548640" y="1325880"/>
            <a:ext cx="6720840" cy="4462709"/>
          </a:xfrm>
          <a:prstGeom prst="rect">
            <a:avLst/>
          </a:prstGeom>
        </p:spPr>
      </p:pic>
      <p:sp>
        <p:nvSpPr>
          <p:cNvPr id="9" name="Shape 6"/>
          <p:cNvSpPr/>
          <p:nvPr/>
        </p:nvSpPr>
        <p:spPr>
          <a:xfrm>
            <a:off x="7589520" y="1325880"/>
            <a:ext cx="4572000" cy="2148840"/>
          </a:xfrm>
          <a:prstGeom prst="roundRect">
            <a:avLst>
              <a:gd name="adj" fmla="val 3830"/>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0" name="Text 7"/>
          <p:cNvSpPr txBox="1"/>
          <p:nvPr/>
        </p:nvSpPr>
        <p:spPr>
          <a:xfrm>
            <a:off x="7827264" y="1508760"/>
            <a:ext cx="4096512" cy="310896"/>
          </a:xfrm>
          <a:prstGeom prst="rect">
            <a:avLst/>
          </a:prstGeom>
          <a:noFill/>
          <a:ln/>
        </p:spPr>
        <p:txBody>
          <a:bodyPr wrap="square" lIns="0" tIns="0" rIns="0" bIns="0" rtlCol="0" anchor="ctr"/>
          <a:lstStyle/>
          <a:p>
            <a:pPr indent="0" marL="0">
              <a:buNone/>
            </a:pPr>
            <a:r>
              <a:rPr lang="en-US" sz="1450" b="1" dirty="0">
                <a:solidFill>
                  <a:srgbClr val="E0492B"/>
                </a:solidFill>
                <a:latin typeface="Calibri" pitchFamily="34" charset="0"/>
                <a:ea typeface="Calibri" pitchFamily="34" charset="-122"/>
                <a:cs typeface="Calibri" pitchFamily="34" charset="-120"/>
              </a:rPr>
              <a:t>Les 3 entités centrales</a:t>
            </a:r>
            <a:endParaRPr lang="en-US" sz="1450" dirty="0"/>
          </a:p>
        </p:txBody>
      </p:sp>
      <p:sp>
        <p:nvSpPr>
          <p:cNvPr id="11" name="Text 8"/>
          <p:cNvSpPr txBox="1"/>
          <p:nvPr/>
        </p:nvSpPr>
        <p:spPr>
          <a:xfrm>
            <a:off x="7827264" y="1892808"/>
            <a:ext cx="4096512" cy="136245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users — ENUM type : étudiant ou partenaire, une seule table pour les deux rôles</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evenements — quota, réduction, is_flash + flash_expiry</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inscriptions — table pivot, porte le QR code et le statut</a:t>
            </a:r>
            <a:endParaRPr lang="en-US" sz="1200" dirty="0"/>
          </a:p>
        </p:txBody>
      </p:sp>
      <p:sp>
        <p:nvSpPr>
          <p:cNvPr id="12" name="Shape 9"/>
          <p:cNvSpPr/>
          <p:nvPr/>
        </p:nvSpPr>
        <p:spPr>
          <a:xfrm>
            <a:off x="7589520" y="3657600"/>
            <a:ext cx="4572000" cy="1691640"/>
          </a:xfrm>
          <a:prstGeom prst="roundRect">
            <a:avLst>
              <a:gd name="adj" fmla="val 4865"/>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3" name="Text 10"/>
          <p:cNvSpPr txBox="1"/>
          <p:nvPr/>
        </p:nvSpPr>
        <p:spPr>
          <a:xfrm>
            <a:off x="7827264" y="3840480"/>
            <a:ext cx="4096512" cy="310896"/>
          </a:xfrm>
          <a:prstGeom prst="rect">
            <a:avLst/>
          </a:prstGeom>
          <a:noFill/>
          <a:ln/>
        </p:spPr>
        <p:txBody>
          <a:bodyPr wrap="square" lIns="0" tIns="0" rIns="0" bIns="0" rtlCol="0" anchor="ctr"/>
          <a:lstStyle/>
          <a:p>
            <a:pPr indent="0" marL="0">
              <a:buNone/>
            </a:pPr>
            <a:r>
              <a:rPr lang="en-US" sz="1450" b="1" dirty="0">
                <a:solidFill>
                  <a:srgbClr val="4A40C2"/>
                </a:solidFill>
                <a:latin typeface="Calibri" pitchFamily="34" charset="0"/>
                <a:ea typeface="Calibri" pitchFamily="34" charset="-122"/>
                <a:cs typeface="Calibri" pitchFamily="34" charset="-120"/>
              </a:rPr>
              <a:t>Autour du noyau</a:t>
            </a:r>
            <a:endParaRPr lang="en-US" sz="1450" dirty="0"/>
          </a:p>
        </p:txBody>
      </p:sp>
      <p:sp>
        <p:nvSpPr>
          <p:cNvPr id="14" name="Text 11"/>
          <p:cNvSpPr txBox="1"/>
          <p:nvPr/>
        </p:nvSpPr>
        <p:spPr>
          <a:xfrm>
            <a:off x="7827264" y="4224528"/>
            <a:ext cx="4096512" cy="90525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follows_users — auto-référence sur users</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squads / squad_membres, avis, economies, badges</a:t>
            </a:r>
            <a:endParaRPr lang="en-US" sz="1200" dirty="0"/>
          </a:p>
        </p:txBody>
      </p:sp>
      <p:sp>
        <p:nvSpPr>
          <p:cNvPr id="15" name="Shape 12"/>
          <p:cNvSpPr/>
          <p:nvPr/>
        </p:nvSpPr>
        <p:spPr>
          <a:xfrm>
            <a:off x="7589520" y="5486400"/>
            <a:ext cx="4572000" cy="868680"/>
          </a:xfrm>
          <a:prstGeom prst="roundRect">
            <a:avLst>
              <a:gd name="adj" fmla="val 9474"/>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6" name="Text 13"/>
          <p:cNvSpPr txBox="1"/>
          <p:nvPr/>
        </p:nvSpPr>
        <p:spPr>
          <a:xfrm>
            <a:off x="7827264" y="5669280"/>
            <a:ext cx="4096512" cy="310896"/>
          </a:xfrm>
          <a:prstGeom prst="rect">
            <a:avLst/>
          </a:prstGeom>
          <a:noFill/>
          <a:ln/>
        </p:spPr>
        <p:txBody>
          <a:bodyPr wrap="square" lIns="0" tIns="0" rIns="0" bIns="0" rtlCol="0" anchor="ctr"/>
          <a:lstStyle/>
          <a:p>
            <a:pPr indent="0" marL="0">
              <a:buNone/>
            </a:pPr>
            <a:r>
              <a:rPr lang="en-US" sz="1450" b="1" dirty="0">
                <a:solidFill>
                  <a:srgbClr val="B9821A"/>
                </a:solidFill>
                <a:latin typeface="Calibri" pitchFamily="34" charset="0"/>
                <a:ea typeface="Calibri" pitchFamily="34" charset="-122"/>
                <a:cs typeface="Calibri" pitchFamily="34" charset="-120"/>
              </a:rPr>
              <a:t>Tables techniques (sécurité)</a:t>
            </a:r>
            <a:endParaRPr lang="en-US" sz="1450" dirty="0"/>
          </a:p>
        </p:txBody>
      </p:sp>
      <p:sp>
        <p:nvSpPr>
          <p:cNvPr id="17" name="Text 14"/>
          <p:cNvSpPr txBox="1"/>
          <p:nvPr/>
        </p:nvSpPr>
        <p:spPr>
          <a:xfrm>
            <a:off x="7827264" y="6053328"/>
            <a:ext cx="4096512" cy="8229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login_attempts, password_resets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601200" cy="256032"/>
          </a:xfrm>
          <a:prstGeom prst="rect">
            <a:avLst/>
          </a:prstGeom>
          <a:noFill/>
          <a:ln/>
        </p:spPr>
        <p:txBody>
          <a:bodyPr wrap="square" lIns="0" tIns="0" rIns="0" bIns="0" rtlCol="0" anchor="ctr"/>
          <a:lstStyle/>
          <a:p>
            <a:pPr indent="0" marL="0">
              <a:buNone/>
            </a:pPr>
            <a:r>
              <a:rPr lang="en-US" sz="1150" b="1" spc="300" kern="0" dirty="0">
                <a:solidFill>
                  <a:srgbClr val="E0492B"/>
                </a:solidFill>
                <a:latin typeface="Calibri" pitchFamily="34" charset="0"/>
                <a:ea typeface="Calibri" pitchFamily="34" charset="-122"/>
                <a:cs typeface="Calibri" pitchFamily="34" charset="-120"/>
              </a:rPr>
              <a:t>PARTIE 3 — CONCEPTION</a:t>
            </a:r>
            <a:endParaRPr lang="en-US" sz="1150" dirty="0"/>
          </a:p>
        </p:txBody>
      </p:sp>
      <p:sp>
        <p:nvSpPr>
          <p:cNvPr id="3" name="Shape 1"/>
          <p:cNvSpPr/>
          <p:nvPr/>
        </p:nvSpPr>
        <p:spPr>
          <a:xfrm>
            <a:off x="10241280" y="292608"/>
            <a:ext cx="1371600" cy="365760"/>
          </a:xfrm>
          <a:prstGeom prst="roundRect">
            <a:avLst>
              <a:gd name="adj" fmla="val 50000"/>
            </a:avLst>
          </a:prstGeom>
          <a:solidFill>
            <a:srgbClr val="1C1916"/>
          </a:solidFill>
          <a:ln w="12700">
            <a:solidFill>
              <a:srgbClr val="1C1916"/>
            </a:solidFill>
            <a:prstDash val="solid"/>
          </a:ln>
        </p:spPr>
      </p:sp>
      <p:sp>
        <p:nvSpPr>
          <p:cNvPr id="4" name="Text 2"/>
          <p:cNvSpPr txBox="1"/>
          <p:nvPr/>
        </p:nvSpPr>
        <p:spPr>
          <a:xfrm>
            <a:off x="10241280" y="292608"/>
            <a:ext cx="1371600" cy="365760"/>
          </a:xfrm>
          <a:prstGeom prst="rect">
            <a:avLst/>
          </a:prstGeom>
          <a:noFill/>
          <a:ln/>
        </p:spPr>
        <p:txBody>
          <a:bodyPr wrap="square" lIns="0" tIns="0" rIns="0" bIns="0" rtlCol="0" anchor="ctr"/>
          <a:lstStyle/>
          <a:p>
            <a:pPr algn="ctr" indent="0" marL="0">
              <a:buNone/>
            </a:pPr>
            <a:r>
              <a:rPr lang="en-US" sz="1150" b="1" dirty="0">
                <a:solidFill>
                  <a:srgbClr val="B9821A"/>
                </a:solidFill>
                <a:latin typeface="Calibri" pitchFamily="34" charset="0"/>
                <a:ea typeface="Calibri" pitchFamily="34" charset="-122"/>
                <a:cs typeface="Calibri" pitchFamily="34" charset="-120"/>
              </a:rPr>
              <a:t>10:30</a:t>
            </a:r>
            <a:endParaRPr lang="en-US" sz="1150" dirty="0"/>
          </a:p>
        </p:txBody>
      </p:sp>
      <p:sp>
        <p:nvSpPr>
          <p:cNvPr id="5" name="Text 3"/>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2800" b="1" dirty="0">
                <a:solidFill>
                  <a:srgbClr val="1C1916"/>
                </a:solidFill>
                <a:latin typeface="Cambria" pitchFamily="34" charset="0"/>
                <a:ea typeface="Cambria" pitchFamily="34" charset="-122"/>
                <a:cs typeface="Cambria" pitchFamily="34" charset="-120"/>
              </a:rPr>
              <a:t>Les contraintes d'intégrité, posées en base</a:t>
            </a:r>
            <a:endParaRPr lang="en-US" sz="2800" dirty="0"/>
          </a:p>
        </p:txBody>
      </p:sp>
      <p:sp>
        <p:nvSpPr>
          <p:cNvPr id="6" name="Text 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938B7D"/>
                </a:solidFill>
                <a:latin typeface="Calibri" pitchFamily="34" charset="0"/>
                <a:ea typeface="Calibri" pitchFamily="34" charset="-122"/>
                <a:cs typeface="Calibri" pitchFamily="34" charset="-120"/>
              </a:rPr>
              <a:t>13</a:t>
            </a:r>
            <a:endParaRPr lang="en-US" sz="1000" dirty="0"/>
          </a:p>
        </p:txBody>
      </p:sp>
      <p:sp>
        <p:nvSpPr>
          <p:cNvPr id="7" name="Shape 5"/>
          <p:cNvSpPr/>
          <p:nvPr/>
        </p:nvSpPr>
        <p:spPr>
          <a:xfrm>
            <a:off x="548640" y="1417320"/>
            <a:ext cx="6035040" cy="4160520"/>
          </a:xfrm>
          <a:prstGeom prst="roundRect">
            <a:avLst>
              <a:gd name="adj" fmla="val 1978"/>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8" name="Text 6"/>
          <p:cNvSpPr txBox="1"/>
          <p:nvPr/>
        </p:nvSpPr>
        <p:spPr>
          <a:xfrm>
            <a:off x="786384" y="1600200"/>
            <a:ext cx="5559552" cy="310896"/>
          </a:xfrm>
          <a:prstGeom prst="rect">
            <a:avLst/>
          </a:prstGeom>
          <a:noFill/>
          <a:ln/>
        </p:spPr>
        <p:txBody>
          <a:bodyPr wrap="square" lIns="0" tIns="0" rIns="0" bIns="0" rtlCol="0" anchor="ctr"/>
          <a:lstStyle/>
          <a:p>
            <a:pPr indent="0" marL="0">
              <a:buNone/>
            </a:pPr>
            <a:r>
              <a:rPr lang="en-US" sz="1450" b="1" dirty="0">
                <a:solidFill>
                  <a:srgbClr val="E0492B"/>
                </a:solidFill>
                <a:latin typeface="Calibri" pitchFamily="34" charset="0"/>
                <a:ea typeface="Calibri" pitchFamily="34" charset="-122"/>
                <a:cs typeface="Calibri" pitchFamily="34" charset="-120"/>
              </a:rPr>
              <a:t>Pourquoi en base, et pas seulement en PHP</a:t>
            </a:r>
            <a:endParaRPr lang="en-US" sz="1450" dirty="0"/>
          </a:p>
        </p:txBody>
      </p:sp>
      <p:sp>
        <p:nvSpPr>
          <p:cNvPr id="9" name="Text 7"/>
          <p:cNvSpPr txBox="1"/>
          <p:nvPr/>
        </p:nvSpPr>
        <p:spPr>
          <a:xfrm>
            <a:off x="786384" y="1984248"/>
            <a:ext cx="5559552" cy="337413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Une vérification applicative se contourne dès qu'on rejoue une requête</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UNIQUE (user_id, evenement_id) sur inscriptions : impossible de s'inscrire deux fois</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Même logique sur (squad_id, user_id), (user_id, evenement_id) dans avis, (follower_id, followed_id)</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Toutes les clés étrangères en ON DELETE CASCADE — sert aussi le droit à l'effacement RGPD</a:t>
            </a:r>
            <a:endParaRPr lang="en-US" sz="1200" dirty="0"/>
          </a:p>
        </p:txBody>
      </p:sp>
      <p:sp>
        <p:nvSpPr>
          <p:cNvPr id="10" name="Shape 8"/>
          <p:cNvSpPr/>
          <p:nvPr/>
        </p:nvSpPr>
        <p:spPr>
          <a:xfrm>
            <a:off x="6858000" y="1417320"/>
            <a:ext cx="4846320" cy="4160520"/>
          </a:xfrm>
          <a:prstGeom prst="roundRect">
            <a:avLst>
              <a:gd name="adj" fmla="val 1538"/>
            </a:avLst>
          </a:prstGeom>
          <a:solidFill>
            <a:srgbClr val="F4F1EA"/>
          </a:solidFill>
          <a:ln w="12700">
            <a:solidFill>
              <a:srgbClr val="DED6C6"/>
            </a:solidFill>
            <a:prstDash val="solid"/>
          </a:ln>
        </p:spPr>
      </p:sp>
      <p:sp>
        <p:nvSpPr>
          <p:cNvPr id="11" name="Text 9"/>
          <p:cNvSpPr txBox="1"/>
          <p:nvPr/>
        </p:nvSpPr>
        <p:spPr>
          <a:xfrm>
            <a:off x="7040880" y="1554480"/>
            <a:ext cx="4480560" cy="3886200"/>
          </a:xfrm>
          <a:prstGeom prst="rect">
            <a:avLst/>
          </a:prstGeom>
          <a:noFill/>
          <a:ln/>
        </p:spPr>
        <p:txBody>
          <a:bodyPr wrap="square" lIns="0" tIns="0" rIns="0" bIns="0" rtlCol="0" anchor="t"/>
          <a:lstStyle/>
          <a:p>
            <a:pPr indent="0" marL="0">
              <a:lnSpc>
                <a:spcPts val="1400"/>
              </a:lnSpc>
              <a:buNone/>
            </a:pPr>
            <a:r>
              <a:rPr lang="en-US" sz="1000" dirty="0">
                <a:solidFill>
                  <a:srgbClr val="1A1A1A"/>
                </a:solidFill>
                <a:latin typeface="Courier New" pitchFamily="34" charset="0"/>
                <a:ea typeface="Courier New" pitchFamily="34" charset="-122"/>
                <a:cs typeface="Courier New" pitchFamily="34" charset="-120"/>
              </a:rPr>
              <a:t>CREATE TABLE inscriptions (</a:t>
            </a:r>
            <a:endParaRPr lang="en-US" sz="1000" dirty="0"/>
          </a:p>
          <a:p>
            <a:pPr indent="0" marL="0">
              <a:lnSpc>
                <a:spcPts val="1400"/>
              </a:lnSpc>
              <a:buNone/>
            </a:pPr>
            <a:r>
              <a:rPr lang="en-US" sz="1000" dirty="0">
                <a:solidFill>
                  <a:srgbClr val="1A1A1A"/>
                </a:solidFill>
                <a:latin typeface="Courier New" pitchFamily="34" charset="0"/>
                <a:ea typeface="Courier New" pitchFamily="34" charset="-122"/>
                <a:cs typeface="Courier New" pitchFamily="34" charset="-120"/>
              </a:rPr>
              <a:t>  id           INT AUTO_INCREMENT PRIMARY KEY,</a:t>
            </a:r>
            <a:endParaRPr lang="en-US" sz="1000" dirty="0"/>
          </a:p>
          <a:p>
            <a:pPr indent="0" marL="0">
              <a:lnSpc>
                <a:spcPts val="1400"/>
              </a:lnSpc>
              <a:buNone/>
            </a:pPr>
            <a:r>
              <a:rPr lang="en-US" sz="1000" dirty="0">
                <a:solidFill>
                  <a:srgbClr val="1A1A1A"/>
                </a:solidFill>
                <a:latin typeface="Courier New" pitchFamily="34" charset="0"/>
                <a:ea typeface="Courier New" pitchFamily="34" charset="-122"/>
                <a:cs typeface="Courier New" pitchFamily="34" charset="-120"/>
              </a:rPr>
              <a:t>  user_id      INT NOT NULL,</a:t>
            </a:r>
            <a:endParaRPr lang="en-US" sz="1000" dirty="0"/>
          </a:p>
          <a:p>
            <a:pPr indent="0" marL="0">
              <a:lnSpc>
                <a:spcPts val="1400"/>
              </a:lnSpc>
              <a:buNone/>
            </a:pPr>
            <a:r>
              <a:rPr lang="en-US" sz="1000" dirty="0">
                <a:solidFill>
                  <a:srgbClr val="1A1A1A"/>
                </a:solidFill>
                <a:latin typeface="Courier New" pitchFamily="34" charset="0"/>
                <a:ea typeface="Courier New" pitchFamily="34" charset="-122"/>
                <a:cs typeface="Courier New" pitchFamily="34" charset="-120"/>
              </a:rPr>
              <a:t>  evenement_id INT NOT NULL,</a:t>
            </a:r>
            <a:endParaRPr lang="en-US" sz="1000" dirty="0"/>
          </a:p>
          <a:p>
            <a:pPr indent="0" marL="0">
              <a:lnSpc>
                <a:spcPts val="1400"/>
              </a:lnSpc>
              <a:buNone/>
            </a:pPr>
            <a:r>
              <a:rPr lang="en-US" sz="1000" dirty="0">
                <a:solidFill>
                  <a:srgbClr val="1A1A1A"/>
                </a:solidFill>
                <a:latin typeface="Courier New" pitchFamily="34" charset="0"/>
                <a:ea typeface="Courier New" pitchFamily="34" charset="-122"/>
                <a:cs typeface="Courier New" pitchFamily="34" charset="-120"/>
              </a:rPr>
              <a:t>  qr_code      VARCHAR(64) NOT NULL,</a:t>
            </a:r>
            <a:endParaRPr lang="en-US" sz="1000" dirty="0"/>
          </a:p>
          <a:p>
            <a:pPr indent="0" marL="0">
              <a:lnSpc>
                <a:spcPts val="1400"/>
              </a:lnSpc>
              <a:buNone/>
            </a:pPr>
            <a:r>
              <a:rPr lang="en-US" sz="1000" dirty="0">
                <a:solidFill>
                  <a:srgbClr val="1A1A1A"/>
                </a:solidFill>
                <a:latin typeface="Courier New" pitchFamily="34" charset="0"/>
                <a:ea typeface="Courier New" pitchFamily="34" charset="-122"/>
                <a:cs typeface="Courier New" pitchFamily="34" charset="-120"/>
              </a:rPr>
              <a:t>  statut       ENUM('inscrit','checkin','annule')</a:t>
            </a:r>
            <a:endParaRPr lang="en-US" sz="1000" dirty="0"/>
          </a:p>
          <a:p>
            <a:pPr indent="0" marL="0">
              <a:lnSpc>
                <a:spcPts val="1400"/>
              </a:lnSpc>
              <a:buNone/>
            </a:pPr>
            <a:r>
              <a:rPr lang="en-US" sz="1000" dirty="0">
                <a:solidFill>
                  <a:srgbClr val="1A1A1A"/>
                </a:solidFill>
                <a:latin typeface="Courier New" pitchFamily="34" charset="0"/>
                <a:ea typeface="Courier New" pitchFamily="34" charset="-122"/>
                <a:cs typeface="Courier New" pitchFamily="34" charset="-120"/>
              </a:rPr>
              <a:t>               DEFAULT 'inscrit',</a:t>
            </a:r>
            <a:endParaRPr lang="en-US" sz="1000" dirty="0"/>
          </a:p>
          <a:p>
            <a:pPr indent="0" marL="0">
              <a:lnSpc>
                <a:spcPts val="1400"/>
              </a:lnSpc>
              <a:buNone/>
            </a:pPr>
            <a:endParaRPr lang="en-US" sz="1000" dirty="0"/>
          </a:p>
          <a:p>
            <a:pPr indent="0" marL="0">
              <a:lnSpc>
                <a:spcPts val="1400"/>
              </a:lnSpc>
              <a:buNone/>
            </a:pPr>
            <a:r>
              <a:rPr lang="en-US" sz="1000" dirty="0">
                <a:solidFill>
                  <a:srgbClr val="1A1A1A"/>
                </a:solidFill>
                <a:latin typeface="Courier New" pitchFamily="34" charset="0"/>
                <a:ea typeface="Courier New" pitchFamily="34" charset="-122"/>
                <a:cs typeface="Courier New" pitchFamily="34" charset="-120"/>
              </a:rPr>
              <a:t>  UNIQUE KEY unique_inscription</a:t>
            </a:r>
            <a:endParaRPr lang="en-US" sz="1000" dirty="0"/>
          </a:p>
          <a:p>
            <a:pPr indent="0" marL="0">
              <a:lnSpc>
                <a:spcPts val="1400"/>
              </a:lnSpc>
              <a:buNone/>
            </a:pPr>
            <a:r>
              <a:rPr lang="en-US" sz="1000" dirty="0">
                <a:solidFill>
                  <a:srgbClr val="1A1A1A"/>
                </a:solidFill>
                <a:latin typeface="Courier New" pitchFamily="34" charset="0"/>
                <a:ea typeface="Courier New" pitchFamily="34" charset="-122"/>
                <a:cs typeface="Courier New" pitchFamily="34" charset="-120"/>
              </a:rPr>
              <a:t>         (user_id, evenement_id),</a:t>
            </a:r>
            <a:endParaRPr lang="en-US" sz="1000" dirty="0"/>
          </a:p>
          <a:p>
            <a:pPr indent="0" marL="0">
              <a:lnSpc>
                <a:spcPts val="1400"/>
              </a:lnSpc>
              <a:buNone/>
            </a:pPr>
            <a:r>
              <a:rPr lang="en-US" sz="1000" dirty="0">
                <a:solidFill>
                  <a:srgbClr val="1A1A1A"/>
                </a:solidFill>
                <a:latin typeface="Courier New" pitchFamily="34" charset="0"/>
                <a:ea typeface="Courier New" pitchFamily="34" charset="-122"/>
                <a:cs typeface="Courier New" pitchFamily="34" charset="-120"/>
              </a:rPr>
              <a:t>  FOREIGN KEY (user_id) REFERENCES users(id)</a:t>
            </a:r>
            <a:endParaRPr lang="en-US" sz="1000" dirty="0"/>
          </a:p>
          <a:p>
            <a:pPr indent="0" marL="0">
              <a:lnSpc>
                <a:spcPts val="1400"/>
              </a:lnSpc>
              <a:buNone/>
            </a:pPr>
            <a:r>
              <a:rPr lang="en-US" sz="1000" dirty="0">
                <a:solidFill>
                  <a:srgbClr val="1A1A1A"/>
                </a:solidFill>
                <a:latin typeface="Courier New" pitchFamily="34" charset="0"/>
                <a:ea typeface="Courier New" pitchFamily="34" charset="-122"/>
                <a:cs typeface="Courier New" pitchFamily="34" charset="-120"/>
              </a:rPr>
              <a:t>         ON DELETE CASCADE</a:t>
            </a:r>
            <a:endParaRPr lang="en-US" sz="1000" dirty="0"/>
          </a:p>
          <a:p>
            <a:pPr indent="0" marL="0">
              <a:lnSpc>
                <a:spcPts val="1400"/>
              </a:lnSpc>
              <a:buNone/>
            </a:pPr>
            <a:r>
              <a:rPr lang="en-US" sz="1000" dirty="0">
                <a:solidFill>
                  <a:srgbClr val="1A1A1A"/>
                </a:solidFill>
                <a:latin typeface="Courier New" pitchFamily="34" charset="0"/>
                <a:ea typeface="Courier New" pitchFamily="34" charset="-122"/>
                <a:cs typeface="Courier New" pitchFamily="34" charset="-120"/>
              </a:rPr>
              <a:t>);</a:t>
            </a:r>
            <a:endParaRPr lang="en-US" sz="1000" dirty="0"/>
          </a:p>
          <a:p>
            <a:pPr indent="0" marL="0">
              <a:lnSpc>
                <a:spcPts val="1400"/>
              </a:lnSpc>
              <a:buNone/>
            </a:pPr>
            <a:endParaRPr lang="en-US" sz="1000" dirty="0"/>
          </a:p>
          <a:p>
            <a:pPr indent="0" marL="0">
              <a:lnSpc>
                <a:spcPts val="1400"/>
              </a:lnSpc>
              <a:buNone/>
            </a:pPr>
            <a:r>
              <a:rPr lang="en-US" sz="1000" dirty="0">
                <a:solidFill>
                  <a:srgbClr val="1A1A1A"/>
                </a:solidFill>
                <a:latin typeface="Courier New" pitchFamily="34" charset="0"/>
                <a:ea typeface="Courier New" pitchFamily="34" charset="-122"/>
                <a:cs typeface="Courier New" pitchFamily="34" charset="-120"/>
              </a:rPr>
              <a:t>// Côté API : SQLSTATE 23000 → "déjà inscrit"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601200" cy="256032"/>
          </a:xfrm>
          <a:prstGeom prst="rect">
            <a:avLst/>
          </a:prstGeom>
          <a:noFill/>
          <a:ln/>
        </p:spPr>
        <p:txBody>
          <a:bodyPr wrap="square" lIns="0" tIns="0" rIns="0" bIns="0" rtlCol="0" anchor="ctr"/>
          <a:lstStyle/>
          <a:p>
            <a:pPr indent="0" marL="0">
              <a:buNone/>
            </a:pPr>
            <a:r>
              <a:rPr lang="en-US" sz="1150" b="1" spc="300" kern="0" dirty="0">
                <a:solidFill>
                  <a:srgbClr val="E0492B"/>
                </a:solidFill>
                <a:latin typeface="Calibri" pitchFamily="34" charset="0"/>
                <a:ea typeface="Calibri" pitchFamily="34" charset="-122"/>
                <a:cs typeface="Calibri" pitchFamily="34" charset="-120"/>
              </a:rPr>
              <a:t>PARTIE 3 — CONCEPTION</a:t>
            </a:r>
            <a:endParaRPr lang="en-US" sz="1150" dirty="0"/>
          </a:p>
        </p:txBody>
      </p:sp>
      <p:sp>
        <p:nvSpPr>
          <p:cNvPr id="3" name="Shape 1"/>
          <p:cNvSpPr/>
          <p:nvPr/>
        </p:nvSpPr>
        <p:spPr>
          <a:xfrm>
            <a:off x="10241280" y="292608"/>
            <a:ext cx="1371600" cy="365760"/>
          </a:xfrm>
          <a:prstGeom prst="roundRect">
            <a:avLst>
              <a:gd name="adj" fmla="val 50000"/>
            </a:avLst>
          </a:prstGeom>
          <a:solidFill>
            <a:srgbClr val="1C1916"/>
          </a:solidFill>
          <a:ln w="12700">
            <a:solidFill>
              <a:srgbClr val="1C1916"/>
            </a:solidFill>
            <a:prstDash val="solid"/>
          </a:ln>
        </p:spPr>
      </p:sp>
      <p:sp>
        <p:nvSpPr>
          <p:cNvPr id="4" name="Text 2"/>
          <p:cNvSpPr txBox="1"/>
          <p:nvPr/>
        </p:nvSpPr>
        <p:spPr>
          <a:xfrm>
            <a:off x="10241280" y="292608"/>
            <a:ext cx="1371600" cy="365760"/>
          </a:xfrm>
          <a:prstGeom prst="rect">
            <a:avLst/>
          </a:prstGeom>
          <a:noFill/>
          <a:ln/>
        </p:spPr>
        <p:txBody>
          <a:bodyPr wrap="square" lIns="0" tIns="0" rIns="0" bIns="0" rtlCol="0" anchor="ctr"/>
          <a:lstStyle/>
          <a:p>
            <a:pPr algn="ctr" indent="0" marL="0">
              <a:buNone/>
            </a:pPr>
            <a:r>
              <a:rPr lang="en-US" sz="1150" b="1" dirty="0">
                <a:solidFill>
                  <a:srgbClr val="B9821A"/>
                </a:solidFill>
                <a:latin typeface="Calibri" pitchFamily="34" charset="0"/>
                <a:ea typeface="Calibri" pitchFamily="34" charset="-122"/>
                <a:cs typeface="Calibri" pitchFamily="34" charset="-120"/>
              </a:rPr>
              <a:t>12:00</a:t>
            </a:r>
            <a:endParaRPr lang="en-US" sz="1150" dirty="0"/>
          </a:p>
        </p:txBody>
      </p:sp>
      <p:sp>
        <p:nvSpPr>
          <p:cNvPr id="5" name="Text 3"/>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2800" b="1" dirty="0">
                <a:solidFill>
                  <a:srgbClr val="1C1916"/>
                </a:solidFill>
                <a:latin typeface="Cambria" pitchFamily="34" charset="0"/>
                <a:ea typeface="Cambria" pitchFamily="34" charset="-122"/>
                <a:cs typeface="Cambria" pitchFamily="34" charset="-120"/>
              </a:rPr>
              <a:t>Le diagramme de cas d'utilisation</a:t>
            </a:r>
            <a:endParaRPr lang="en-US" sz="2800" dirty="0"/>
          </a:p>
        </p:txBody>
      </p:sp>
      <p:sp>
        <p:nvSpPr>
          <p:cNvPr id="6" name="Text 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938B7D"/>
                </a:solidFill>
                <a:latin typeface="Calibri" pitchFamily="34" charset="0"/>
                <a:ea typeface="Calibri" pitchFamily="34" charset="-122"/>
                <a:cs typeface="Calibri" pitchFamily="34" charset="-120"/>
              </a:rPr>
              <a:t>14</a:t>
            </a:r>
            <a:endParaRPr lang="en-US" sz="1000" dirty="0"/>
          </a:p>
        </p:txBody>
      </p:sp>
      <p:sp>
        <p:nvSpPr>
          <p:cNvPr id="7" name="Shape 5"/>
          <p:cNvSpPr/>
          <p:nvPr/>
        </p:nvSpPr>
        <p:spPr>
          <a:xfrm>
            <a:off x="1883664" y="1261872"/>
            <a:ext cx="8577072" cy="5950084"/>
          </a:xfrm>
          <a:prstGeom prst="roundRect">
            <a:avLst>
              <a:gd name="adj" fmla="val 768"/>
            </a:avLst>
          </a:prstGeom>
          <a:solidFill>
            <a:srgbClr val="DED6C6"/>
          </a:solidFill>
          <a:ln w="12700">
            <a:solidFill>
              <a:srgbClr val="DED6C6"/>
            </a:solidFill>
            <a:prstDash val="solid"/>
          </a:ln>
          <a:effectLst>
            <a:outerShdw sx="100000" sy="100000" kx="0" ky="0" algn="bl" rotWithShape="0" blurRad="177800" dist="38100" dir="5400000">
              <a:srgbClr val="1C1916">
                <a:alpha val="10000"/>
              </a:srgbClr>
            </a:outerShdw>
          </a:effectLst>
        </p:spPr>
      </p:sp>
      <p:pic>
        <p:nvPicPr>
          <p:cNvPr id="8" name="Image 0" descr="C:/Users/arthu/AppData/Local/Temp/claude/C--wamp64-www-TitreRNCP/65338c5b-341d-4a9a-a20f-7844345c8908/scratchpad/oral/usecase.png">    </p:cNvPr>
          <p:cNvPicPr>
            <a:picLocks noChangeAspect="1"/>
          </p:cNvPicPr>
          <p:nvPr/>
        </p:nvPicPr>
        <p:blipFill>
          <a:blip r:embed="rId1"/>
          <a:stretch>
            <a:fillRect/>
          </a:stretch>
        </p:blipFill>
        <p:spPr>
          <a:xfrm>
            <a:off x="1920240" y="1298448"/>
            <a:ext cx="8503920" cy="587693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601200" cy="256032"/>
          </a:xfrm>
          <a:prstGeom prst="rect">
            <a:avLst/>
          </a:prstGeom>
          <a:noFill/>
          <a:ln/>
        </p:spPr>
        <p:txBody>
          <a:bodyPr wrap="square" lIns="0" tIns="0" rIns="0" bIns="0" rtlCol="0" anchor="ctr"/>
          <a:lstStyle/>
          <a:p>
            <a:pPr indent="0" marL="0">
              <a:buNone/>
            </a:pPr>
            <a:r>
              <a:rPr lang="en-US" sz="1150" b="1" spc="300" kern="0" dirty="0">
                <a:solidFill>
                  <a:srgbClr val="E0492B"/>
                </a:solidFill>
                <a:latin typeface="Calibri" pitchFamily="34" charset="0"/>
                <a:ea typeface="Calibri" pitchFamily="34" charset="-122"/>
                <a:cs typeface="Calibri" pitchFamily="34" charset="-120"/>
              </a:rPr>
              <a:t>PARTIE 3 — CONCEPTION</a:t>
            </a:r>
            <a:endParaRPr lang="en-US" sz="1150" dirty="0"/>
          </a:p>
        </p:txBody>
      </p:sp>
      <p:sp>
        <p:nvSpPr>
          <p:cNvPr id="3" name="Shape 1"/>
          <p:cNvSpPr/>
          <p:nvPr/>
        </p:nvSpPr>
        <p:spPr>
          <a:xfrm>
            <a:off x="10241280" y="292608"/>
            <a:ext cx="1371600" cy="365760"/>
          </a:xfrm>
          <a:prstGeom prst="roundRect">
            <a:avLst>
              <a:gd name="adj" fmla="val 50000"/>
            </a:avLst>
          </a:prstGeom>
          <a:solidFill>
            <a:srgbClr val="1C1916"/>
          </a:solidFill>
          <a:ln w="12700">
            <a:solidFill>
              <a:srgbClr val="1C1916"/>
            </a:solidFill>
            <a:prstDash val="solid"/>
          </a:ln>
        </p:spPr>
      </p:sp>
      <p:sp>
        <p:nvSpPr>
          <p:cNvPr id="4" name="Text 2"/>
          <p:cNvSpPr txBox="1"/>
          <p:nvPr/>
        </p:nvSpPr>
        <p:spPr>
          <a:xfrm>
            <a:off x="10241280" y="292608"/>
            <a:ext cx="1371600" cy="365760"/>
          </a:xfrm>
          <a:prstGeom prst="rect">
            <a:avLst/>
          </a:prstGeom>
          <a:noFill/>
          <a:ln/>
        </p:spPr>
        <p:txBody>
          <a:bodyPr wrap="square" lIns="0" tIns="0" rIns="0" bIns="0" rtlCol="0" anchor="ctr"/>
          <a:lstStyle/>
          <a:p>
            <a:pPr algn="ctr" indent="0" marL="0">
              <a:buNone/>
            </a:pPr>
            <a:r>
              <a:rPr lang="en-US" sz="1150" b="1" dirty="0">
                <a:solidFill>
                  <a:srgbClr val="B9821A"/>
                </a:solidFill>
                <a:latin typeface="Calibri" pitchFamily="34" charset="0"/>
                <a:ea typeface="Calibri" pitchFamily="34" charset="-122"/>
                <a:cs typeface="Calibri" pitchFamily="34" charset="-120"/>
              </a:rPr>
              <a:t>13:00</a:t>
            </a:r>
            <a:endParaRPr lang="en-US" sz="1150" dirty="0"/>
          </a:p>
        </p:txBody>
      </p:sp>
      <p:sp>
        <p:nvSpPr>
          <p:cNvPr id="5" name="Text 3"/>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2800" b="1" dirty="0">
                <a:solidFill>
                  <a:srgbClr val="1C1916"/>
                </a:solidFill>
                <a:latin typeface="Cambria" pitchFamily="34" charset="0"/>
                <a:ea typeface="Cambria" pitchFamily="34" charset="-122"/>
                <a:cs typeface="Cambria" pitchFamily="34" charset="-120"/>
              </a:rPr>
              <a:t>Séquence de l'inscription, en six étapes</a:t>
            </a:r>
            <a:endParaRPr lang="en-US" sz="2800" dirty="0"/>
          </a:p>
        </p:txBody>
      </p:sp>
      <p:sp>
        <p:nvSpPr>
          <p:cNvPr id="6" name="Text 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938B7D"/>
                </a:solidFill>
                <a:latin typeface="Calibri" pitchFamily="34" charset="0"/>
                <a:ea typeface="Calibri" pitchFamily="34" charset="-122"/>
                <a:cs typeface="Calibri" pitchFamily="34" charset="-120"/>
              </a:rPr>
              <a:t>15</a:t>
            </a:r>
            <a:endParaRPr lang="en-US" sz="1000" dirty="0"/>
          </a:p>
        </p:txBody>
      </p:sp>
      <p:sp>
        <p:nvSpPr>
          <p:cNvPr id="7" name="Shape 5"/>
          <p:cNvSpPr/>
          <p:nvPr/>
        </p:nvSpPr>
        <p:spPr>
          <a:xfrm>
            <a:off x="512064" y="1261872"/>
            <a:ext cx="6473952" cy="5226775"/>
          </a:xfrm>
          <a:prstGeom prst="roundRect">
            <a:avLst>
              <a:gd name="adj" fmla="val 875"/>
            </a:avLst>
          </a:prstGeom>
          <a:solidFill>
            <a:srgbClr val="DED6C6"/>
          </a:solidFill>
          <a:ln w="12700">
            <a:solidFill>
              <a:srgbClr val="DED6C6"/>
            </a:solidFill>
            <a:prstDash val="solid"/>
          </a:ln>
          <a:effectLst>
            <a:outerShdw sx="100000" sy="100000" kx="0" ky="0" algn="bl" rotWithShape="0" blurRad="177800" dist="38100" dir="5400000">
              <a:srgbClr val="1C1916">
                <a:alpha val="10000"/>
              </a:srgbClr>
            </a:outerShdw>
          </a:effectLst>
        </p:spPr>
      </p:sp>
      <p:pic>
        <p:nvPicPr>
          <p:cNvPr id="8" name="Image 0" descr="C:/Users/arthu/AppData/Local/Temp/claude/C--wamp64-www-TitreRNCP/65338c5b-341d-4a9a-a20f-7844345c8908/scratchpad/oral/sequence.png">    </p:cNvPr>
          <p:cNvPicPr>
            <a:picLocks noChangeAspect="1"/>
          </p:cNvPicPr>
          <p:nvPr/>
        </p:nvPicPr>
        <p:blipFill>
          <a:blip r:embed="rId1"/>
          <a:stretch>
            <a:fillRect/>
          </a:stretch>
        </p:blipFill>
        <p:spPr>
          <a:xfrm>
            <a:off x="548640" y="1298448"/>
            <a:ext cx="6400800" cy="5153623"/>
          </a:xfrm>
          <a:prstGeom prst="rect">
            <a:avLst/>
          </a:prstGeom>
        </p:spPr>
      </p:pic>
      <p:sp>
        <p:nvSpPr>
          <p:cNvPr id="9" name="Shape 6"/>
          <p:cNvSpPr/>
          <p:nvPr/>
        </p:nvSpPr>
        <p:spPr>
          <a:xfrm>
            <a:off x="7269480" y="1298448"/>
            <a:ext cx="4892040" cy="5120640"/>
          </a:xfrm>
          <a:prstGeom prst="roundRect">
            <a:avLst>
              <a:gd name="adj" fmla="val 1682"/>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0" name="Text 7"/>
          <p:cNvSpPr txBox="1"/>
          <p:nvPr/>
        </p:nvSpPr>
        <p:spPr>
          <a:xfrm>
            <a:off x="7507224" y="1481328"/>
            <a:ext cx="4416552" cy="310896"/>
          </a:xfrm>
          <a:prstGeom prst="rect">
            <a:avLst/>
          </a:prstGeom>
          <a:noFill/>
          <a:ln/>
        </p:spPr>
        <p:txBody>
          <a:bodyPr wrap="square" lIns="0" tIns="0" rIns="0" bIns="0" rtlCol="0" anchor="ctr"/>
          <a:lstStyle/>
          <a:p>
            <a:pPr indent="0" marL="0">
              <a:buNone/>
            </a:pPr>
            <a:r>
              <a:rPr lang="en-US" sz="1450" b="1" dirty="0">
                <a:solidFill>
                  <a:srgbClr val="E0492B"/>
                </a:solidFill>
                <a:latin typeface="Calibri" pitchFamily="34" charset="0"/>
                <a:ea typeface="Calibri" pitchFamily="34" charset="-122"/>
                <a:cs typeface="Calibri" pitchFamily="34" charset="-120"/>
              </a:rPr>
              <a:t>Les six étapes</a:t>
            </a:r>
            <a:endParaRPr lang="en-US" sz="1450" dirty="0"/>
          </a:p>
        </p:txBody>
      </p:sp>
      <p:sp>
        <p:nvSpPr>
          <p:cNvPr id="11" name="Text 8"/>
          <p:cNvSpPr txBox="1"/>
          <p:nvPr/>
        </p:nvSpPr>
        <p:spPr>
          <a:xfrm>
            <a:off x="7507224" y="1865376"/>
            <a:ext cx="4416552" cy="433425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1. Le JS envoie un POST JSON à /api/inscrire.php</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2. Vérification session + rôle étudiant, côté serveur</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3. L'événement existe et n'est pas passé</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4. Comptage des inscrits vs quota</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5. QR = SHA-256(user + event + horodatage)</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6. Transaction : inscription + économie, ou rollBack</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601200" cy="256032"/>
          </a:xfrm>
          <a:prstGeom prst="rect">
            <a:avLst/>
          </a:prstGeom>
          <a:noFill/>
          <a:ln/>
        </p:spPr>
        <p:txBody>
          <a:bodyPr wrap="square" lIns="0" tIns="0" rIns="0" bIns="0" rtlCol="0" anchor="ctr"/>
          <a:lstStyle/>
          <a:p>
            <a:pPr indent="0" marL="0">
              <a:buNone/>
            </a:pPr>
            <a:r>
              <a:rPr lang="en-US" sz="1150" b="1" spc="300" kern="0" dirty="0">
                <a:solidFill>
                  <a:srgbClr val="E0492B"/>
                </a:solidFill>
                <a:latin typeface="Calibri" pitchFamily="34" charset="0"/>
                <a:ea typeface="Calibri" pitchFamily="34" charset="-122"/>
                <a:cs typeface="Calibri" pitchFamily="34" charset="-120"/>
              </a:rPr>
              <a:t>PARTIE 3 — CONCEPTION</a:t>
            </a:r>
            <a:endParaRPr lang="en-US" sz="1150" dirty="0"/>
          </a:p>
        </p:txBody>
      </p:sp>
      <p:sp>
        <p:nvSpPr>
          <p:cNvPr id="3" name="Shape 1"/>
          <p:cNvSpPr/>
          <p:nvPr/>
        </p:nvSpPr>
        <p:spPr>
          <a:xfrm>
            <a:off x="10241280" y="292608"/>
            <a:ext cx="1371600" cy="365760"/>
          </a:xfrm>
          <a:prstGeom prst="roundRect">
            <a:avLst>
              <a:gd name="adj" fmla="val 50000"/>
            </a:avLst>
          </a:prstGeom>
          <a:solidFill>
            <a:srgbClr val="1C1916"/>
          </a:solidFill>
          <a:ln w="12700">
            <a:solidFill>
              <a:srgbClr val="1C1916"/>
            </a:solidFill>
            <a:prstDash val="solid"/>
          </a:ln>
        </p:spPr>
      </p:sp>
      <p:sp>
        <p:nvSpPr>
          <p:cNvPr id="4" name="Text 2"/>
          <p:cNvSpPr txBox="1"/>
          <p:nvPr/>
        </p:nvSpPr>
        <p:spPr>
          <a:xfrm>
            <a:off x="10241280" y="292608"/>
            <a:ext cx="1371600" cy="365760"/>
          </a:xfrm>
          <a:prstGeom prst="rect">
            <a:avLst/>
          </a:prstGeom>
          <a:noFill/>
          <a:ln/>
        </p:spPr>
        <p:txBody>
          <a:bodyPr wrap="square" lIns="0" tIns="0" rIns="0" bIns="0" rtlCol="0" anchor="ctr"/>
          <a:lstStyle/>
          <a:p>
            <a:pPr algn="ctr" indent="0" marL="0">
              <a:buNone/>
            </a:pPr>
            <a:r>
              <a:rPr lang="en-US" sz="1150" b="1" dirty="0">
                <a:solidFill>
                  <a:srgbClr val="B9821A"/>
                </a:solidFill>
                <a:latin typeface="Calibri" pitchFamily="34" charset="0"/>
                <a:ea typeface="Calibri" pitchFamily="34" charset="-122"/>
                <a:cs typeface="Calibri" pitchFamily="34" charset="-120"/>
              </a:rPr>
              <a:t>13:30</a:t>
            </a:r>
            <a:endParaRPr lang="en-US" sz="1150" dirty="0"/>
          </a:p>
        </p:txBody>
      </p:sp>
      <p:sp>
        <p:nvSpPr>
          <p:cNvPr id="5" name="Text 3"/>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2800" b="1" dirty="0">
                <a:solidFill>
                  <a:srgbClr val="1C1916"/>
                </a:solidFill>
                <a:latin typeface="Cambria" pitchFamily="34" charset="0"/>
                <a:ea typeface="Cambria" pitchFamily="34" charset="-122"/>
                <a:cs typeface="Cambria" pitchFamily="34" charset="-120"/>
              </a:rPr>
              <a:t>Architecture applicative &amp; un problème résolu</a:t>
            </a:r>
            <a:endParaRPr lang="en-US" sz="2800" dirty="0"/>
          </a:p>
        </p:txBody>
      </p:sp>
      <p:sp>
        <p:nvSpPr>
          <p:cNvPr id="6" name="Text 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938B7D"/>
                </a:solidFill>
                <a:latin typeface="Calibri" pitchFamily="34" charset="0"/>
                <a:ea typeface="Calibri" pitchFamily="34" charset="-122"/>
                <a:cs typeface="Calibri" pitchFamily="34" charset="-120"/>
              </a:rPr>
              <a:t>16</a:t>
            </a:r>
            <a:endParaRPr lang="en-US" sz="1000" dirty="0"/>
          </a:p>
        </p:txBody>
      </p:sp>
      <p:sp>
        <p:nvSpPr>
          <p:cNvPr id="7" name="Shape 5"/>
          <p:cNvSpPr/>
          <p:nvPr/>
        </p:nvSpPr>
        <p:spPr>
          <a:xfrm>
            <a:off x="512064" y="1261872"/>
            <a:ext cx="5650992" cy="3774439"/>
          </a:xfrm>
          <a:prstGeom prst="roundRect">
            <a:avLst>
              <a:gd name="adj" fmla="val 1211"/>
            </a:avLst>
          </a:prstGeom>
          <a:solidFill>
            <a:srgbClr val="DED6C6"/>
          </a:solidFill>
          <a:ln w="12700">
            <a:solidFill>
              <a:srgbClr val="DED6C6"/>
            </a:solidFill>
            <a:prstDash val="solid"/>
          </a:ln>
          <a:effectLst>
            <a:outerShdw sx="100000" sy="100000" kx="0" ky="0" algn="bl" rotWithShape="0" blurRad="177800" dist="38100" dir="5400000">
              <a:srgbClr val="1C1916">
                <a:alpha val="10000"/>
              </a:srgbClr>
            </a:outerShdw>
          </a:effectLst>
        </p:spPr>
      </p:sp>
      <p:pic>
        <p:nvPicPr>
          <p:cNvPr id="8" name="Image 0" descr="C:/Users/arthu/AppData/Local/Temp/claude/C--wamp64-www-TitreRNCP/65338c5b-341d-4a9a-a20f-7844345c8908/scratchpad/oral/architecture.png">    </p:cNvPr>
          <p:cNvPicPr>
            <a:picLocks noChangeAspect="1"/>
          </p:cNvPicPr>
          <p:nvPr/>
        </p:nvPicPr>
        <p:blipFill>
          <a:blip r:embed="rId1"/>
          <a:stretch>
            <a:fillRect/>
          </a:stretch>
        </p:blipFill>
        <p:spPr>
          <a:xfrm>
            <a:off x="548640" y="1298448"/>
            <a:ext cx="5577840" cy="3701287"/>
          </a:xfrm>
          <a:prstGeom prst="rect">
            <a:avLst/>
          </a:prstGeom>
        </p:spPr>
      </p:pic>
      <p:sp>
        <p:nvSpPr>
          <p:cNvPr id="9" name="Shape 6"/>
          <p:cNvSpPr/>
          <p:nvPr/>
        </p:nvSpPr>
        <p:spPr>
          <a:xfrm>
            <a:off x="6446520" y="1298448"/>
            <a:ext cx="5715000" cy="2286000"/>
          </a:xfrm>
          <a:prstGeom prst="roundRect">
            <a:avLst>
              <a:gd name="adj" fmla="val 3600"/>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0" name="Text 7"/>
          <p:cNvSpPr txBox="1"/>
          <p:nvPr/>
        </p:nvSpPr>
        <p:spPr>
          <a:xfrm>
            <a:off x="6684264" y="1481328"/>
            <a:ext cx="5239512" cy="310896"/>
          </a:xfrm>
          <a:prstGeom prst="rect">
            <a:avLst/>
          </a:prstGeom>
          <a:noFill/>
          <a:ln/>
        </p:spPr>
        <p:txBody>
          <a:bodyPr wrap="square" lIns="0" tIns="0" rIns="0" bIns="0" rtlCol="0" anchor="ctr"/>
          <a:lstStyle/>
          <a:p>
            <a:pPr indent="0" marL="0">
              <a:buNone/>
            </a:pPr>
            <a:r>
              <a:rPr lang="en-US" sz="1450" b="1" dirty="0">
                <a:solidFill>
                  <a:srgbClr val="4A40C2"/>
                </a:solidFill>
                <a:latin typeface="Calibri" pitchFamily="34" charset="0"/>
                <a:ea typeface="Calibri" pitchFamily="34" charset="-122"/>
                <a:cs typeface="Calibri" pitchFamily="34" charset="-120"/>
              </a:rPr>
              <a:t>MVC allégé, procédural, sans framework</a:t>
            </a:r>
            <a:endParaRPr lang="en-US" sz="1450" dirty="0"/>
          </a:p>
        </p:txBody>
      </p:sp>
      <p:sp>
        <p:nvSpPr>
          <p:cNvPr id="11" name="Text 8"/>
          <p:cNvSpPr txBox="1"/>
          <p:nvPr/>
        </p:nvSpPr>
        <p:spPr>
          <a:xfrm>
            <a:off x="6684264" y="1865376"/>
            <a:ext cx="5239512" cy="149961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Contrôleur : haut de chaque .php (GET/POST, validation, PDO)</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Vue : HTML en dessous, sans moteur de template</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includes/ : db, auth_check, security, gamification</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~12 endpoints JSON dans /api/</a:t>
            </a:r>
            <a:endParaRPr lang="en-US" sz="1200" dirty="0"/>
          </a:p>
        </p:txBody>
      </p:sp>
      <p:sp>
        <p:nvSpPr>
          <p:cNvPr id="12" name="Shape 9"/>
          <p:cNvSpPr/>
          <p:nvPr/>
        </p:nvSpPr>
        <p:spPr>
          <a:xfrm>
            <a:off x="6446520" y="3749040"/>
            <a:ext cx="5715000" cy="2651760"/>
          </a:xfrm>
          <a:prstGeom prst="roundRect">
            <a:avLst>
              <a:gd name="adj" fmla="val 3103"/>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3" name="Text 10"/>
          <p:cNvSpPr txBox="1"/>
          <p:nvPr/>
        </p:nvSpPr>
        <p:spPr>
          <a:xfrm>
            <a:off x="6684264" y="3931920"/>
            <a:ext cx="5239512" cy="310896"/>
          </a:xfrm>
          <a:prstGeom prst="rect">
            <a:avLst/>
          </a:prstGeom>
          <a:noFill/>
          <a:ln/>
        </p:spPr>
        <p:txBody>
          <a:bodyPr wrap="square" lIns="0" tIns="0" rIns="0" bIns="0" rtlCol="0" anchor="ctr"/>
          <a:lstStyle/>
          <a:p>
            <a:pPr indent="0" marL="0">
              <a:buNone/>
            </a:pPr>
            <a:r>
              <a:rPr lang="en-US" sz="1450" b="1" dirty="0">
                <a:solidFill>
                  <a:srgbClr val="B9821A"/>
                </a:solidFill>
                <a:latin typeface="Calibri" pitchFamily="34" charset="0"/>
                <a:ea typeface="Calibri" pitchFamily="34" charset="-122"/>
                <a:cs typeface="Calibri" pitchFamily="34" charset="-120"/>
              </a:rPr>
              <a:t>Le problème baseUrl() (anecdote à raconter)</a:t>
            </a:r>
            <a:endParaRPr lang="en-US" sz="1450" dirty="0"/>
          </a:p>
        </p:txBody>
      </p:sp>
      <p:sp>
        <p:nvSpPr>
          <p:cNvPr id="14" name="Text 11"/>
          <p:cNvSpPr txBox="1"/>
          <p:nvPr/>
        </p:nvSpPr>
        <p:spPr>
          <a:xfrm>
            <a:off x="6684264" y="4315968"/>
            <a:ext cx="5239512" cy="186537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Local : servi depuis /TitreRNCP · Production : à la racine</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Plutôt que corriger chaque lien → une fonction baseUrl() (PHP) + constante BASE (JS)</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Détection automatique via le nom d'hôte</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Résultat : même code en local et en prod, 0 ligne de config à changer</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C1916"/>
        </a:solidFill>
      </p:bgPr>
    </p:bg>
    <p:spTree>
      <p:nvGrpSpPr>
        <p:cNvPr id="1" name=""/>
        <p:cNvGrpSpPr/>
        <p:nvPr/>
      </p:nvGrpSpPr>
      <p:grpSpPr>
        <a:xfrm>
          <a:off x="0" y="0"/>
          <a:ext cx="0" cy="0"/>
          <a:chOff x="0" y="0"/>
          <a:chExt cx="0" cy="0"/>
        </a:xfrm>
      </p:grpSpPr>
      <p:sp>
        <p:nvSpPr>
          <p:cNvPr id="2" name="Shape 0"/>
          <p:cNvSpPr/>
          <p:nvPr/>
        </p:nvSpPr>
        <p:spPr>
          <a:xfrm>
            <a:off x="9326880" y="-1371600"/>
            <a:ext cx="4754880" cy="4754880"/>
          </a:xfrm>
          <a:prstGeom prst="ellipse">
            <a:avLst/>
          </a:prstGeom>
          <a:solidFill>
            <a:srgbClr val="E0492B">
              <a:alpha val="12000"/>
            </a:srgbClr>
          </a:solidFill>
          <a:ln/>
        </p:spPr>
      </p:sp>
      <p:sp>
        <p:nvSpPr>
          <p:cNvPr id="3" name="Text 1"/>
          <p:cNvSpPr txBox="1"/>
          <p:nvPr/>
        </p:nvSpPr>
        <p:spPr>
          <a:xfrm>
            <a:off x="9601200" y="365760"/>
            <a:ext cx="2011680" cy="320040"/>
          </a:xfrm>
          <a:prstGeom prst="rect">
            <a:avLst/>
          </a:prstGeom>
          <a:noFill/>
          <a:ln/>
        </p:spPr>
        <p:txBody>
          <a:bodyPr wrap="square" lIns="0" tIns="0" rIns="0" bIns="0" rtlCol="0" anchor="ctr"/>
          <a:lstStyle/>
          <a:p>
            <a:pPr algn="r" indent="0" marL="0">
              <a:buNone/>
            </a:pPr>
            <a:r>
              <a:rPr lang="en-US" sz="1200" b="1" dirty="0">
                <a:solidFill>
                  <a:srgbClr val="B9821A"/>
                </a:solidFill>
                <a:latin typeface="Calibri" pitchFamily="34" charset="0"/>
                <a:ea typeface="Calibri" pitchFamily="34" charset="-122"/>
                <a:cs typeface="Calibri" pitchFamily="34" charset="-120"/>
              </a:rPr>
              <a:t>14:00 → 22:00</a:t>
            </a:r>
            <a:endParaRPr lang="en-US" sz="1200" dirty="0"/>
          </a:p>
        </p:txBody>
      </p:sp>
      <p:sp>
        <p:nvSpPr>
          <p:cNvPr id="4" name="Text 2"/>
          <p:cNvSpPr txBox="1"/>
          <p:nvPr/>
        </p:nvSpPr>
        <p:spPr>
          <a:xfrm>
            <a:off x="548640" y="1874520"/>
            <a:ext cx="11064240" cy="320040"/>
          </a:xfrm>
          <a:prstGeom prst="rect">
            <a:avLst/>
          </a:prstGeom>
          <a:noFill/>
          <a:ln/>
        </p:spPr>
        <p:txBody>
          <a:bodyPr wrap="square" lIns="0" tIns="0" rIns="0" bIns="0" rtlCol="0" anchor="ctr"/>
          <a:lstStyle/>
          <a:p>
            <a:pPr indent="0" marL="0">
              <a:buNone/>
            </a:pPr>
            <a:r>
              <a:rPr lang="en-US" sz="1300" b="1" spc="300" kern="0" dirty="0">
                <a:solidFill>
                  <a:srgbClr val="E0492B"/>
                </a:solidFill>
                <a:latin typeface="Calibri" pitchFamily="34" charset="0"/>
                <a:ea typeface="Calibri" pitchFamily="34" charset="-122"/>
                <a:cs typeface="Calibri" pitchFamily="34" charset="-120"/>
              </a:rPr>
              <a:t>PARTIE 4 — DÉMONSTRATION</a:t>
            </a:r>
            <a:endParaRPr lang="en-US" sz="1300" dirty="0"/>
          </a:p>
        </p:txBody>
      </p:sp>
      <p:sp>
        <p:nvSpPr>
          <p:cNvPr id="5" name="Text 3"/>
          <p:cNvSpPr txBox="1"/>
          <p:nvPr/>
        </p:nvSpPr>
        <p:spPr>
          <a:xfrm>
            <a:off x="548640" y="2286000"/>
            <a:ext cx="11064240" cy="9601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Huit minutes,</a:t>
            </a:r>
            <a:endParaRPr lang="en-US" sz="4400" dirty="0"/>
          </a:p>
        </p:txBody>
      </p:sp>
      <p:sp>
        <p:nvSpPr>
          <p:cNvPr id="6" name="Text 4"/>
          <p:cNvSpPr txBox="1"/>
          <p:nvPr/>
        </p:nvSpPr>
        <p:spPr>
          <a:xfrm>
            <a:off x="548640" y="3200400"/>
            <a:ext cx="11064240" cy="868680"/>
          </a:xfrm>
          <a:prstGeom prst="rect">
            <a:avLst/>
          </a:prstGeom>
          <a:noFill/>
          <a:ln/>
        </p:spPr>
        <p:txBody>
          <a:bodyPr wrap="square" lIns="0" tIns="0" rIns="0" bIns="0" rtlCol="0" anchor="ctr"/>
          <a:lstStyle/>
          <a:p>
            <a:pPr indent="0" marL="0">
              <a:buNone/>
            </a:pPr>
            <a:r>
              <a:rPr lang="en-US" sz="3800" i="1" dirty="0">
                <a:solidFill>
                  <a:srgbClr val="E0492B"/>
                </a:solidFill>
                <a:latin typeface="Cambria" pitchFamily="34" charset="0"/>
                <a:ea typeface="Cambria" pitchFamily="34" charset="-122"/>
                <a:cs typeface="Cambria" pitchFamily="34" charset="-120"/>
              </a:rPr>
              <a:t>en direct.</a:t>
            </a:r>
            <a:endParaRPr lang="en-US" sz="3800" dirty="0"/>
          </a:p>
        </p:txBody>
      </p:sp>
      <p:sp>
        <p:nvSpPr>
          <p:cNvPr id="7" name="Shape 5"/>
          <p:cNvSpPr/>
          <p:nvPr/>
        </p:nvSpPr>
        <p:spPr>
          <a:xfrm>
            <a:off x="548640" y="3977640"/>
            <a:ext cx="11064240" cy="2514600"/>
          </a:xfrm>
          <a:prstGeom prst="roundRect">
            <a:avLst>
              <a:gd name="adj" fmla="val 3273"/>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8" name="Text 6"/>
          <p:cNvSpPr txBox="1"/>
          <p:nvPr/>
        </p:nvSpPr>
        <p:spPr>
          <a:xfrm>
            <a:off x="786384" y="4160520"/>
            <a:ext cx="10588752" cy="310896"/>
          </a:xfrm>
          <a:prstGeom prst="rect">
            <a:avLst/>
          </a:prstGeom>
          <a:noFill/>
          <a:ln/>
        </p:spPr>
        <p:txBody>
          <a:bodyPr wrap="square" lIns="0" tIns="0" rIns="0" bIns="0" rtlCol="0" anchor="ctr"/>
          <a:lstStyle/>
          <a:p>
            <a:pPr indent="0" marL="0">
              <a:buNone/>
            </a:pPr>
            <a:r>
              <a:rPr lang="en-US" sz="1450" b="1" dirty="0">
                <a:solidFill>
                  <a:srgbClr val="B9821A"/>
                </a:solidFill>
                <a:latin typeface="Calibri" pitchFamily="34" charset="0"/>
                <a:ea typeface="Calibri" pitchFamily="34" charset="-122"/>
                <a:cs typeface="Calibri" pitchFamily="34" charset="-120"/>
              </a:rPr>
              <a:t>Avant d'entrer dans la salle</a:t>
            </a:r>
            <a:endParaRPr lang="en-US" sz="1450" dirty="0"/>
          </a:p>
        </p:txBody>
      </p:sp>
      <p:sp>
        <p:nvSpPr>
          <p:cNvPr id="9" name="Text 7"/>
          <p:cNvSpPr txBox="1"/>
          <p:nvPr/>
        </p:nvSpPr>
        <p:spPr>
          <a:xfrm>
            <a:off x="786384" y="4544568"/>
            <a:ext cx="10588752" cy="172821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Deux sessions déjà connectées (étudiant + partenaire)</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Un Flash Event non expiré en base, un jeu de données crédible</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Une version locale prête en secours</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Des captures d'écran de tout le parcours dans le diaporama (pages suivantes)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601200" cy="256032"/>
          </a:xfrm>
          <a:prstGeom prst="rect">
            <a:avLst/>
          </a:prstGeom>
          <a:noFill/>
          <a:ln/>
        </p:spPr>
        <p:txBody>
          <a:bodyPr wrap="square" lIns="0" tIns="0" rIns="0" bIns="0" rtlCol="0" anchor="ctr"/>
          <a:lstStyle/>
          <a:p>
            <a:pPr indent="0" marL="0">
              <a:buNone/>
            </a:pPr>
            <a:r>
              <a:rPr lang="en-US" sz="1150" b="1" spc="300" kern="0" dirty="0">
                <a:solidFill>
                  <a:srgbClr val="E0492B"/>
                </a:solidFill>
                <a:latin typeface="Calibri" pitchFamily="34" charset="0"/>
                <a:ea typeface="Calibri" pitchFamily="34" charset="-122"/>
                <a:cs typeface="Calibri" pitchFamily="34" charset="-120"/>
              </a:rPr>
              <a:t>PARTIE 4 — DÉMO ÉTUDIANT</a:t>
            </a:r>
            <a:endParaRPr lang="en-US" sz="1150" dirty="0"/>
          </a:p>
        </p:txBody>
      </p:sp>
      <p:sp>
        <p:nvSpPr>
          <p:cNvPr id="3" name="Shape 1"/>
          <p:cNvSpPr/>
          <p:nvPr/>
        </p:nvSpPr>
        <p:spPr>
          <a:xfrm>
            <a:off x="10241280" y="292608"/>
            <a:ext cx="1371600" cy="365760"/>
          </a:xfrm>
          <a:prstGeom prst="roundRect">
            <a:avLst>
              <a:gd name="adj" fmla="val 50000"/>
            </a:avLst>
          </a:prstGeom>
          <a:solidFill>
            <a:srgbClr val="1C1916"/>
          </a:solidFill>
          <a:ln w="12700">
            <a:solidFill>
              <a:srgbClr val="1C1916"/>
            </a:solidFill>
            <a:prstDash val="solid"/>
          </a:ln>
        </p:spPr>
      </p:sp>
      <p:sp>
        <p:nvSpPr>
          <p:cNvPr id="4" name="Text 2"/>
          <p:cNvSpPr txBox="1"/>
          <p:nvPr/>
        </p:nvSpPr>
        <p:spPr>
          <a:xfrm>
            <a:off x="10241280" y="292608"/>
            <a:ext cx="1371600" cy="365760"/>
          </a:xfrm>
          <a:prstGeom prst="rect">
            <a:avLst/>
          </a:prstGeom>
          <a:noFill/>
          <a:ln/>
        </p:spPr>
        <p:txBody>
          <a:bodyPr wrap="square" lIns="0" tIns="0" rIns="0" bIns="0" rtlCol="0" anchor="ctr"/>
          <a:lstStyle/>
          <a:p>
            <a:pPr algn="ctr" indent="0" marL="0">
              <a:buNone/>
            </a:pPr>
            <a:r>
              <a:rPr lang="en-US" sz="1150" b="1" dirty="0">
                <a:solidFill>
                  <a:srgbClr val="B9821A"/>
                </a:solidFill>
                <a:latin typeface="Calibri" pitchFamily="34" charset="0"/>
                <a:ea typeface="Calibri" pitchFamily="34" charset="-122"/>
                <a:cs typeface="Calibri" pitchFamily="34" charset="-120"/>
              </a:rPr>
              <a:t>14:30</a:t>
            </a:r>
            <a:endParaRPr lang="en-US" sz="1150" dirty="0"/>
          </a:p>
        </p:txBody>
      </p:sp>
      <p:sp>
        <p:nvSpPr>
          <p:cNvPr id="5" name="Text 3"/>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2800" b="1" dirty="0">
                <a:solidFill>
                  <a:srgbClr val="1C1916"/>
                </a:solidFill>
                <a:latin typeface="Cambria" pitchFamily="34" charset="0"/>
                <a:ea typeface="Cambria" pitchFamily="34" charset="-122"/>
                <a:cs typeface="Cambria" pitchFamily="34" charset="-120"/>
              </a:rPr>
              <a:t>La page Explore &amp; les Flash Events</a:t>
            </a:r>
            <a:endParaRPr lang="en-US" sz="2800" dirty="0"/>
          </a:p>
        </p:txBody>
      </p:sp>
      <p:sp>
        <p:nvSpPr>
          <p:cNvPr id="6" name="Text 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938B7D"/>
                </a:solidFill>
                <a:latin typeface="Calibri" pitchFamily="34" charset="0"/>
                <a:ea typeface="Calibri" pitchFamily="34" charset="-122"/>
                <a:cs typeface="Calibri" pitchFamily="34" charset="-120"/>
              </a:rPr>
              <a:t>18</a:t>
            </a:r>
            <a:endParaRPr lang="en-US" sz="1000" dirty="0"/>
          </a:p>
        </p:txBody>
      </p:sp>
      <p:sp>
        <p:nvSpPr>
          <p:cNvPr id="7" name="Shape 5"/>
          <p:cNvSpPr/>
          <p:nvPr/>
        </p:nvSpPr>
        <p:spPr>
          <a:xfrm>
            <a:off x="758952" y="1170432"/>
            <a:ext cx="2651760" cy="5385816"/>
          </a:xfrm>
          <a:prstGeom prst="roundRect">
            <a:avLst>
              <a:gd name="adj" fmla="val 5517"/>
            </a:avLst>
          </a:prstGeom>
          <a:solidFill>
            <a:srgbClr val="1C1916"/>
          </a:solidFill>
          <a:ln w="12700">
            <a:solidFill>
              <a:srgbClr val="1C1916"/>
            </a:solidFill>
            <a:prstDash val="solid"/>
          </a:ln>
          <a:effectLst>
            <a:outerShdw sx="100000" sy="100000" kx="0" ky="0" algn="bl" rotWithShape="0" blurRad="177800" dist="38100" dir="5400000">
              <a:srgbClr val="1C1916">
                <a:alpha val="10000"/>
              </a:srgbClr>
            </a:outerShdw>
          </a:effectLst>
        </p:spPr>
      </p:sp>
      <p:pic>
        <p:nvPicPr>
          <p:cNvPr id="8" name="Image 0" descr="C:/Users/arthu/AppData/Local/Temp/claude/C--wamp64-www-TitreRNCP/65338c5b-341d-4a9a-a20f-7844345c8908/scratchpad/oral/explore_mobile.png">    </p:cNvPr>
          <p:cNvPicPr>
            <a:picLocks noChangeAspect="1"/>
          </p:cNvPicPr>
          <p:nvPr/>
        </p:nvPicPr>
        <p:blipFill>
          <a:blip r:embed="rId1"/>
          <a:stretch>
            <a:fillRect/>
          </a:stretch>
        </p:blipFill>
        <p:spPr>
          <a:xfrm>
            <a:off x="822960" y="1234440"/>
            <a:ext cx="2523744" cy="5257800"/>
          </a:xfrm>
          <a:prstGeom prst="rect">
            <a:avLst/>
          </a:prstGeom>
        </p:spPr>
      </p:pic>
      <p:sp>
        <p:nvSpPr>
          <p:cNvPr id="9" name="Shape 6"/>
          <p:cNvSpPr/>
          <p:nvPr/>
        </p:nvSpPr>
        <p:spPr>
          <a:xfrm>
            <a:off x="3931920" y="1280160"/>
            <a:ext cx="8046720" cy="2377440"/>
          </a:xfrm>
          <a:prstGeom prst="roundRect">
            <a:avLst>
              <a:gd name="adj" fmla="val 3462"/>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0" name="Text 7"/>
          <p:cNvSpPr txBox="1"/>
          <p:nvPr/>
        </p:nvSpPr>
        <p:spPr>
          <a:xfrm>
            <a:off x="4169664" y="1463040"/>
            <a:ext cx="7571232" cy="310896"/>
          </a:xfrm>
          <a:prstGeom prst="rect">
            <a:avLst/>
          </a:prstGeom>
          <a:noFill/>
          <a:ln/>
        </p:spPr>
        <p:txBody>
          <a:bodyPr wrap="square" lIns="0" tIns="0" rIns="0" bIns="0" rtlCol="0" anchor="ctr"/>
          <a:lstStyle/>
          <a:p>
            <a:pPr indent="0" marL="0">
              <a:buNone/>
            </a:pPr>
            <a:r>
              <a:rPr lang="en-US" sz="1450" b="1" dirty="0">
                <a:solidFill>
                  <a:srgbClr val="E0492B"/>
                </a:solidFill>
                <a:latin typeface="Calibri" pitchFamily="34" charset="0"/>
                <a:ea typeface="Calibri" pitchFamily="34" charset="-122"/>
                <a:cs typeface="Calibri" pitchFamily="34" charset="-120"/>
              </a:rPr>
              <a:t>Ce que je montre</a:t>
            </a:r>
            <a:endParaRPr lang="en-US" sz="1450" dirty="0"/>
          </a:p>
        </p:txBody>
      </p:sp>
      <p:sp>
        <p:nvSpPr>
          <p:cNvPr id="11" name="Text 8"/>
          <p:cNvSpPr txBox="1"/>
          <p:nvPr/>
        </p:nvSpPr>
        <p:spPr>
          <a:xfrm>
            <a:off x="4169664" y="1847088"/>
            <a:ext cx="7571232" cy="159105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Chaque carte : lieu, date, réduction, places restantes, note moyenne</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Bandeau orange = Flash Event, décompte calculé depuis flash_expiry</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Filtres : bar / boîte / resto / afterwork + filtre « pour moi »</a:t>
            </a:r>
            <a:endParaRPr lang="en-US" sz="1200" dirty="0"/>
          </a:p>
        </p:txBody>
      </p:sp>
      <p:sp>
        <p:nvSpPr>
          <p:cNvPr id="12" name="Shape 9"/>
          <p:cNvSpPr/>
          <p:nvPr/>
        </p:nvSpPr>
        <p:spPr>
          <a:xfrm>
            <a:off x="3931920" y="3840480"/>
            <a:ext cx="8046720" cy="2651760"/>
          </a:xfrm>
          <a:prstGeom prst="roundRect">
            <a:avLst>
              <a:gd name="adj" fmla="val 3103"/>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3" name="Text 10"/>
          <p:cNvSpPr txBox="1"/>
          <p:nvPr/>
        </p:nvSpPr>
        <p:spPr>
          <a:xfrm>
            <a:off x="4169664" y="4023360"/>
            <a:ext cx="7571232" cy="310896"/>
          </a:xfrm>
          <a:prstGeom prst="rect">
            <a:avLst/>
          </a:prstGeom>
          <a:noFill/>
          <a:ln/>
        </p:spPr>
        <p:txBody>
          <a:bodyPr wrap="square" lIns="0" tIns="0" rIns="0" bIns="0" rtlCol="0" anchor="ctr"/>
          <a:lstStyle/>
          <a:p>
            <a:pPr indent="0" marL="0">
              <a:buNone/>
            </a:pPr>
            <a:r>
              <a:rPr lang="en-US" sz="1450" b="1" dirty="0">
                <a:solidFill>
                  <a:srgbClr val="4A40C2"/>
                </a:solidFill>
                <a:latin typeface="Calibri" pitchFamily="34" charset="0"/>
                <a:ea typeface="Calibri" pitchFamily="34" charset="-122"/>
                <a:cs typeface="Calibri" pitchFamily="34" charset="-120"/>
              </a:rPr>
              <a:t>Sur desktop : grille responsive</a:t>
            </a:r>
            <a:endParaRPr lang="en-US" sz="1450" dirty="0"/>
          </a:p>
        </p:txBody>
      </p:sp>
      <p:sp>
        <p:nvSpPr>
          <p:cNvPr id="14" name="Text 11"/>
          <p:cNvSpPr txBox="1"/>
          <p:nvPr/>
        </p:nvSpPr>
        <p:spPr>
          <a:xfrm>
            <a:off x="4169664" y="4407408"/>
            <a:ext cx="7571232" cy="186537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Les cartes Flash restent pleine largeur (effet hero)</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Les événements réguliers passent en grille multi-colonnes</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CSS Grid : auto-fill + minmax, aucun point de rupture à multiplier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601200" cy="256032"/>
          </a:xfrm>
          <a:prstGeom prst="rect">
            <a:avLst/>
          </a:prstGeom>
          <a:noFill/>
          <a:ln/>
        </p:spPr>
        <p:txBody>
          <a:bodyPr wrap="square" lIns="0" tIns="0" rIns="0" bIns="0" rtlCol="0" anchor="ctr"/>
          <a:lstStyle/>
          <a:p>
            <a:pPr indent="0" marL="0">
              <a:buNone/>
            </a:pPr>
            <a:r>
              <a:rPr lang="en-US" sz="1150" b="1" spc="300" kern="0" dirty="0">
                <a:solidFill>
                  <a:srgbClr val="E0492B"/>
                </a:solidFill>
                <a:latin typeface="Calibri" pitchFamily="34" charset="0"/>
                <a:ea typeface="Calibri" pitchFamily="34" charset="-122"/>
                <a:cs typeface="Calibri" pitchFamily="34" charset="-120"/>
              </a:rPr>
              <a:t>PARTIE 4 — DÉMO ÉTUDIANT</a:t>
            </a:r>
            <a:endParaRPr lang="en-US" sz="1150" dirty="0"/>
          </a:p>
        </p:txBody>
      </p:sp>
      <p:sp>
        <p:nvSpPr>
          <p:cNvPr id="3" name="Shape 1"/>
          <p:cNvSpPr/>
          <p:nvPr/>
        </p:nvSpPr>
        <p:spPr>
          <a:xfrm>
            <a:off x="10241280" y="292608"/>
            <a:ext cx="1371600" cy="365760"/>
          </a:xfrm>
          <a:prstGeom prst="roundRect">
            <a:avLst>
              <a:gd name="adj" fmla="val 50000"/>
            </a:avLst>
          </a:prstGeom>
          <a:solidFill>
            <a:srgbClr val="1C1916"/>
          </a:solidFill>
          <a:ln w="12700">
            <a:solidFill>
              <a:srgbClr val="1C1916"/>
            </a:solidFill>
            <a:prstDash val="solid"/>
          </a:ln>
        </p:spPr>
      </p:sp>
      <p:sp>
        <p:nvSpPr>
          <p:cNvPr id="4" name="Text 2"/>
          <p:cNvSpPr txBox="1"/>
          <p:nvPr/>
        </p:nvSpPr>
        <p:spPr>
          <a:xfrm>
            <a:off x="10241280" y="292608"/>
            <a:ext cx="1371600" cy="365760"/>
          </a:xfrm>
          <a:prstGeom prst="rect">
            <a:avLst/>
          </a:prstGeom>
          <a:noFill/>
          <a:ln/>
        </p:spPr>
        <p:txBody>
          <a:bodyPr wrap="square" lIns="0" tIns="0" rIns="0" bIns="0" rtlCol="0" anchor="ctr"/>
          <a:lstStyle/>
          <a:p>
            <a:pPr algn="ctr" indent="0" marL="0">
              <a:buNone/>
            </a:pPr>
            <a:r>
              <a:rPr lang="en-US" sz="1150" b="1" dirty="0">
                <a:solidFill>
                  <a:srgbClr val="B9821A"/>
                </a:solidFill>
                <a:latin typeface="Calibri" pitchFamily="34" charset="0"/>
                <a:ea typeface="Calibri" pitchFamily="34" charset="-122"/>
                <a:cs typeface="Calibri" pitchFamily="34" charset="-120"/>
              </a:rPr>
              <a:t>16:00</a:t>
            </a:r>
            <a:endParaRPr lang="en-US" sz="1150" dirty="0"/>
          </a:p>
        </p:txBody>
      </p:sp>
      <p:sp>
        <p:nvSpPr>
          <p:cNvPr id="5" name="Text 3"/>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2800" b="1" dirty="0">
                <a:solidFill>
                  <a:srgbClr val="1C1916"/>
                </a:solidFill>
                <a:latin typeface="Cambria" pitchFamily="34" charset="0"/>
                <a:ea typeface="Cambria" pitchFamily="34" charset="-122"/>
                <a:cs typeface="Cambria" pitchFamily="34" charset="-120"/>
              </a:rPr>
              <a:t>L'inscription &amp; le wallet</a:t>
            </a:r>
            <a:endParaRPr lang="en-US" sz="2800" dirty="0"/>
          </a:p>
        </p:txBody>
      </p:sp>
      <p:sp>
        <p:nvSpPr>
          <p:cNvPr id="6" name="Text 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938B7D"/>
                </a:solidFill>
                <a:latin typeface="Calibri" pitchFamily="34" charset="0"/>
                <a:ea typeface="Calibri" pitchFamily="34" charset="-122"/>
                <a:cs typeface="Calibri" pitchFamily="34" charset="-120"/>
              </a:rPr>
              <a:t>19</a:t>
            </a:r>
            <a:endParaRPr lang="en-US" sz="1000" dirty="0"/>
          </a:p>
        </p:txBody>
      </p:sp>
      <p:sp>
        <p:nvSpPr>
          <p:cNvPr id="7" name="Shape 5"/>
          <p:cNvSpPr/>
          <p:nvPr/>
        </p:nvSpPr>
        <p:spPr>
          <a:xfrm>
            <a:off x="576072" y="1170432"/>
            <a:ext cx="2651760" cy="5385816"/>
          </a:xfrm>
          <a:prstGeom prst="roundRect">
            <a:avLst>
              <a:gd name="adj" fmla="val 5517"/>
            </a:avLst>
          </a:prstGeom>
          <a:solidFill>
            <a:srgbClr val="1C1916"/>
          </a:solidFill>
          <a:ln w="12700">
            <a:solidFill>
              <a:srgbClr val="1C1916"/>
            </a:solidFill>
            <a:prstDash val="solid"/>
          </a:ln>
          <a:effectLst>
            <a:outerShdw sx="100000" sy="100000" kx="0" ky="0" algn="bl" rotWithShape="0" blurRad="177800" dist="38100" dir="5400000">
              <a:srgbClr val="1C1916">
                <a:alpha val="10000"/>
              </a:srgbClr>
            </a:outerShdw>
          </a:effectLst>
        </p:spPr>
      </p:sp>
      <p:pic>
        <p:nvPicPr>
          <p:cNvPr id="8" name="Image 0" descr="C:/Users/arthu/AppData/Local/Temp/claude/C--wamp64-www-TitreRNCP/65338c5b-341d-4a9a-a20f-7844345c8908/scratchpad/oral/event_mobile.png">    </p:cNvPr>
          <p:cNvPicPr>
            <a:picLocks noChangeAspect="1"/>
          </p:cNvPicPr>
          <p:nvPr/>
        </p:nvPicPr>
        <p:blipFill>
          <a:blip r:embed="rId1"/>
          <a:stretch>
            <a:fillRect/>
          </a:stretch>
        </p:blipFill>
        <p:spPr>
          <a:xfrm>
            <a:off x="640080" y="1234440"/>
            <a:ext cx="2523744" cy="5257800"/>
          </a:xfrm>
          <a:prstGeom prst="rect">
            <a:avLst/>
          </a:prstGeom>
        </p:spPr>
      </p:pic>
      <p:sp>
        <p:nvSpPr>
          <p:cNvPr id="9" name="Shape 6"/>
          <p:cNvSpPr/>
          <p:nvPr/>
        </p:nvSpPr>
        <p:spPr>
          <a:xfrm>
            <a:off x="3776472" y="1170432"/>
            <a:ext cx="2651760" cy="5385816"/>
          </a:xfrm>
          <a:prstGeom prst="roundRect">
            <a:avLst>
              <a:gd name="adj" fmla="val 5517"/>
            </a:avLst>
          </a:prstGeom>
          <a:solidFill>
            <a:srgbClr val="1C1916"/>
          </a:solidFill>
          <a:ln w="12700">
            <a:solidFill>
              <a:srgbClr val="1C1916"/>
            </a:solidFill>
            <a:prstDash val="solid"/>
          </a:ln>
          <a:effectLst>
            <a:outerShdw sx="100000" sy="100000" kx="0" ky="0" algn="bl" rotWithShape="0" blurRad="177800" dist="38100" dir="5400000">
              <a:srgbClr val="1C1916">
                <a:alpha val="10000"/>
              </a:srgbClr>
            </a:outerShdw>
          </a:effectLst>
        </p:spPr>
      </p:sp>
      <p:pic>
        <p:nvPicPr>
          <p:cNvPr id="10" name="Image 1" descr="C:/Users/arthu/AppData/Local/Temp/claude/C--wamp64-www-TitreRNCP/65338c5b-341d-4a9a-a20f-7844345c8908/scratchpad/oral/wallet_mobile.png">    </p:cNvPr>
          <p:cNvPicPr>
            <a:picLocks noChangeAspect="1"/>
          </p:cNvPicPr>
          <p:nvPr/>
        </p:nvPicPr>
        <p:blipFill>
          <a:blip r:embed="rId2"/>
          <a:stretch>
            <a:fillRect/>
          </a:stretch>
        </p:blipFill>
        <p:spPr>
          <a:xfrm>
            <a:off x="3840480" y="1234440"/>
            <a:ext cx="2523744" cy="5257800"/>
          </a:xfrm>
          <a:prstGeom prst="rect">
            <a:avLst/>
          </a:prstGeom>
        </p:spPr>
      </p:pic>
      <p:sp>
        <p:nvSpPr>
          <p:cNvPr id="11" name="Shape 7"/>
          <p:cNvSpPr/>
          <p:nvPr/>
        </p:nvSpPr>
        <p:spPr>
          <a:xfrm>
            <a:off x="7040880" y="1280160"/>
            <a:ext cx="4937760" cy="2468880"/>
          </a:xfrm>
          <a:prstGeom prst="roundRect">
            <a:avLst>
              <a:gd name="adj" fmla="val 3333"/>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2" name="Text 8"/>
          <p:cNvSpPr txBox="1"/>
          <p:nvPr/>
        </p:nvSpPr>
        <p:spPr>
          <a:xfrm>
            <a:off x="7278624" y="1463040"/>
            <a:ext cx="4462272" cy="310896"/>
          </a:xfrm>
          <a:prstGeom prst="rect">
            <a:avLst/>
          </a:prstGeom>
          <a:noFill/>
          <a:ln/>
        </p:spPr>
        <p:txBody>
          <a:bodyPr wrap="square" lIns="0" tIns="0" rIns="0" bIns="0" rtlCol="0" anchor="ctr"/>
          <a:lstStyle/>
          <a:p>
            <a:pPr indent="0" marL="0">
              <a:buNone/>
            </a:pPr>
            <a:r>
              <a:rPr lang="en-US" sz="1450" b="1" dirty="0">
                <a:solidFill>
                  <a:srgbClr val="E0492B"/>
                </a:solidFill>
                <a:latin typeface="Calibri" pitchFamily="34" charset="0"/>
                <a:ea typeface="Calibri" pitchFamily="34" charset="-122"/>
                <a:cs typeface="Calibri" pitchFamily="34" charset="-120"/>
              </a:rPr>
              <a:t>L'inscription</a:t>
            </a:r>
            <a:endParaRPr lang="en-US" sz="1450" dirty="0"/>
          </a:p>
        </p:txBody>
      </p:sp>
      <p:sp>
        <p:nvSpPr>
          <p:cNvPr id="13" name="Text 9"/>
          <p:cNvSpPr txBox="1"/>
          <p:nvPr/>
        </p:nvSpPr>
        <p:spPr>
          <a:xfrm>
            <a:off x="7278624" y="1847088"/>
            <a:ext cx="4462272" cy="168249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Un seul appel API, aucun rechargement</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Le compteur passe immédiatement de 42 à 43</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Derrière : exactement le diagramme de séquence présenté en partie 3</a:t>
            </a:r>
            <a:endParaRPr lang="en-US" sz="1200" dirty="0"/>
          </a:p>
        </p:txBody>
      </p:sp>
      <p:sp>
        <p:nvSpPr>
          <p:cNvPr id="14" name="Shape 10"/>
          <p:cNvSpPr/>
          <p:nvPr/>
        </p:nvSpPr>
        <p:spPr>
          <a:xfrm>
            <a:off x="7040880" y="3886200"/>
            <a:ext cx="4937760" cy="2606040"/>
          </a:xfrm>
          <a:prstGeom prst="roundRect">
            <a:avLst>
              <a:gd name="adj" fmla="val 3158"/>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5" name="Text 11"/>
          <p:cNvSpPr txBox="1"/>
          <p:nvPr/>
        </p:nvSpPr>
        <p:spPr>
          <a:xfrm>
            <a:off x="7278624" y="4069080"/>
            <a:ext cx="4462272" cy="310896"/>
          </a:xfrm>
          <a:prstGeom prst="rect">
            <a:avLst/>
          </a:prstGeom>
          <a:noFill/>
          <a:ln/>
        </p:spPr>
        <p:txBody>
          <a:bodyPr wrap="square" lIns="0" tIns="0" rIns="0" bIns="0" rtlCol="0" anchor="ctr"/>
          <a:lstStyle/>
          <a:p>
            <a:pPr indent="0" marL="0">
              <a:buNone/>
            </a:pPr>
            <a:r>
              <a:rPr lang="en-US" sz="1450" b="1" dirty="0">
                <a:solidFill>
                  <a:srgbClr val="4A40C2"/>
                </a:solidFill>
                <a:latin typeface="Calibri" pitchFamily="34" charset="0"/>
                <a:ea typeface="Calibri" pitchFamily="34" charset="-122"/>
                <a:cs typeface="Calibri" pitchFamily="34" charset="-120"/>
              </a:rPr>
              <a:t>Le wallet</a:t>
            </a:r>
            <a:endParaRPr lang="en-US" sz="1450" dirty="0"/>
          </a:p>
        </p:txBody>
      </p:sp>
      <p:sp>
        <p:nvSpPr>
          <p:cNvPr id="16" name="Text 12"/>
          <p:cNvSpPr txBox="1"/>
          <p:nvPr/>
        </p:nvSpPr>
        <p:spPr>
          <a:xfrm>
            <a:off x="7278624" y="4453128"/>
            <a:ext cx="4462272" cy="181965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Le pass, avec son QR code unique</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Cumul des économies = prix normal × réduction, stocké à l'inscription</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Historique : check-in validé ou annulé</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601200" cy="256032"/>
          </a:xfrm>
          <a:prstGeom prst="rect">
            <a:avLst/>
          </a:prstGeom>
          <a:noFill/>
          <a:ln/>
        </p:spPr>
        <p:txBody>
          <a:bodyPr wrap="square" lIns="0" tIns="0" rIns="0" bIns="0" rtlCol="0" anchor="ctr"/>
          <a:lstStyle/>
          <a:p>
            <a:pPr indent="0" marL="0">
              <a:buNone/>
            </a:pPr>
            <a:r>
              <a:rPr lang="en-US" sz="1150" b="1" spc="300" kern="0" dirty="0">
                <a:solidFill>
                  <a:srgbClr val="E0492B"/>
                </a:solidFill>
                <a:latin typeface="Calibri" pitchFamily="34" charset="0"/>
                <a:ea typeface="Calibri" pitchFamily="34" charset="-122"/>
                <a:cs typeface="Calibri" pitchFamily="34" charset="-120"/>
              </a:rPr>
              <a:t>PARTIE 4 — DÉMO PARTENAIRE</a:t>
            </a:r>
            <a:endParaRPr lang="en-US" sz="1150" dirty="0"/>
          </a:p>
        </p:txBody>
      </p:sp>
      <p:sp>
        <p:nvSpPr>
          <p:cNvPr id="3" name="Shape 1"/>
          <p:cNvSpPr/>
          <p:nvPr/>
        </p:nvSpPr>
        <p:spPr>
          <a:xfrm>
            <a:off x="10241280" y="292608"/>
            <a:ext cx="1371600" cy="365760"/>
          </a:xfrm>
          <a:prstGeom prst="roundRect">
            <a:avLst>
              <a:gd name="adj" fmla="val 50000"/>
            </a:avLst>
          </a:prstGeom>
          <a:solidFill>
            <a:srgbClr val="1C1916"/>
          </a:solidFill>
          <a:ln w="12700">
            <a:solidFill>
              <a:srgbClr val="1C1916"/>
            </a:solidFill>
            <a:prstDash val="solid"/>
          </a:ln>
        </p:spPr>
      </p:sp>
      <p:sp>
        <p:nvSpPr>
          <p:cNvPr id="4" name="Text 2"/>
          <p:cNvSpPr txBox="1"/>
          <p:nvPr/>
        </p:nvSpPr>
        <p:spPr>
          <a:xfrm>
            <a:off x="10241280" y="292608"/>
            <a:ext cx="1371600" cy="365760"/>
          </a:xfrm>
          <a:prstGeom prst="rect">
            <a:avLst/>
          </a:prstGeom>
          <a:noFill/>
          <a:ln/>
        </p:spPr>
        <p:txBody>
          <a:bodyPr wrap="square" lIns="0" tIns="0" rIns="0" bIns="0" rtlCol="0" anchor="ctr"/>
          <a:lstStyle/>
          <a:p>
            <a:pPr algn="ctr" indent="0" marL="0">
              <a:buNone/>
            </a:pPr>
            <a:r>
              <a:rPr lang="en-US" sz="1150" b="1" dirty="0">
                <a:solidFill>
                  <a:srgbClr val="B9821A"/>
                </a:solidFill>
                <a:latin typeface="Calibri" pitchFamily="34" charset="0"/>
                <a:ea typeface="Calibri" pitchFamily="34" charset="-122"/>
                <a:cs typeface="Calibri" pitchFamily="34" charset="-120"/>
              </a:rPr>
              <a:t>17:30</a:t>
            </a:r>
            <a:endParaRPr lang="en-US" sz="1150" dirty="0"/>
          </a:p>
        </p:txBody>
      </p:sp>
      <p:sp>
        <p:nvSpPr>
          <p:cNvPr id="5" name="Text 3"/>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2800" b="1" dirty="0">
                <a:solidFill>
                  <a:srgbClr val="1C1916"/>
                </a:solidFill>
                <a:latin typeface="Cambria" pitchFamily="34" charset="0"/>
                <a:ea typeface="Cambria" pitchFamily="34" charset="-122"/>
                <a:cs typeface="Cambria" pitchFamily="34" charset="-120"/>
              </a:rPr>
              <a:t>Créer un événement &amp; valider l'entrée</a:t>
            </a:r>
            <a:endParaRPr lang="en-US" sz="2800" dirty="0"/>
          </a:p>
        </p:txBody>
      </p:sp>
      <p:sp>
        <p:nvSpPr>
          <p:cNvPr id="6" name="Text 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938B7D"/>
                </a:solidFill>
                <a:latin typeface="Calibri" pitchFamily="34" charset="0"/>
                <a:ea typeface="Calibri" pitchFamily="34" charset="-122"/>
                <a:cs typeface="Calibri" pitchFamily="34" charset="-120"/>
              </a:rPr>
              <a:t>20</a:t>
            </a:r>
            <a:endParaRPr lang="en-US" sz="1000" dirty="0"/>
          </a:p>
        </p:txBody>
      </p:sp>
      <p:sp>
        <p:nvSpPr>
          <p:cNvPr id="7" name="Text 5"/>
          <p:cNvSpPr txBox="1"/>
          <p:nvPr/>
        </p:nvSpPr>
        <p:spPr>
          <a:xfrm>
            <a:off x="548640" y="1051560"/>
            <a:ext cx="11064240" cy="274320"/>
          </a:xfrm>
          <a:prstGeom prst="rect">
            <a:avLst/>
          </a:prstGeom>
          <a:noFill/>
          <a:ln/>
        </p:spPr>
        <p:txBody>
          <a:bodyPr wrap="square" lIns="0" tIns="0" rIns="0" bIns="0" rtlCol="0" anchor="ctr"/>
          <a:lstStyle/>
          <a:p>
            <a:pPr indent="0" marL="0">
              <a:buNone/>
            </a:pPr>
            <a:r>
              <a:rPr lang="en-US" sz="1150" i="1" dirty="0">
                <a:solidFill>
                  <a:srgbClr val="5B554C"/>
                </a:solidFill>
                <a:latin typeface="Calibri" pitchFamily="34" charset="0"/>
                <a:ea typeface="Calibri" pitchFamily="34" charset="-122"/>
                <a:cs typeface="Calibri" pitchFamily="34" charset="-120"/>
              </a:rPr>
              <a:t>[ bascule de session — je passe sur l'écran de Jean ]</a:t>
            </a:r>
            <a:endParaRPr lang="en-US" sz="1150" dirty="0"/>
          </a:p>
        </p:txBody>
      </p:sp>
      <p:sp>
        <p:nvSpPr>
          <p:cNvPr id="8" name="Shape 6"/>
          <p:cNvSpPr/>
          <p:nvPr/>
        </p:nvSpPr>
        <p:spPr>
          <a:xfrm>
            <a:off x="512064" y="1380744"/>
            <a:ext cx="7388352" cy="4544546"/>
          </a:xfrm>
          <a:prstGeom prst="roundRect">
            <a:avLst>
              <a:gd name="adj" fmla="val 1006"/>
            </a:avLst>
          </a:prstGeom>
          <a:solidFill>
            <a:srgbClr val="DED6C6"/>
          </a:solidFill>
          <a:ln w="12700">
            <a:solidFill>
              <a:srgbClr val="DED6C6"/>
            </a:solidFill>
            <a:prstDash val="solid"/>
          </a:ln>
          <a:effectLst>
            <a:outerShdw sx="100000" sy="100000" kx="0" ky="0" algn="bl" rotWithShape="0" blurRad="177800" dist="38100" dir="5400000">
              <a:srgbClr val="1C1916">
                <a:alpha val="10000"/>
              </a:srgbClr>
            </a:outerShdw>
          </a:effectLst>
        </p:spPr>
      </p:sp>
      <p:pic>
        <p:nvPicPr>
          <p:cNvPr id="9" name="Image 0" descr="C:/Users/arthu/AppData/Local/Temp/claude/C--wamp64-www-TitreRNCP/65338c5b-341d-4a9a-a20f-7844345c8908/scratchpad/oral/partner_events.png">    </p:cNvPr>
          <p:cNvPicPr>
            <a:picLocks noChangeAspect="1"/>
          </p:cNvPicPr>
          <p:nvPr/>
        </p:nvPicPr>
        <p:blipFill>
          <a:blip r:embed="rId1"/>
          <a:stretch>
            <a:fillRect/>
          </a:stretch>
        </p:blipFill>
        <p:spPr>
          <a:xfrm>
            <a:off x="548640" y="1417320"/>
            <a:ext cx="7315200" cy="4471394"/>
          </a:xfrm>
          <a:prstGeom prst="rect">
            <a:avLst/>
          </a:prstGeom>
        </p:spPr>
      </p:pic>
      <p:sp>
        <p:nvSpPr>
          <p:cNvPr id="10" name="Shape 7"/>
          <p:cNvSpPr/>
          <p:nvPr/>
        </p:nvSpPr>
        <p:spPr>
          <a:xfrm>
            <a:off x="8183880" y="1417320"/>
            <a:ext cx="3977640" cy="2286000"/>
          </a:xfrm>
          <a:prstGeom prst="roundRect">
            <a:avLst>
              <a:gd name="adj" fmla="val 3600"/>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1" name="Text 8"/>
          <p:cNvSpPr txBox="1"/>
          <p:nvPr/>
        </p:nvSpPr>
        <p:spPr>
          <a:xfrm>
            <a:off x="8421624" y="1600200"/>
            <a:ext cx="3502152" cy="310896"/>
          </a:xfrm>
          <a:prstGeom prst="rect">
            <a:avLst/>
          </a:prstGeom>
          <a:noFill/>
          <a:ln/>
        </p:spPr>
        <p:txBody>
          <a:bodyPr wrap="square" lIns="0" tIns="0" rIns="0" bIns="0" rtlCol="0" anchor="ctr"/>
          <a:lstStyle/>
          <a:p>
            <a:pPr indent="0" marL="0">
              <a:buNone/>
            </a:pPr>
            <a:r>
              <a:rPr lang="en-US" sz="1450" b="1" dirty="0">
                <a:solidFill>
                  <a:srgbClr val="E0492B"/>
                </a:solidFill>
                <a:latin typeface="Calibri" pitchFamily="34" charset="0"/>
                <a:ea typeface="Calibri" pitchFamily="34" charset="-122"/>
                <a:cs typeface="Calibri" pitchFamily="34" charset="-120"/>
              </a:rPr>
              <a:t>La création</a:t>
            </a:r>
            <a:endParaRPr lang="en-US" sz="1450" dirty="0"/>
          </a:p>
        </p:txBody>
      </p:sp>
      <p:sp>
        <p:nvSpPr>
          <p:cNvPr id="12" name="Text 9"/>
          <p:cNvSpPr txBox="1"/>
          <p:nvPr/>
        </p:nvSpPr>
        <p:spPr>
          <a:xfrm>
            <a:off x="8421624" y="1984248"/>
            <a:ext cx="3502152" cy="149961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Titre, type, date, quota, % réduction</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Case « Flash » + date d'expiration</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Interface minimale : 3 champs obligatoires</a:t>
            </a:r>
            <a:endParaRPr lang="en-US" sz="1200" dirty="0"/>
          </a:p>
        </p:txBody>
      </p:sp>
      <p:sp>
        <p:nvSpPr>
          <p:cNvPr id="13" name="Shape 10"/>
          <p:cNvSpPr/>
          <p:nvPr/>
        </p:nvSpPr>
        <p:spPr>
          <a:xfrm>
            <a:off x="8183880" y="3840480"/>
            <a:ext cx="3977640" cy="2560320"/>
          </a:xfrm>
          <a:prstGeom prst="roundRect">
            <a:avLst>
              <a:gd name="adj" fmla="val 3214"/>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4" name="Text 11"/>
          <p:cNvSpPr txBox="1"/>
          <p:nvPr/>
        </p:nvSpPr>
        <p:spPr>
          <a:xfrm>
            <a:off x="8421624" y="4023360"/>
            <a:ext cx="3502152" cy="310896"/>
          </a:xfrm>
          <a:prstGeom prst="rect">
            <a:avLst/>
          </a:prstGeom>
          <a:noFill/>
          <a:ln/>
        </p:spPr>
        <p:txBody>
          <a:bodyPr wrap="square" lIns="0" tIns="0" rIns="0" bIns="0" rtlCol="0" anchor="ctr"/>
          <a:lstStyle/>
          <a:p>
            <a:pPr indent="0" marL="0">
              <a:buNone/>
            </a:pPr>
            <a:r>
              <a:rPr lang="en-US" sz="1450" b="1" dirty="0">
                <a:solidFill>
                  <a:srgbClr val="4A40C2"/>
                </a:solidFill>
                <a:latin typeface="Calibri" pitchFamily="34" charset="0"/>
                <a:ea typeface="Calibri" pitchFamily="34" charset="-122"/>
                <a:cs typeface="Calibri" pitchFamily="34" charset="-120"/>
              </a:rPr>
              <a:t>Le check-in</a:t>
            </a:r>
            <a:endParaRPr lang="en-US" sz="1450" dirty="0"/>
          </a:p>
        </p:txBody>
      </p:sp>
      <p:sp>
        <p:nvSpPr>
          <p:cNvPr id="15" name="Text 12"/>
          <p:cNvSpPr txBox="1"/>
          <p:nvPr/>
        </p:nvSpPr>
        <p:spPr>
          <a:xfrm>
            <a:off x="8421624" y="4407408"/>
            <a:ext cx="3502152" cy="177393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L'étudiant présente son QR code</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Statut : inscrit → check-in en 2 secondes</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Un QR déjà scanné est détecté (pas de double usage)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601200" cy="256032"/>
          </a:xfrm>
          <a:prstGeom prst="rect">
            <a:avLst/>
          </a:prstGeom>
          <a:noFill/>
          <a:ln/>
        </p:spPr>
        <p:txBody>
          <a:bodyPr wrap="square" lIns="0" tIns="0" rIns="0" bIns="0" rtlCol="0" anchor="ctr"/>
          <a:lstStyle/>
          <a:p>
            <a:pPr indent="0" marL="0">
              <a:buNone/>
            </a:pPr>
            <a:r>
              <a:rPr lang="en-US" sz="1150" b="1" spc="300" kern="0" dirty="0">
                <a:solidFill>
                  <a:srgbClr val="E0492B"/>
                </a:solidFill>
                <a:latin typeface="Calibri" pitchFamily="34" charset="0"/>
                <a:ea typeface="Calibri" pitchFamily="34" charset="-122"/>
                <a:cs typeface="Calibri" pitchFamily="34" charset="-120"/>
              </a:rPr>
              <a:t>PARTIE 4 — DÉMO PARTENAIRE</a:t>
            </a:r>
            <a:endParaRPr lang="en-US" sz="1150" dirty="0"/>
          </a:p>
        </p:txBody>
      </p:sp>
      <p:sp>
        <p:nvSpPr>
          <p:cNvPr id="3" name="Shape 1"/>
          <p:cNvSpPr/>
          <p:nvPr/>
        </p:nvSpPr>
        <p:spPr>
          <a:xfrm>
            <a:off x="10241280" y="292608"/>
            <a:ext cx="1371600" cy="365760"/>
          </a:xfrm>
          <a:prstGeom prst="roundRect">
            <a:avLst>
              <a:gd name="adj" fmla="val 50000"/>
            </a:avLst>
          </a:prstGeom>
          <a:solidFill>
            <a:srgbClr val="1C1916"/>
          </a:solidFill>
          <a:ln w="12700">
            <a:solidFill>
              <a:srgbClr val="1C1916"/>
            </a:solidFill>
            <a:prstDash val="solid"/>
          </a:ln>
        </p:spPr>
      </p:sp>
      <p:sp>
        <p:nvSpPr>
          <p:cNvPr id="4" name="Text 2"/>
          <p:cNvSpPr txBox="1"/>
          <p:nvPr/>
        </p:nvSpPr>
        <p:spPr>
          <a:xfrm>
            <a:off x="10241280" y="292608"/>
            <a:ext cx="1371600" cy="365760"/>
          </a:xfrm>
          <a:prstGeom prst="rect">
            <a:avLst/>
          </a:prstGeom>
          <a:noFill/>
          <a:ln/>
        </p:spPr>
        <p:txBody>
          <a:bodyPr wrap="square" lIns="0" tIns="0" rIns="0" bIns="0" rtlCol="0" anchor="ctr"/>
          <a:lstStyle/>
          <a:p>
            <a:pPr algn="ctr" indent="0" marL="0">
              <a:buNone/>
            </a:pPr>
            <a:r>
              <a:rPr lang="en-US" sz="1150" b="1" dirty="0">
                <a:solidFill>
                  <a:srgbClr val="B9821A"/>
                </a:solidFill>
                <a:latin typeface="Calibri" pitchFamily="34" charset="0"/>
                <a:ea typeface="Calibri" pitchFamily="34" charset="-122"/>
                <a:cs typeface="Calibri" pitchFamily="34" charset="-120"/>
              </a:rPr>
              <a:t>19:30</a:t>
            </a:r>
            <a:endParaRPr lang="en-US" sz="1150" dirty="0"/>
          </a:p>
        </p:txBody>
      </p:sp>
      <p:sp>
        <p:nvSpPr>
          <p:cNvPr id="5" name="Text 3"/>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2800" b="1" dirty="0">
                <a:solidFill>
                  <a:srgbClr val="1C1916"/>
                </a:solidFill>
                <a:latin typeface="Cambria" pitchFamily="34" charset="0"/>
                <a:ea typeface="Cambria" pitchFamily="34" charset="-122"/>
                <a:cs typeface="Cambria" pitchFamily="34" charset="-120"/>
              </a:rPr>
              <a:t>Le dashboard analytics</a:t>
            </a:r>
            <a:endParaRPr lang="en-US" sz="2800" dirty="0"/>
          </a:p>
        </p:txBody>
      </p:sp>
      <p:sp>
        <p:nvSpPr>
          <p:cNvPr id="6" name="Text 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938B7D"/>
                </a:solidFill>
                <a:latin typeface="Calibri" pitchFamily="34" charset="0"/>
                <a:ea typeface="Calibri" pitchFamily="34" charset="-122"/>
                <a:cs typeface="Calibri" pitchFamily="34" charset="-120"/>
              </a:rPr>
              <a:t>21</a:t>
            </a:r>
            <a:endParaRPr lang="en-US" sz="1000" dirty="0"/>
          </a:p>
        </p:txBody>
      </p:sp>
      <p:sp>
        <p:nvSpPr>
          <p:cNvPr id="7" name="Shape 5"/>
          <p:cNvSpPr/>
          <p:nvPr/>
        </p:nvSpPr>
        <p:spPr>
          <a:xfrm>
            <a:off x="512064" y="1261872"/>
            <a:ext cx="7754112" cy="4768115"/>
          </a:xfrm>
          <a:prstGeom prst="roundRect">
            <a:avLst>
              <a:gd name="adj" fmla="val 959"/>
            </a:avLst>
          </a:prstGeom>
          <a:solidFill>
            <a:srgbClr val="DED6C6"/>
          </a:solidFill>
          <a:ln w="12700">
            <a:solidFill>
              <a:srgbClr val="DED6C6"/>
            </a:solidFill>
            <a:prstDash val="solid"/>
          </a:ln>
          <a:effectLst>
            <a:outerShdw sx="100000" sy="100000" kx="0" ky="0" algn="bl" rotWithShape="0" blurRad="177800" dist="38100" dir="5400000">
              <a:srgbClr val="1C1916">
                <a:alpha val="10000"/>
              </a:srgbClr>
            </a:outerShdw>
          </a:effectLst>
        </p:spPr>
      </p:sp>
      <p:pic>
        <p:nvPicPr>
          <p:cNvPr id="8" name="Image 0" descr="C:/Users/arthu/AppData/Local/Temp/claude/C--wamp64-www-TitreRNCP/65338c5b-341d-4a9a-a20f-7844345c8908/scratchpad/oral/partner_dash.png">    </p:cNvPr>
          <p:cNvPicPr>
            <a:picLocks noChangeAspect="1"/>
          </p:cNvPicPr>
          <p:nvPr/>
        </p:nvPicPr>
        <p:blipFill>
          <a:blip r:embed="rId1"/>
          <a:stretch>
            <a:fillRect/>
          </a:stretch>
        </p:blipFill>
        <p:spPr>
          <a:xfrm>
            <a:off x="548640" y="1298448"/>
            <a:ext cx="7680960" cy="4694963"/>
          </a:xfrm>
          <a:prstGeom prst="rect">
            <a:avLst/>
          </a:prstGeom>
        </p:spPr>
      </p:pic>
      <p:sp>
        <p:nvSpPr>
          <p:cNvPr id="9" name="Shape 6"/>
          <p:cNvSpPr/>
          <p:nvPr/>
        </p:nvSpPr>
        <p:spPr>
          <a:xfrm>
            <a:off x="8549640" y="1298448"/>
            <a:ext cx="3611880" cy="5120640"/>
          </a:xfrm>
          <a:prstGeom prst="roundRect">
            <a:avLst>
              <a:gd name="adj" fmla="val 2278"/>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0" name="Text 7"/>
          <p:cNvSpPr txBox="1"/>
          <p:nvPr/>
        </p:nvSpPr>
        <p:spPr>
          <a:xfrm>
            <a:off x="8787384" y="1481328"/>
            <a:ext cx="3136392" cy="310896"/>
          </a:xfrm>
          <a:prstGeom prst="rect">
            <a:avLst/>
          </a:prstGeom>
          <a:noFill/>
          <a:ln/>
        </p:spPr>
        <p:txBody>
          <a:bodyPr wrap="square" lIns="0" tIns="0" rIns="0" bIns="0" rtlCol="0" anchor="ctr"/>
          <a:lstStyle/>
          <a:p>
            <a:pPr indent="0" marL="0">
              <a:buNone/>
            </a:pPr>
            <a:r>
              <a:rPr lang="en-US" sz="1450" b="1" dirty="0">
                <a:solidFill>
                  <a:srgbClr val="4A40C2"/>
                </a:solidFill>
                <a:latin typeface="Calibri" pitchFamily="34" charset="0"/>
                <a:ea typeface="Calibri" pitchFamily="34" charset="-122"/>
                <a:cs typeface="Calibri" pitchFamily="34" charset="-120"/>
              </a:rPr>
              <a:t>Ce que Jean obtient</a:t>
            </a:r>
            <a:endParaRPr lang="en-US" sz="1450" dirty="0"/>
          </a:p>
        </p:txBody>
      </p:sp>
      <p:sp>
        <p:nvSpPr>
          <p:cNvPr id="11" name="Text 8"/>
          <p:cNvSpPr txBox="1"/>
          <p:nvPr/>
        </p:nvSpPr>
        <p:spPr>
          <a:xfrm>
            <a:off x="8787384" y="1865376"/>
            <a:ext cx="3136392" cy="433425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Trois indicateurs en direct : inscrits, check-in, âge moyen</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Graphique d'inscriptions sur les dernières heures</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Répartition par école — pour cibler la bonne cible</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Un conseil généré à partir des données</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Alimenté par /api/stats.php, cloisonné par établissement</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601200" cy="256032"/>
          </a:xfrm>
          <a:prstGeom prst="rect">
            <a:avLst/>
          </a:prstGeom>
          <a:noFill/>
          <a:ln/>
        </p:spPr>
        <p:txBody>
          <a:bodyPr wrap="square" lIns="0" tIns="0" rIns="0" bIns="0" rtlCol="0" anchor="ctr"/>
          <a:lstStyle/>
          <a:p>
            <a:pPr indent="0" marL="0">
              <a:buNone/>
            </a:pPr>
            <a:r>
              <a:rPr lang="en-US" sz="1150" b="1" spc="300" kern="0" dirty="0">
                <a:solidFill>
                  <a:srgbClr val="E0492B"/>
                </a:solidFill>
                <a:latin typeface="Calibri" pitchFamily="34" charset="0"/>
                <a:ea typeface="Calibri" pitchFamily="34" charset="-122"/>
                <a:cs typeface="Calibri" pitchFamily="34" charset="-120"/>
              </a:rPr>
              <a:t>PARTIE 4 — DÉMO ÉTUDIANT</a:t>
            </a:r>
            <a:endParaRPr lang="en-US" sz="1150" dirty="0"/>
          </a:p>
        </p:txBody>
      </p:sp>
      <p:sp>
        <p:nvSpPr>
          <p:cNvPr id="3" name="Shape 1"/>
          <p:cNvSpPr/>
          <p:nvPr/>
        </p:nvSpPr>
        <p:spPr>
          <a:xfrm>
            <a:off x="10241280" y="292608"/>
            <a:ext cx="1371600" cy="365760"/>
          </a:xfrm>
          <a:prstGeom prst="roundRect">
            <a:avLst>
              <a:gd name="adj" fmla="val 50000"/>
            </a:avLst>
          </a:prstGeom>
          <a:solidFill>
            <a:srgbClr val="1C1916"/>
          </a:solidFill>
          <a:ln w="12700">
            <a:solidFill>
              <a:srgbClr val="1C1916"/>
            </a:solidFill>
            <a:prstDash val="solid"/>
          </a:ln>
        </p:spPr>
      </p:sp>
      <p:sp>
        <p:nvSpPr>
          <p:cNvPr id="4" name="Text 2"/>
          <p:cNvSpPr txBox="1"/>
          <p:nvPr/>
        </p:nvSpPr>
        <p:spPr>
          <a:xfrm>
            <a:off x="10241280" y="292608"/>
            <a:ext cx="1371600" cy="365760"/>
          </a:xfrm>
          <a:prstGeom prst="rect">
            <a:avLst/>
          </a:prstGeom>
          <a:noFill/>
          <a:ln/>
        </p:spPr>
        <p:txBody>
          <a:bodyPr wrap="square" lIns="0" tIns="0" rIns="0" bIns="0" rtlCol="0" anchor="ctr"/>
          <a:lstStyle/>
          <a:p>
            <a:pPr algn="ctr" indent="0" marL="0">
              <a:buNone/>
            </a:pPr>
            <a:r>
              <a:rPr lang="en-US" sz="1150" b="1" dirty="0">
                <a:solidFill>
                  <a:srgbClr val="B9821A"/>
                </a:solidFill>
                <a:latin typeface="Calibri" pitchFamily="34" charset="0"/>
                <a:ea typeface="Calibri" pitchFamily="34" charset="-122"/>
                <a:cs typeface="Calibri" pitchFamily="34" charset="-120"/>
              </a:rPr>
              <a:t>20:30</a:t>
            </a:r>
            <a:endParaRPr lang="en-US" sz="1150" dirty="0"/>
          </a:p>
        </p:txBody>
      </p:sp>
      <p:sp>
        <p:nvSpPr>
          <p:cNvPr id="5" name="Text 3"/>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2800" b="1" dirty="0">
                <a:solidFill>
                  <a:srgbClr val="1C1916"/>
                </a:solidFill>
                <a:latin typeface="Cambria" pitchFamily="34" charset="0"/>
                <a:ea typeface="Cambria" pitchFamily="34" charset="-122"/>
                <a:cs typeface="Cambria" pitchFamily="34" charset="-120"/>
              </a:rPr>
              <a:t>Squads, social — le cas de Lucas</a:t>
            </a:r>
            <a:endParaRPr lang="en-US" sz="2800" dirty="0"/>
          </a:p>
        </p:txBody>
      </p:sp>
      <p:sp>
        <p:nvSpPr>
          <p:cNvPr id="6" name="Text 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938B7D"/>
                </a:solidFill>
                <a:latin typeface="Calibri" pitchFamily="34" charset="0"/>
                <a:ea typeface="Calibri" pitchFamily="34" charset="-122"/>
                <a:cs typeface="Calibri" pitchFamily="34" charset="-120"/>
              </a:rPr>
              <a:t>22</a:t>
            </a:r>
            <a:endParaRPr lang="en-US" sz="1000" dirty="0"/>
          </a:p>
        </p:txBody>
      </p:sp>
      <p:sp>
        <p:nvSpPr>
          <p:cNvPr id="7" name="Shape 5"/>
          <p:cNvSpPr/>
          <p:nvPr/>
        </p:nvSpPr>
        <p:spPr>
          <a:xfrm>
            <a:off x="758952" y="1170432"/>
            <a:ext cx="2651760" cy="5385816"/>
          </a:xfrm>
          <a:prstGeom prst="roundRect">
            <a:avLst>
              <a:gd name="adj" fmla="val 5517"/>
            </a:avLst>
          </a:prstGeom>
          <a:solidFill>
            <a:srgbClr val="1C1916"/>
          </a:solidFill>
          <a:ln w="12700">
            <a:solidFill>
              <a:srgbClr val="1C1916"/>
            </a:solidFill>
            <a:prstDash val="solid"/>
          </a:ln>
          <a:effectLst>
            <a:outerShdw sx="100000" sy="100000" kx="0" ky="0" algn="bl" rotWithShape="0" blurRad="177800" dist="38100" dir="5400000">
              <a:srgbClr val="1C1916">
                <a:alpha val="10000"/>
              </a:srgbClr>
            </a:outerShdw>
          </a:effectLst>
        </p:spPr>
      </p:sp>
      <p:pic>
        <p:nvPicPr>
          <p:cNvPr id="8" name="Image 0" descr="C:/Users/arthu/AppData/Local/Temp/claude/C--wamp64-www-TitreRNCP/65338c5b-341d-4a9a-a20f-7844345c8908/scratchpad/oral/squads_mobile.png">    </p:cNvPr>
          <p:cNvPicPr>
            <a:picLocks noChangeAspect="1"/>
          </p:cNvPicPr>
          <p:nvPr/>
        </p:nvPicPr>
        <p:blipFill>
          <a:blip r:embed="rId1"/>
          <a:stretch>
            <a:fillRect/>
          </a:stretch>
        </p:blipFill>
        <p:spPr>
          <a:xfrm>
            <a:off x="822960" y="1234440"/>
            <a:ext cx="2523744" cy="5257800"/>
          </a:xfrm>
          <a:prstGeom prst="rect">
            <a:avLst/>
          </a:prstGeom>
        </p:spPr>
      </p:pic>
      <p:sp>
        <p:nvSpPr>
          <p:cNvPr id="9" name="Shape 6"/>
          <p:cNvSpPr/>
          <p:nvPr/>
        </p:nvSpPr>
        <p:spPr>
          <a:xfrm>
            <a:off x="3931920" y="1280160"/>
            <a:ext cx="8046720" cy="2468880"/>
          </a:xfrm>
          <a:prstGeom prst="roundRect">
            <a:avLst>
              <a:gd name="adj" fmla="val 3333"/>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0" name="Text 7"/>
          <p:cNvSpPr txBox="1"/>
          <p:nvPr/>
        </p:nvSpPr>
        <p:spPr>
          <a:xfrm>
            <a:off x="4169664" y="1463040"/>
            <a:ext cx="7571232" cy="310896"/>
          </a:xfrm>
          <a:prstGeom prst="rect">
            <a:avLst/>
          </a:prstGeom>
          <a:noFill/>
          <a:ln/>
        </p:spPr>
        <p:txBody>
          <a:bodyPr wrap="square" lIns="0" tIns="0" rIns="0" bIns="0" rtlCol="0" anchor="ctr"/>
          <a:lstStyle/>
          <a:p>
            <a:pPr indent="0" marL="0">
              <a:buNone/>
            </a:pPr>
            <a:r>
              <a:rPr lang="en-US" sz="1450" b="1" dirty="0">
                <a:solidFill>
                  <a:srgbClr val="E0492B"/>
                </a:solidFill>
                <a:latin typeface="Calibri" pitchFamily="34" charset="0"/>
                <a:ea typeface="Calibri" pitchFamily="34" charset="-122"/>
                <a:cs typeface="Calibri" pitchFamily="34" charset="-120"/>
              </a:rPr>
              <a:t>Les squads</a:t>
            </a:r>
            <a:endParaRPr lang="en-US" sz="1450" dirty="0"/>
          </a:p>
        </p:txBody>
      </p:sp>
      <p:sp>
        <p:nvSpPr>
          <p:cNvPr id="11" name="Text 8"/>
          <p:cNvSpPr txBox="1"/>
          <p:nvPr/>
        </p:nvSpPr>
        <p:spPr>
          <a:xfrm>
            <a:off x="4169664" y="1847088"/>
            <a:ext cx="7571232" cy="168249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Groupes sportifs créés par les étudiants eux-mêmes : running, vélo, musculation</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Filtre par activité et par niveau</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Quota vérifié côté serveur + contrainte UNIQUE (pas de double adhésion)</a:t>
            </a:r>
            <a:endParaRPr lang="en-US" sz="1200" dirty="0"/>
          </a:p>
        </p:txBody>
      </p:sp>
      <p:sp>
        <p:nvSpPr>
          <p:cNvPr id="12" name="Shape 9"/>
          <p:cNvSpPr/>
          <p:nvPr/>
        </p:nvSpPr>
        <p:spPr>
          <a:xfrm>
            <a:off x="3931920" y="3886200"/>
            <a:ext cx="8046720" cy="2606040"/>
          </a:xfrm>
          <a:prstGeom prst="roundRect">
            <a:avLst>
              <a:gd name="adj" fmla="val 3158"/>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3" name="Text 10"/>
          <p:cNvSpPr txBox="1"/>
          <p:nvPr/>
        </p:nvSpPr>
        <p:spPr>
          <a:xfrm>
            <a:off x="4169664" y="4069080"/>
            <a:ext cx="7571232" cy="310896"/>
          </a:xfrm>
          <a:prstGeom prst="rect">
            <a:avLst/>
          </a:prstGeom>
          <a:noFill/>
          <a:ln/>
        </p:spPr>
        <p:txBody>
          <a:bodyPr wrap="square" lIns="0" tIns="0" rIns="0" bIns="0" rtlCol="0" anchor="ctr"/>
          <a:lstStyle/>
          <a:p>
            <a:pPr indent="0" marL="0">
              <a:buNone/>
            </a:pPr>
            <a:r>
              <a:rPr lang="en-US" sz="1450" b="1" dirty="0">
                <a:solidFill>
                  <a:srgbClr val="4A40C2"/>
                </a:solidFill>
                <a:latin typeface="Calibri" pitchFamily="34" charset="0"/>
                <a:ea typeface="Calibri" pitchFamily="34" charset="-122"/>
                <a:cs typeface="Calibri" pitchFamily="34" charset="-120"/>
              </a:rPr>
              <a:t>Le social</a:t>
            </a:r>
            <a:endParaRPr lang="en-US" sz="1450" dirty="0"/>
          </a:p>
        </p:txBody>
      </p:sp>
      <p:sp>
        <p:nvSpPr>
          <p:cNvPr id="14" name="Text 11"/>
          <p:cNvSpPr txBox="1"/>
          <p:nvPr/>
        </p:nvSpPr>
        <p:spPr>
          <a:xfrm>
            <a:off x="4169664" y="4453128"/>
            <a:ext cx="7571232" cy="181965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Suivre d'autres étudiants, profil public</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Recherche par nom, par école ou par centre d'intérêt</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Activité des amis remontée dans le fil</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601200" cy="256032"/>
          </a:xfrm>
          <a:prstGeom prst="rect">
            <a:avLst/>
          </a:prstGeom>
          <a:noFill/>
          <a:ln/>
        </p:spPr>
        <p:txBody>
          <a:bodyPr wrap="square" lIns="0" tIns="0" rIns="0" bIns="0" rtlCol="0" anchor="ctr"/>
          <a:lstStyle/>
          <a:p>
            <a:pPr indent="0" marL="0">
              <a:buNone/>
            </a:pPr>
            <a:r>
              <a:rPr lang="en-US" sz="1150" b="1" spc="300" kern="0" dirty="0">
                <a:solidFill>
                  <a:srgbClr val="E0492B"/>
                </a:solidFill>
                <a:latin typeface="Calibri" pitchFamily="34" charset="0"/>
                <a:ea typeface="Calibri" pitchFamily="34" charset="-122"/>
                <a:cs typeface="Calibri" pitchFamily="34" charset="-120"/>
              </a:rPr>
              <a:t>PARTIE 4 — DÉMO ÉTUDIANT</a:t>
            </a:r>
            <a:endParaRPr lang="en-US" sz="1150" dirty="0"/>
          </a:p>
        </p:txBody>
      </p:sp>
      <p:sp>
        <p:nvSpPr>
          <p:cNvPr id="3" name="Shape 1"/>
          <p:cNvSpPr/>
          <p:nvPr/>
        </p:nvSpPr>
        <p:spPr>
          <a:xfrm>
            <a:off x="10241280" y="292608"/>
            <a:ext cx="1371600" cy="365760"/>
          </a:xfrm>
          <a:prstGeom prst="roundRect">
            <a:avLst>
              <a:gd name="adj" fmla="val 50000"/>
            </a:avLst>
          </a:prstGeom>
          <a:solidFill>
            <a:srgbClr val="1C1916"/>
          </a:solidFill>
          <a:ln w="12700">
            <a:solidFill>
              <a:srgbClr val="1C1916"/>
            </a:solidFill>
            <a:prstDash val="solid"/>
          </a:ln>
        </p:spPr>
      </p:sp>
      <p:sp>
        <p:nvSpPr>
          <p:cNvPr id="4" name="Text 2"/>
          <p:cNvSpPr txBox="1"/>
          <p:nvPr/>
        </p:nvSpPr>
        <p:spPr>
          <a:xfrm>
            <a:off x="10241280" y="292608"/>
            <a:ext cx="1371600" cy="365760"/>
          </a:xfrm>
          <a:prstGeom prst="rect">
            <a:avLst/>
          </a:prstGeom>
          <a:noFill/>
          <a:ln/>
        </p:spPr>
        <p:txBody>
          <a:bodyPr wrap="square" lIns="0" tIns="0" rIns="0" bIns="0" rtlCol="0" anchor="ctr"/>
          <a:lstStyle/>
          <a:p>
            <a:pPr algn="ctr" indent="0" marL="0">
              <a:buNone/>
            </a:pPr>
            <a:r>
              <a:rPr lang="en-US" sz="1150" b="1" dirty="0">
                <a:solidFill>
                  <a:srgbClr val="B9821A"/>
                </a:solidFill>
                <a:latin typeface="Calibri" pitchFamily="34" charset="0"/>
                <a:ea typeface="Calibri" pitchFamily="34" charset="-122"/>
                <a:cs typeface="Calibri" pitchFamily="34" charset="-120"/>
              </a:rPr>
              <a:t>21:15</a:t>
            </a:r>
            <a:endParaRPr lang="en-US" sz="1150" dirty="0"/>
          </a:p>
        </p:txBody>
      </p:sp>
      <p:sp>
        <p:nvSpPr>
          <p:cNvPr id="5" name="Text 3"/>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2800" b="1" dirty="0">
                <a:solidFill>
                  <a:srgbClr val="1C1916"/>
                </a:solidFill>
                <a:latin typeface="Cambria" pitchFamily="34" charset="0"/>
                <a:ea typeface="Cambria" pitchFamily="34" charset="-122"/>
                <a:cs typeface="Cambria" pitchFamily="34" charset="-120"/>
              </a:rPr>
              <a:t>La gamification : XP, niveaux, badges</a:t>
            </a:r>
            <a:endParaRPr lang="en-US" sz="2800" dirty="0"/>
          </a:p>
        </p:txBody>
      </p:sp>
      <p:sp>
        <p:nvSpPr>
          <p:cNvPr id="6" name="Text 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938B7D"/>
                </a:solidFill>
                <a:latin typeface="Calibri" pitchFamily="34" charset="0"/>
                <a:ea typeface="Calibri" pitchFamily="34" charset="-122"/>
                <a:cs typeface="Calibri" pitchFamily="34" charset="-120"/>
              </a:rPr>
              <a:t>23</a:t>
            </a:r>
            <a:endParaRPr lang="en-US" sz="1000" dirty="0"/>
          </a:p>
        </p:txBody>
      </p:sp>
      <p:sp>
        <p:nvSpPr>
          <p:cNvPr id="7" name="Shape 5"/>
          <p:cNvSpPr/>
          <p:nvPr/>
        </p:nvSpPr>
        <p:spPr>
          <a:xfrm>
            <a:off x="758952" y="1170432"/>
            <a:ext cx="2651760" cy="5385816"/>
          </a:xfrm>
          <a:prstGeom prst="roundRect">
            <a:avLst>
              <a:gd name="adj" fmla="val 5517"/>
            </a:avLst>
          </a:prstGeom>
          <a:solidFill>
            <a:srgbClr val="1C1916"/>
          </a:solidFill>
          <a:ln w="12700">
            <a:solidFill>
              <a:srgbClr val="1C1916"/>
            </a:solidFill>
            <a:prstDash val="solid"/>
          </a:ln>
          <a:effectLst>
            <a:outerShdw sx="100000" sy="100000" kx="0" ky="0" algn="bl" rotWithShape="0" blurRad="177800" dist="38100" dir="5400000">
              <a:srgbClr val="1C1916">
                <a:alpha val="10000"/>
              </a:srgbClr>
            </a:outerShdw>
          </a:effectLst>
        </p:spPr>
      </p:sp>
      <p:pic>
        <p:nvPicPr>
          <p:cNvPr id="8" name="Image 0" descr="C:/Users/arthu/AppData/Local/Temp/claude/C--wamp64-www-TitreRNCP/65338c5b-341d-4a9a-a20f-7844345c8908/scratchpad/oral/profil_mobile.png">    </p:cNvPr>
          <p:cNvPicPr>
            <a:picLocks noChangeAspect="1"/>
          </p:cNvPicPr>
          <p:nvPr/>
        </p:nvPicPr>
        <p:blipFill>
          <a:blip r:embed="rId1"/>
          <a:stretch>
            <a:fillRect/>
          </a:stretch>
        </p:blipFill>
        <p:spPr>
          <a:xfrm>
            <a:off x="822960" y="1234440"/>
            <a:ext cx="2523744" cy="5257800"/>
          </a:xfrm>
          <a:prstGeom prst="rect">
            <a:avLst/>
          </a:prstGeom>
        </p:spPr>
      </p:pic>
      <p:sp>
        <p:nvSpPr>
          <p:cNvPr id="9" name="Shape 6"/>
          <p:cNvSpPr/>
          <p:nvPr/>
        </p:nvSpPr>
        <p:spPr>
          <a:xfrm>
            <a:off x="3931920" y="1280160"/>
            <a:ext cx="8046720" cy="1920240"/>
          </a:xfrm>
          <a:prstGeom prst="roundRect">
            <a:avLst>
              <a:gd name="adj" fmla="val 4286"/>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0" name="Text 7"/>
          <p:cNvSpPr txBox="1"/>
          <p:nvPr/>
        </p:nvSpPr>
        <p:spPr>
          <a:xfrm>
            <a:off x="4169664" y="1463040"/>
            <a:ext cx="7571232" cy="310896"/>
          </a:xfrm>
          <a:prstGeom prst="rect">
            <a:avLst/>
          </a:prstGeom>
          <a:noFill/>
          <a:ln/>
        </p:spPr>
        <p:txBody>
          <a:bodyPr wrap="square" lIns="0" tIns="0" rIns="0" bIns="0" rtlCol="0" anchor="ctr"/>
          <a:lstStyle/>
          <a:p>
            <a:pPr indent="0" marL="0">
              <a:buNone/>
            </a:pPr>
            <a:r>
              <a:rPr lang="en-US" sz="1450" b="1" dirty="0">
                <a:solidFill>
                  <a:srgbClr val="E0492B"/>
                </a:solidFill>
                <a:latin typeface="Calibri" pitchFamily="34" charset="0"/>
                <a:ea typeface="Calibri" pitchFamily="34" charset="-122"/>
                <a:cs typeface="Calibri" pitchFamily="34" charset="-120"/>
              </a:rPr>
              <a:t>La formule</a:t>
            </a:r>
            <a:endParaRPr lang="en-US" sz="1450" dirty="0"/>
          </a:p>
        </p:txBody>
      </p:sp>
      <p:sp>
        <p:nvSpPr>
          <p:cNvPr id="11" name="Text 8"/>
          <p:cNvSpPr txBox="1"/>
          <p:nvPr/>
        </p:nvSpPr>
        <p:spPr>
          <a:xfrm>
            <a:off x="4169664" y="1847088"/>
            <a:ext cx="7571232" cy="113385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XP = 15×événements + 10×squads + 5×abonnements + 8×avis</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Niveau = partie entière de √(XP / 50) + 1 — rapide au début, ralentit ensuite</a:t>
            </a:r>
            <a:endParaRPr lang="en-US" sz="1200" dirty="0"/>
          </a:p>
        </p:txBody>
      </p:sp>
      <p:sp>
        <p:nvSpPr>
          <p:cNvPr id="12" name="Shape 9"/>
          <p:cNvSpPr/>
          <p:nvPr/>
        </p:nvSpPr>
        <p:spPr>
          <a:xfrm>
            <a:off x="3931920" y="3337560"/>
            <a:ext cx="8046720" cy="1417320"/>
          </a:xfrm>
          <a:prstGeom prst="roundRect">
            <a:avLst>
              <a:gd name="adj" fmla="val 5806"/>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3" name="Text 10"/>
          <p:cNvSpPr txBox="1"/>
          <p:nvPr/>
        </p:nvSpPr>
        <p:spPr>
          <a:xfrm>
            <a:off x="4169664" y="3520440"/>
            <a:ext cx="7571232" cy="310896"/>
          </a:xfrm>
          <a:prstGeom prst="rect">
            <a:avLst/>
          </a:prstGeom>
          <a:noFill/>
          <a:ln/>
        </p:spPr>
        <p:txBody>
          <a:bodyPr wrap="square" lIns="0" tIns="0" rIns="0" bIns="0" rtlCol="0" anchor="ctr"/>
          <a:lstStyle/>
          <a:p>
            <a:pPr indent="0" marL="0">
              <a:buNone/>
            </a:pPr>
            <a:r>
              <a:rPr lang="en-US" sz="1450" b="1" dirty="0">
                <a:solidFill>
                  <a:srgbClr val="4A40C2"/>
                </a:solidFill>
                <a:latin typeface="Calibri" pitchFamily="34" charset="0"/>
                <a:ea typeface="Calibri" pitchFamily="34" charset="-122"/>
                <a:cs typeface="Calibri" pitchFamily="34" charset="-120"/>
              </a:rPr>
              <a:t>L'automatisation</a:t>
            </a:r>
            <a:endParaRPr lang="en-US" sz="1450" dirty="0"/>
          </a:p>
        </p:txBody>
      </p:sp>
      <p:sp>
        <p:nvSpPr>
          <p:cNvPr id="14" name="Text 11"/>
          <p:cNvSpPr txBox="1"/>
          <p:nvPr/>
        </p:nvSpPr>
        <p:spPr>
          <a:xfrm>
            <a:off x="4169664" y="3904488"/>
            <a:ext cx="7571232" cy="63093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checkBadges() recalculée après chaque action majeure, sans doublon</a:t>
            </a:r>
            <a:endParaRPr lang="en-US" sz="1200" dirty="0"/>
          </a:p>
        </p:txBody>
      </p:sp>
      <p:sp>
        <p:nvSpPr>
          <p:cNvPr id="15" name="Shape 12"/>
          <p:cNvSpPr/>
          <p:nvPr/>
        </p:nvSpPr>
        <p:spPr>
          <a:xfrm>
            <a:off x="3931920" y="4892040"/>
            <a:ext cx="8046720" cy="1600200"/>
          </a:xfrm>
          <a:prstGeom prst="roundRect">
            <a:avLst>
              <a:gd name="adj" fmla="val 5143"/>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6" name="Text 13"/>
          <p:cNvSpPr txBox="1"/>
          <p:nvPr/>
        </p:nvSpPr>
        <p:spPr>
          <a:xfrm>
            <a:off x="4169664" y="5074920"/>
            <a:ext cx="7571232" cy="310896"/>
          </a:xfrm>
          <a:prstGeom prst="rect">
            <a:avLst/>
          </a:prstGeom>
          <a:noFill/>
          <a:ln/>
        </p:spPr>
        <p:txBody>
          <a:bodyPr wrap="square" lIns="0" tIns="0" rIns="0" bIns="0" rtlCol="0" anchor="ctr"/>
          <a:lstStyle/>
          <a:p>
            <a:pPr indent="0" marL="0">
              <a:buNone/>
            </a:pPr>
            <a:r>
              <a:rPr lang="en-US" sz="1450" b="1" dirty="0">
                <a:solidFill>
                  <a:srgbClr val="B9821A"/>
                </a:solidFill>
                <a:latin typeface="Calibri" pitchFamily="34" charset="0"/>
                <a:ea typeface="Calibri" pitchFamily="34" charset="-122"/>
                <a:cs typeface="Calibri" pitchFamily="34" charset="-120"/>
              </a:rPr>
              <a:t>⚠ Point de vigilance à trancher avant l'oral</a:t>
            </a:r>
            <a:endParaRPr lang="en-US" sz="1450" dirty="0"/>
          </a:p>
        </p:txBody>
      </p:sp>
      <p:sp>
        <p:nvSpPr>
          <p:cNvPr id="17" name="Text 14"/>
          <p:cNvSpPr txBox="1"/>
          <p:nvPr/>
        </p:nvSpPr>
        <p:spPr>
          <a:xfrm>
            <a:off x="4169664" y="5458968"/>
            <a:ext cx="7571232" cy="81381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9 badges modélisés en base, 8 attribués automatiquement pour l'instant</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Dire : « huit badges automatiques, un neuvième déjà modélisé et prévu »</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601200" cy="256032"/>
          </a:xfrm>
          <a:prstGeom prst="rect">
            <a:avLst/>
          </a:prstGeom>
          <a:noFill/>
          <a:ln/>
        </p:spPr>
        <p:txBody>
          <a:bodyPr wrap="square" lIns="0" tIns="0" rIns="0" bIns="0" rtlCol="0" anchor="ctr"/>
          <a:lstStyle/>
          <a:p>
            <a:pPr indent="0" marL="0">
              <a:buNone/>
            </a:pPr>
            <a:r>
              <a:rPr lang="en-US" sz="1150" b="1" spc="300" kern="0" dirty="0">
                <a:solidFill>
                  <a:srgbClr val="E0492B"/>
                </a:solidFill>
                <a:latin typeface="Calibri" pitchFamily="34" charset="0"/>
                <a:ea typeface="Calibri" pitchFamily="34" charset="-122"/>
                <a:cs typeface="Calibri" pitchFamily="34" charset="-120"/>
              </a:rPr>
              <a:t>PARTIE 4 — DÉMO ÉTUDIANT</a:t>
            </a:r>
            <a:endParaRPr lang="en-US" sz="1150" dirty="0"/>
          </a:p>
        </p:txBody>
      </p:sp>
      <p:sp>
        <p:nvSpPr>
          <p:cNvPr id="3" name="Shape 1"/>
          <p:cNvSpPr/>
          <p:nvPr/>
        </p:nvSpPr>
        <p:spPr>
          <a:xfrm>
            <a:off x="10241280" y="292608"/>
            <a:ext cx="1371600" cy="365760"/>
          </a:xfrm>
          <a:prstGeom prst="roundRect">
            <a:avLst>
              <a:gd name="adj" fmla="val 50000"/>
            </a:avLst>
          </a:prstGeom>
          <a:solidFill>
            <a:srgbClr val="1C1916"/>
          </a:solidFill>
          <a:ln w="12700">
            <a:solidFill>
              <a:srgbClr val="1C1916"/>
            </a:solidFill>
            <a:prstDash val="solid"/>
          </a:ln>
        </p:spPr>
      </p:sp>
      <p:sp>
        <p:nvSpPr>
          <p:cNvPr id="4" name="Text 2"/>
          <p:cNvSpPr txBox="1"/>
          <p:nvPr/>
        </p:nvSpPr>
        <p:spPr>
          <a:xfrm>
            <a:off x="10241280" y="292608"/>
            <a:ext cx="1371600" cy="365760"/>
          </a:xfrm>
          <a:prstGeom prst="rect">
            <a:avLst/>
          </a:prstGeom>
          <a:noFill/>
          <a:ln/>
        </p:spPr>
        <p:txBody>
          <a:bodyPr wrap="square" lIns="0" tIns="0" rIns="0" bIns="0" rtlCol="0" anchor="ctr"/>
          <a:lstStyle/>
          <a:p>
            <a:pPr algn="ctr" indent="0" marL="0">
              <a:buNone/>
            </a:pPr>
            <a:r>
              <a:rPr lang="en-US" sz="1150" b="1" dirty="0">
                <a:solidFill>
                  <a:srgbClr val="B9821A"/>
                </a:solidFill>
                <a:latin typeface="Calibri" pitchFamily="34" charset="0"/>
                <a:ea typeface="Calibri" pitchFamily="34" charset="-122"/>
                <a:cs typeface="Calibri" pitchFamily="34" charset="-120"/>
              </a:rPr>
              <a:t>21:45</a:t>
            </a:r>
            <a:endParaRPr lang="en-US" sz="1150" dirty="0"/>
          </a:p>
        </p:txBody>
      </p:sp>
      <p:sp>
        <p:nvSpPr>
          <p:cNvPr id="5" name="Text 3"/>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2800" b="1" dirty="0">
                <a:solidFill>
                  <a:srgbClr val="1C1916"/>
                </a:solidFill>
                <a:latin typeface="Cambria" pitchFamily="34" charset="0"/>
                <a:ea typeface="Cambria" pitchFamily="34" charset="-122"/>
                <a:cs typeface="Cambria" pitchFamily="34" charset="-120"/>
              </a:rPr>
              <a:t>Avis, dark mode et PWA — clôture de la démo</a:t>
            </a:r>
            <a:endParaRPr lang="en-US" sz="2800" dirty="0"/>
          </a:p>
        </p:txBody>
      </p:sp>
      <p:sp>
        <p:nvSpPr>
          <p:cNvPr id="6" name="Text 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938B7D"/>
                </a:solidFill>
                <a:latin typeface="Calibri" pitchFamily="34" charset="0"/>
                <a:ea typeface="Calibri" pitchFamily="34" charset="-122"/>
                <a:cs typeface="Calibri" pitchFamily="34" charset="-120"/>
              </a:rPr>
              <a:t>24</a:t>
            </a:r>
            <a:endParaRPr lang="en-US" sz="1000" dirty="0"/>
          </a:p>
        </p:txBody>
      </p:sp>
      <p:sp>
        <p:nvSpPr>
          <p:cNvPr id="7" name="Shape 5"/>
          <p:cNvSpPr/>
          <p:nvPr/>
        </p:nvSpPr>
        <p:spPr>
          <a:xfrm>
            <a:off x="548640" y="1417320"/>
            <a:ext cx="6035040" cy="2286000"/>
          </a:xfrm>
          <a:prstGeom prst="roundRect">
            <a:avLst>
              <a:gd name="adj" fmla="val 3600"/>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8" name="Text 6"/>
          <p:cNvSpPr txBox="1"/>
          <p:nvPr/>
        </p:nvSpPr>
        <p:spPr>
          <a:xfrm>
            <a:off x="786384" y="1600200"/>
            <a:ext cx="5559552" cy="310896"/>
          </a:xfrm>
          <a:prstGeom prst="rect">
            <a:avLst/>
          </a:prstGeom>
          <a:noFill/>
          <a:ln/>
        </p:spPr>
        <p:txBody>
          <a:bodyPr wrap="square" lIns="0" tIns="0" rIns="0" bIns="0" rtlCol="0" anchor="ctr"/>
          <a:lstStyle/>
          <a:p>
            <a:pPr indent="0" marL="0">
              <a:buNone/>
            </a:pPr>
            <a:r>
              <a:rPr lang="en-US" sz="1450" b="1" dirty="0">
                <a:solidFill>
                  <a:srgbClr val="E0492B"/>
                </a:solidFill>
                <a:latin typeface="Calibri" pitchFamily="34" charset="0"/>
                <a:ea typeface="Calibri" pitchFamily="34" charset="-122"/>
                <a:cs typeface="Calibri" pitchFamily="34" charset="-120"/>
              </a:rPr>
              <a:t>Les avis</a:t>
            </a:r>
            <a:endParaRPr lang="en-US" sz="1450" dirty="0"/>
          </a:p>
        </p:txBody>
      </p:sp>
      <p:sp>
        <p:nvSpPr>
          <p:cNvPr id="9" name="Text 7"/>
          <p:cNvSpPr txBox="1"/>
          <p:nvPr/>
        </p:nvSpPr>
        <p:spPr>
          <a:xfrm>
            <a:off x="786384" y="1984248"/>
            <a:ext cx="5559552" cy="149961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Bouton « Laisser un avis » uniquement après un check-in validé</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Note 1 à 5 étoiles + commentaire, unique par utilisateur et par événement</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Alimente la moyenne affichée sur les cartes Explore</a:t>
            </a:r>
            <a:endParaRPr lang="en-US" sz="1200" dirty="0"/>
          </a:p>
        </p:txBody>
      </p:sp>
      <p:sp>
        <p:nvSpPr>
          <p:cNvPr id="10" name="Shape 8"/>
          <p:cNvSpPr/>
          <p:nvPr/>
        </p:nvSpPr>
        <p:spPr>
          <a:xfrm>
            <a:off x="6858000" y="1417320"/>
            <a:ext cx="4846320" cy="2286000"/>
          </a:xfrm>
          <a:prstGeom prst="roundRect">
            <a:avLst>
              <a:gd name="adj" fmla="val 3600"/>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1" name="Text 9"/>
          <p:cNvSpPr txBox="1"/>
          <p:nvPr/>
        </p:nvSpPr>
        <p:spPr>
          <a:xfrm>
            <a:off x="7095744" y="1600200"/>
            <a:ext cx="4370832" cy="310896"/>
          </a:xfrm>
          <a:prstGeom prst="rect">
            <a:avLst/>
          </a:prstGeom>
          <a:noFill/>
          <a:ln/>
        </p:spPr>
        <p:txBody>
          <a:bodyPr wrap="square" lIns="0" tIns="0" rIns="0" bIns="0" rtlCol="0" anchor="ctr"/>
          <a:lstStyle/>
          <a:p>
            <a:pPr indent="0" marL="0">
              <a:buNone/>
            </a:pPr>
            <a:r>
              <a:rPr lang="en-US" sz="1450" b="1" dirty="0">
                <a:solidFill>
                  <a:srgbClr val="5B554C"/>
                </a:solidFill>
                <a:latin typeface="Calibri" pitchFamily="34" charset="0"/>
                <a:ea typeface="Calibri" pitchFamily="34" charset="-122"/>
                <a:cs typeface="Calibri" pitchFamily="34" charset="-120"/>
              </a:rPr>
              <a:t>L'écosystème se nourrit lui-même</a:t>
            </a:r>
            <a:endParaRPr lang="en-US" sz="1450" dirty="0"/>
          </a:p>
        </p:txBody>
      </p:sp>
      <p:sp>
        <p:nvSpPr>
          <p:cNvPr id="12" name="Text 10"/>
          <p:cNvSpPr txBox="1"/>
          <p:nvPr/>
        </p:nvSpPr>
        <p:spPr>
          <a:xfrm>
            <a:off x="7095744" y="1984248"/>
            <a:ext cx="4370832" cy="149961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Les utilisateurs actifs rassurent les indécis</a:t>
            </a:r>
            <a:endParaRPr lang="en-US" sz="1200" dirty="0"/>
          </a:p>
        </p:txBody>
      </p:sp>
      <p:sp>
        <p:nvSpPr>
          <p:cNvPr id="13" name="Shape 11"/>
          <p:cNvSpPr/>
          <p:nvPr/>
        </p:nvSpPr>
        <p:spPr>
          <a:xfrm>
            <a:off x="548640" y="3931920"/>
            <a:ext cx="6035040" cy="2423160"/>
          </a:xfrm>
          <a:prstGeom prst="roundRect">
            <a:avLst>
              <a:gd name="adj" fmla="val 3396"/>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4" name="Text 12"/>
          <p:cNvSpPr txBox="1"/>
          <p:nvPr/>
        </p:nvSpPr>
        <p:spPr>
          <a:xfrm>
            <a:off x="786384" y="4114800"/>
            <a:ext cx="5559552" cy="310896"/>
          </a:xfrm>
          <a:prstGeom prst="rect">
            <a:avLst/>
          </a:prstGeom>
          <a:noFill/>
          <a:ln/>
        </p:spPr>
        <p:txBody>
          <a:bodyPr wrap="square" lIns="0" tIns="0" rIns="0" bIns="0" rtlCol="0" anchor="ctr"/>
          <a:lstStyle/>
          <a:p>
            <a:pPr indent="0" marL="0">
              <a:buNone/>
            </a:pPr>
            <a:r>
              <a:rPr lang="en-US" sz="1450" b="1" dirty="0">
                <a:solidFill>
                  <a:srgbClr val="4A40C2"/>
                </a:solidFill>
                <a:latin typeface="Calibri" pitchFamily="34" charset="0"/>
                <a:ea typeface="Calibri" pitchFamily="34" charset="-122"/>
                <a:cs typeface="Calibri" pitchFamily="34" charset="-120"/>
              </a:rPr>
              <a:t>Dark mode</a:t>
            </a:r>
            <a:endParaRPr lang="en-US" sz="1450" dirty="0"/>
          </a:p>
        </p:txBody>
      </p:sp>
      <p:sp>
        <p:nvSpPr>
          <p:cNvPr id="15" name="Text 13"/>
          <p:cNvSpPr txBox="1"/>
          <p:nvPr/>
        </p:nvSpPr>
        <p:spPr>
          <a:xfrm>
            <a:off x="786384" y="4498848"/>
            <a:ext cx="5559552" cy="163677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Appliqué instantanément</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Conservé d'une session à l'autre (localStorage)</a:t>
            </a:r>
            <a:endParaRPr lang="en-US" sz="1200" dirty="0"/>
          </a:p>
        </p:txBody>
      </p:sp>
      <p:sp>
        <p:nvSpPr>
          <p:cNvPr id="16" name="Shape 14"/>
          <p:cNvSpPr/>
          <p:nvPr/>
        </p:nvSpPr>
        <p:spPr>
          <a:xfrm>
            <a:off x="6858000" y="3931920"/>
            <a:ext cx="4846320" cy="2423160"/>
          </a:xfrm>
          <a:prstGeom prst="roundRect">
            <a:avLst>
              <a:gd name="adj" fmla="val 3396"/>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7" name="Text 15"/>
          <p:cNvSpPr txBox="1"/>
          <p:nvPr/>
        </p:nvSpPr>
        <p:spPr>
          <a:xfrm>
            <a:off x="7095744" y="4114800"/>
            <a:ext cx="4370832" cy="310896"/>
          </a:xfrm>
          <a:prstGeom prst="rect">
            <a:avLst/>
          </a:prstGeom>
          <a:noFill/>
          <a:ln/>
        </p:spPr>
        <p:txBody>
          <a:bodyPr wrap="square" lIns="0" tIns="0" rIns="0" bIns="0" rtlCol="0" anchor="ctr"/>
          <a:lstStyle/>
          <a:p>
            <a:pPr indent="0" marL="0">
              <a:buNone/>
            </a:pPr>
            <a:r>
              <a:rPr lang="en-US" sz="1450" b="1" dirty="0">
                <a:solidFill>
                  <a:srgbClr val="B9821A"/>
                </a:solidFill>
                <a:latin typeface="Calibri" pitchFamily="34" charset="0"/>
                <a:ea typeface="Calibri" pitchFamily="34" charset="-122"/>
                <a:cs typeface="Calibri" pitchFamily="34" charset="-120"/>
              </a:rPr>
              <a:t>PWA installable</a:t>
            </a:r>
            <a:endParaRPr lang="en-US" sz="1450" dirty="0"/>
          </a:p>
        </p:txBody>
      </p:sp>
      <p:sp>
        <p:nvSpPr>
          <p:cNvPr id="18" name="Text 16"/>
          <p:cNvSpPr txBox="1"/>
          <p:nvPr/>
        </p:nvSpPr>
        <p:spPr>
          <a:xfrm>
            <a:off x="7095744" y="4498848"/>
            <a:ext cx="4370832" cy="163677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Icône sur l'écran d'accueil</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Ouverture en plein écran, sans barre de navigateur — comme une app native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601200" cy="256032"/>
          </a:xfrm>
          <a:prstGeom prst="rect">
            <a:avLst/>
          </a:prstGeom>
          <a:noFill/>
          <a:ln/>
        </p:spPr>
        <p:txBody>
          <a:bodyPr wrap="square" lIns="0" tIns="0" rIns="0" bIns="0" rtlCol="0" anchor="ctr"/>
          <a:lstStyle/>
          <a:p>
            <a:pPr indent="0" marL="0">
              <a:buNone/>
            </a:pPr>
            <a:r>
              <a:rPr lang="en-US" sz="1150" b="1" spc="300" kern="0" dirty="0">
                <a:solidFill>
                  <a:srgbClr val="E0492B"/>
                </a:solidFill>
                <a:latin typeface="Calibri" pitchFamily="34" charset="0"/>
                <a:ea typeface="Calibri" pitchFamily="34" charset="-122"/>
                <a:cs typeface="Calibri" pitchFamily="34" charset="-120"/>
              </a:rPr>
              <a:t>PARTIE 5 — SÉCURITÉ</a:t>
            </a:r>
            <a:endParaRPr lang="en-US" sz="1150" dirty="0"/>
          </a:p>
        </p:txBody>
      </p:sp>
      <p:sp>
        <p:nvSpPr>
          <p:cNvPr id="3" name="Shape 1"/>
          <p:cNvSpPr/>
          <p:nvPr/>
        </p:nvSpPr>
        <p:spPr>
          <a:xfrm>
            <a:off x="10241280" y="292608"/>
            <a:ext cx="1371600" cy="365760"/>
          </a:xfrm>
          <a:prstGeom prst="roundRect">
            <a:avLst>
              <a:gd name="adj" fmla="val 50000"/>
            </a:avLst>
          </a:prstGeom>
          <a:solidFill>
            <a:srgbClr val="1C1916"/>
          </a:solidFill>
          <a:ln w="12700">
            <a:solidFill>
              <a:srgbClr val="1C1916"/>
            </a:solidFill>
            <a:prstDash val="solid"/>
          </a:ln>
        </p:spPr>
      </p:sp>
      <p:sp>
        <p:nvSpPr>
          <p:cNvPr id="4" name="Text 2"/>
          <p:cNvSpPr txBox="1"/>
          <p:nvPr/>
        </p:nvSpPr>
        <p:spPr>
          <a:xfrm>
            <a:off x="10241280" y="292608"/>
            <a:ext cx="1371600" cy="365760"/>
          </a:xfrm>
          <a:prstGeom prst="rect">
            <a:avLst/>
          </a:prstGeom>
          <a:noFill/>
          <a:ln/>
        </p:spPr>
        <p:txBody>
          <a:bodyPr wrap="square" lIns="0" tIns="0" rIns="0" bIns="0" rtlCol="0" anchor="ctr"/>
          <a:lstStyle/>
          <a:p>
            <a:pPr algn="ctr" indent="0" marL="0">
              <a:buNone/>
            </a:pPr>
            <a:r>
              <a:rPr lang="en-US" sz="1150" b="1" dirty="0">
                <a:solidFill>
                  <a:srgbClr val="B9821A"/>
                </a:solidFill>
                <a:latin typeface="Calibri" pitchFamily="34" charset="0"/>
                <a:ea typeface="Calibri" pitchFamily="34" charset="-122"/>
                <a:cs typeface="Calibri" pitchFamily="34" charset="-120"/>
              </a:rPr>
              <a:t>22:00</a:t>
            </a:r>
            <a:endParaRPr lang="en-US" sz="1150" dirty="0"/>
          </a:p>
        </p:txBody>
      </p:sp>
      <p:sp>
        <p:nvSpPr>
          <p:cNvPr id="5" name="Text 3"/>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2800" b="1" dirty="0">
                <a:solidFill>
                  <a:srgbClr val="1C1916"/>
                </a:solidFill>
                <a:latin typeface="Cambria" pitchFamily="34" charset="0"/>
                <a:ea typeface="Cambria" pitchFamily="34" charset="-122"/>
                <a:cs typeface="Cambria" pitchFamily="34" charset="-120"/>
              </a:rPr>
              <a:t>L'OWASP Top 10 comme grille de lecture</a:t>
            </a:r>
            <a:endParaRPr lang="en-US" sz="2800" dirty="0"/>
          </a:p>
        </p:txBody>
      </p:sp>
      <p:sp>
        <p:nvSpPr>
          <p:cNvPr id="6" name="Text 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938B7D"/>
                </a:solidFill>
                <a:latin typeface="Calibri" pitchFamily="34" charset="0"/>
                <a:ea typeface="Calibri" pitchFamily="34" charset="-122"/>
                <a:cs typeface="Calibri" pitchFamily="34" charset="-120"/>
              </a:rPr>
              <a:t>25</a:t>
            </a:r>
            <a:endParaRPr lang="en-US" sz="1000" dirty="0"/>
          </a:p>
        </p:txBody>
      </p:sp>
      <p:sp>
        <p:nvSpPr>
          <p:cNvPr id="7" name="Shape 5"/>
          <p:cNvSpPr/>
          <p:nvPr/>
        </p:nvSpPr>
        <p:spPr>
          <a:xfrm>
            <a:off x="548640" y="1298448"/>
            <a:ext cx="3688080" cy="384048"/>
          </a:xfrm>
          <a:prstGeom prst="rect">
            <a:avLst/>
          </a:prstGeom>
          <a:solidFill>
            <a:srgbClr val="1C1916"/>
          </a:solidFill>
          <a:ln/>
        </p:spPr>
      </p:sp>
      <p:sp>
        <p:nvSpPr>
          <p:cNvPr id="8" name="Text 6"/>
          <p:cNvSpPr txBox="1"/>
          <p:nvPr/>
        </p:nvSpPr>
        <p:spPr>
          <a:xfrm>
            <a:off x="640080" y="1353312"/>
            <a:ext cx="3505200"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Risque OWASP</a:t>
            </a:r>
            <a:endParaRPr lang="en-US" sz="1050" dirty="0"/>
          </a:p>
        </p:txBody>
      </p:sp>
      <p:sp>
        <p:nvSpPr>
          <p:cNvPr id="9" name="Shape 7"/>
          <p:cNvSpPr/>
          <p:nvPr/>
        </p:nvSpPr>
        <p:spPr>
          <a:xfrm>
            <a:off x="4236720" y="1298448"/>
            <a:ext cx="7376160" cy="384048"/>
          </a:xfrm>
          <a:prstGeom prst="rect">
            <a:avLst/>
          </a:prstGeom>
          <a:solidFill>
            <a:srgbClr val="1C1916"/>
          </a:solidFill>
          <a:ln/>
        </p:spPr>
      </p:sp>
      <p:sp>
        <p:nvSpPr>
          <p:cNvPr id="10" name="Text 8"/>
          <p:cNvSpPr txBox="1"/>
          <p:nvPr/>
        </p:nvSpPr>
        <p:spPr>
          <a:xfrm>
            <a:off x="4328160" y="1353312"/>
            <a:ext cx="7193280"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Ma réponse technique</a:t>
            </a:r>
            <a:endParaRPr lang="en-US" sz="1050" dirty="0"/>
          </a:p>
        </p:txBody>
      </p:sp>
      <p:sp>
        <p:nvSpPr>
          <p:cNvPr id="11" name="Shape 9"/>
          <p:cNvSpPr/>
          <p:nvPr/>
        </p:nvSpPr>
        <p:spPr>
          <a:xfrm>
            <a:off x="548640" y="1682496"/>
            <a:ext cx="3688080" cy="658368"/>
          </a:xfrm>
          <a:prstGeom prst="rect">
            <a:avLst/>
          </a:prstGeom>
          <a:solidFill>
            <a:srgbClr val="FFFFFF"/>
          </a:solidFill>
          <a:ln w="9525">
            <a:solidFill>
              <a:srgbClr val="DED6C6"/>
            </a:solidFill>
            <a:prstDash val="solid"/>
          </a:ln>
        </p:spPr>
      </p:sp>
      <p:sp>
        <p:nvSpPr>
          <p:cNvPr id="12" name="Text 10"/>
          <p:cNvSpPr txBox="1"/>
          <p:nvPr/>
        </p:nvSpPr>
        <p:spPr>
          <a:xfrm>
            <a:off x="640080" y="1728216"/>
            <a:ext cx="3505200" cy="566928"/>
          </a:xfrm>
          <a:prstGeom prst="rect">
            <a:avLst/>
          </a:prstGeom>
          <a:noFill/>
          <a:ln/>
        </p:spPr>
        <p:txBody>
          <a:bodyPr wrap="square" lIns="0" tIns="0" rIns="0" bIns="0" rtlCol="0" anchor="t"/>
          <a:lstStyle/>
          <a:p>
            <a:pPr indent="0" marL="0">
              <a:buNone/>
            </a:pPr>
            <a:r>
              <a:rPr lang="en-US" sz="1000" b="1" dirty="0">
                <a:solidFill>
                  <a:srgbClr val="1C1916"/>
                </a:solidFill>
                <a:latin typeface="Calibri" pitchFamily="34" charset="0"/>
                <a:ea typeface="Calibri" pitchFamily="34" charset="-122"/>
                <a:cs typeface="Calibri" pitchFamily="34" charset="-120"/>
              </a:rPr>
              <a:t>Injection SQL</a:t>
            </a:r>
            <a:endParaRPr lang="en-US" sz="1000" dirty="0"/>
          </a:p>
        </p:txBody>
      </p:sp>
      <p:sp>
        <p:nvSpPr>
          <p:cNvPr id="13" name="Shape 11"/>
          <p:cNvSpPr/>
          <p:nvPr/>
        </p:nvSpPr>
        <p:spPr>
          <a:xfrm>
            <a:off x="4236720" y="1682496"/>
            <a:ext cx="7376160" cy="658368"/>
          </a:xfrm>
          <a:prstGeom prst="rect">
            <a:avLst/>
          </a:prstGeom>
          <a:solidFill>
            <a:srgbClr val="FFFFFF"/>
          </a:solidFill>
          <a:ln w="9525">
            <a:solidFill>
              <a:srgbClr val="DED6C6"/>
            </a:solidFill>
            <a:prstDash val="solid"/>
          </a:ln>
        </p:spPr>
      </p:sp>
      <p:sp>
        <p:nvSpPr>
          <p:cNvPr id="14" name="Text 12"/>
          <p:cNvSpPr txBox="1"/>
          <p:nvPr/>
        </p:nvSpPr>
        <p:spPr>
          <a:xfrm>
            <a:off x="4328160" y="1728216"/>
            <a:ext cx="7193280" cy="566928"/>
          </a:xfrm>
          <a:prstGeom prst="rect">
            <a:avLst/>
          </a:prstGeom>
          <a:noFill/>
          <a:ln/>
        </p:spPr>
        <p:txBody>
          <a:bodyPr wrap="square" lIns="0" tIns="0" rIns="0" bIns="0" rtlCol="0" anchor="t"/>
          <a:lstStyle/>
          <a:p>
            <a:pPr indent="0" marL="0">
              <a:buNone/>
            </a:pPr>
            <a:r>
              <a:rPr lang="en-US" sz="1000" dirty="0">
                <a:solidFill>
                  <a:srgbClr val="333333"/>
                </a:solidFill>
                <a:latin typeface="Calibri" pitchFamily="34" charset="0"/>
                <a:ea typeface="Calibri" pitchFamily="34" charset="-122"/>
                <a:cs typeface="Calibri" pitchFamily="34" charset="-120"/>
              </a:rPr>
              <a:t>PDO + requêtes préparées — 100% des requêtes, aucune concaténation</a:t>
            </a:r>
            <a:endParaRPr lang="en-US" sz="1000" dirty="0"/>
          </a:p>
        </p:txBody>
      </p:sp>
      <p:sp>
        <p:nvSpPr>
          <p:cNvPr id="15" name="Shape 13"/>
          <p:cNvSpPr/>
          <p:nvPr/>
        </p:nvSpPr>
        <p:spPr>
          <a:xfrm>
            <a:off x="548640" y="2340864"/>
            <a:ext cx="3688080" cy="658368"/>
          </a:xfrm>
          <a:prstGeom prst="rect">
            <a:avLst/>
          </a:prstGeom>
          <a:solidFill>
            <a:srgbClr val="F7F3EA"/>
          </a:solidFill>
          <a:ln w="9525">
            <a:solidFill>
              <a:srgbClr val="DED6C6"/>
            </a:solidFill>
            <a:prstDash val="solid"/>
          </a:ln>
        </p:spPr>
      </p:sp>
      <p:sp>
        <p:nvSpPr>
          <p:cNvPr id="16" name="Text 14"/>
          <p:cNvSpPr txBox="1"/>
          <p:nvPr/>
        </p:nvSpPr>
        <p:spPr>
          <a:xfrm>
            <a:off x="640080" y="2386584"/>
            <a:ext cx="3505200" cy="566928"/>
          </a:xfrm>
          <a:prstGeom prst="rect">
            <a:avLst/>
          </a:prstGeom>
          <a:noFill/>
          <a:ln/>
        </p:spPr>
        <p:txBody>
          <a:bodyPr wrap="square" lIns="0" tIns="0" rIns="0" bIns="0" rtlCol="0" anchor="t"/>
          <a:lstStyle/>
          <a:p>
            <a:pPr indent="0" marL="0">
              <a:buNone/>
            </a:pPr>
            <a:r>
              <a:rPr lang="en-US" sz="1000" b="1" dirty="0">
                <a:solidFill>
                  <a:srgbClr val="1C1916"/>
                </a:solidFill>
                <a:latin typeface="Calibri" pitchFamily="34" charset="0"/>
                <a:ea typeface="Calibri" pitchFamily="34" charset="-122"/>
                <a:cs typeface="Calibri" pitchFamily="34" charset="-120"/>
              </a:rPr>
              <a:t>Identification défaillante</a:t>
            </a:r>
            <a:endParaRPr lang="en-US" sz="1000" dirty="0"/>
          </a:p>
        </p:txBody>
      </p:sp>
      <p:sp>
        <p:nvSpPr>
          <p:cNvPr id="17" name="Shape 15"/>
          <p:cNvSpPr/>
          <p:nvPr/>
        </p:nvSpPr>
        <p:spPr>
          <a:xfrm>
            <a:off x="4236720" y="2340864"/>
            <a:ext cx="7376160" cy="658368"/>
          </a:xfrm>
          <a:prstGeom prst="rect">
            <a:avLst/>
          </a:prstGeom>
          <a:solidFill>
            <a:srgbClr val="F7F3EA"/>
          </a:solidFill>
          <a:ln w="9525">
            <a:solidFill>
              <a:srgbClr val="DED6C6"/>
            </a:solidFill>
            <a:prstDash val="solid"/>
          </a:ln>
        </p:spPr>
      </p:sp>
      <p:sp>
        <p:nvSpPr>
          <p:cNvPr id="18" name="Text 16"/>
          <p:cNvSpPr txBox="1"/>
          <p:nvPr/>
        </p:nvSpPr>
        <p:spPr>
          <a:xfrm>
            <a:off x="4328160" y="2386584"/>
            <a:ext cx="7193280" cy="566928"/>
          </a:xfrm>
          <a:prstGeom prst="rect">
            <a:avLst/>
          </a:prstGeom>
          <a:noFill/>
          <a:ln/>
        </p:spPr>
        <p:txBody>
          <a:bodyPr wrap="square" lIns="0" tIns="0" rIns="0" bIns="0" rtlCol="0" anchor="t"/>
          <a:lstStyle/>
          <a:p>
            <a:pPr indent="0" marL="0">
              <a:buNone/>
            </a:pPr>
            <a:r>
              <a:rPr lang="en-US" sz="1000" dirty="0">
                <a:solidFill>
                  <a:srgbClr val="333333"/>
                </a:solidFill>
                <a:latin typeface="Calibri" pitchFamily="34" charset="0"/>
                <a:ea typeface="Calibri" pitchFamily="34" charset="-122"/>
                <a:cs typeface="Calibri" pitchFamily="34" charset="-120"/>
              </a:rPr>
              <a:t>bcrypt via password_hash(PASSWORD_DEFAULT), vérifié par password_verify</a:t>
            </a:r>
            <a:endParaRPr lang="en-US" sz="1000" dirty="0"/>
          </a:p>
        </p:txBody>
      </p:sp>
      <p:sp>
        <p:nvSpPr>
          <p:cNvPr id="19" name="Shape 17"/>
          <p:cNvSpPr/>
          <p:nvPr/>
        </p:nvSpPr>
        <p:spPr>
          <a:xfrm>
            <a:off x="548640" y="2999232"/>
            <a:ext cx="3688080" cy="658368"/>
          </a:xfrm>
          <a:prstGeom prst="rect">
            <a:avLst/>
          </a:prstGeom>
          <a:solidFill>
            <a:srgbClr val="FFFFFF"/>
          </a:solidFill>
          <a:ln w="9525">
            <a:solidFill>
              <a:srgbClr val="DED6C6"/>
            </a:solidFill>
            <a:prstDash val="solid"/>
          </a:ln>
        </p:spPr>
      </p:sp>
      <p:sp>
        <p:nvSpPr>
          <p:cNvPr id="20" name="Text 18"/>
          <p:cNvSpPr txBox="1"/>
          <p:nvPr/>
        </p:nvSpPr>
        <p:spPr>
          <a:xfrm>
            <a:off x="640080" y="3044952"/>
            <a:ext cx="3505200" cy="566928"/>
          </a:xfrm>
          <a:prstGeom prst="rect">
            <a:avLst/>
          </a:prstGeom>
          <a:noFill/>
          <a:ln/>
        </p:spPr>
        <p:txBody>
          <a:bodyPr wrap="square" lIns="0" tIns="0" rIns="0" bIns="0" rtlCol="0" anchor="t"/>
          <a:lstStyle/>
          <a:p>
            <a:pPr indent="0" marL="0">
              <a:buNone/>
            </a:pPr>
            <a:r>
              <a:rPr lang="en-US" sz="1000" b="1" dirty="0">
                <a:solidFill>
                  <a:srgbClr val="1C1916"/>
                </a:solidFill>
                <a:latin typeface="Calibri" pitchFamily="34" charset="0"/>
                <a:ea typeface="Calibri" pitchFamily="34" charset="-122"/>
                <a:cs typeface="Calibri" pitchFamily="34" charset="-120"/>
              </a:rPr>
              <a:t>Fixation de session</a:t>
            </a:r>
            <a:endParaRPr lang="en-US" sz="1000" dirty="0"/>
          </a:p>
        </p:txBody>
      </p:sp>
      <p:sp>
        <p:nvSpPr>
          <p:cNvPr id="21" name="Shape 19"/>
          <p:cNvSpPr/>
          <p:nvPr/>
        </p:nvSpPr>
        <p:spPr>
          <a:xfrm>
            <a:off x="4236720" y="2999232"/>
            <a:ext cx="7376160" cy="658368"/>
          </a:xfrm>
          <a:prstGeom prst="rect">
            <a:avLst/>
          </a:prstGeom>
          <a:solidFill>
            <a:srgbClr val="FFFFFF"/>
          </a:solidFill>
          <a:ln w="9525">
            <a:solidFill>
              <a:srgbClr val="DED6C6"/>
            </a:solidFill>
            <a:prstDash val="solid"/>
          </a:ln>
        </p:spPr>
      </p:sp>
      <p:sp>
        <p:nvSpPr>
          <p:cNvPr id="22" name="Text 20"/>
          <p:cNvSpPr txBox="1"/>
          <p:nvPr/>
        </p:nvSpPr>
        <p:spPr>
          <a:xfrm>
            <a:off x="4328160" y="3044952"/>
            <a:ext cx="7193280" cy="566928"/>
          </a:xfrm>
          <a:prstGeom prst="rect">
            <a:avLst/>
          </a:prstGeom>
          <a:noFill/>
          <a:ln/>
        </p:spPr>
        <p:txBody>
          <a:bodyPr wrap="square" lIns="0" tIns="0" rIns="0" bIns="0" rtlCol="0" anchor="t"/>
          <a:lstStyle/>
          <a:p>
            <a:pPr indent="0" marL="0">
              <a:buNone/>
            </a:pPr>
            <a:r>
              <a:rPr lang="en-US" sz="1000" dirty="0">
                <a:solidFill>
                  <a:srgbClr val="333333"/>
                </a:solidFill>
                <a:latin typeface="Calibri" pitchFamily="34" charset="0"/>
                <a:ea typeface="Calibri" pitchFamily="34" charset="-122"/>
                <a:cs typeface="Calibri" pitchFamily="34" charset="-120"/>
              </a:rPr>
              <a:t>session_regenerate_id(true) à chaque connexion réussie</a:t>
            </a:r>
            <a:endParaRPr lang="en-US" sz="1000" dirty="0"/>
          </a:p>
        </p:txBody>
      </p:sp>
      <p:sp>
        <p:nvSpPr>
          <p:cNvPr id="23" name="Shape 21"/>
          <p:cNvSpPr/>
          <p:nvPr/>
        </p:nvSpPr>
        <p:spPr>
          <a:xfrm>
            <a:off x="548640" y="3657600"/>
            <a:ext cx="3688080" cy="658368"/>
          </a:xfrm>
          <a:prstGeom prst="rect">
            <a:avLst/>
          </a:prstGeom>
          <a:solidFill>
            <a:srgbClr val="F7F3EA"/>
          </a:solidFill>
          <a:ln w="9525">
            <a:solidFill>
              <a:srgbClr val="DED6C6"/>
            </a:solidFill>
            <a:prstDash val="solid"/>
          </a:ln>
        </p:spPr>
      </p:sp>
      <p:sp>
        <p:nvSpPr>
          <p:cNvPr id="24" name="Text 22"/>
          <p:cNvSpPr txBox="1"/>
          <p:nvPr/>
        </p:nvSpPr>
        <p:spPr>
          <a:xfrm>
            <a:off x="640080" y="3703320"/>
            <a:ext cx="3505200" cy="566928"/>
          </a:xfrm>
          <a:prstGeom prst="rect">
            <a:avLst/>
          </a:prstGeom>
          <a:noFill/>
          <a:ln/>
        </p:spPr>
        <p:txBody>
          <a:bodyPr wrap="square" lIns="0" tIns="0" rIns="0" bIns="0" rtlCol="0" anchor="t"/>
          <a:lstStyle/>
          <a:p>
            <a:pPr indent="0" marL="0">
              <a:buNone/>
            </a:pPr>
            <a:r>
              <a:rPr lang="en-US" sz="1000" b="1" dirty="0">
                <a:solidFill>
                  <a:srgbClr val="1C1916"/>
                </a:solidFill>
                <a:latin typeface="Calibri" pitchFamily="34" charset="0"/>
                <a:ea typeface="Calibri" pitchFamily="34" charset="-122"/>
                <a:cs typeface="Calibri" pitchFamily="34" charset="-120"/>
              </a:rPr>
              <a:t>CSRF</a:t>
            </a:r>
            <a:endParaRPr lang="en-US" sz="1000" dirty="0"/>
          </a:p>
        </p:txBody>
      </p:sp>
      <p:sp>
        <p:nvSpPr>
          <p:cNvPr id="25" name="Shape 23"/>
          <p:cNvSpPr/>
          <p:nvPr/>
        </p:nvSpPr>
        <p:spPr>
          <a:xfrm>
            <a:off x="4236720" y="3657600"/>
            <a:ext cx="7376160" cy="658368"/>
          </a:xfrm>
          <a:prstGeom prst="rect">
            <a:avLst/>
          </a:prstGeom>
          <a:solidFill>
            <a:srgbClr val="F7F3EA"/>
          </a:solidFill>
          <a:ln w="9525">
            <a:solidFill>
              <a:srgbClr val="DED6C6"/>
            </a:solidFill>
            <a:prstDash val="solid"/>
          </a:ln>
        </p:spPr>
      </p:sp>
      <p:sp>
        <p:nvSpPr>
          <p:cNvPr id="26" name="Text 24"/>
          <p:cNvSpPr txBox="1"/>
          <p:nvPr/>
        </p:nvSpPr>
        <p:spPr>
          <a:xfrm>
            <a:off x="4328160" y="3703320"/>
            <a:ext cx="7193280" cy="566928"/>
          </a:xfrm>
          <a:prstGeom prst="rect">
            <a:avLst/>
          </a:prstGeom>
          <a:noFill/>
          <a:ln/>
        </p:spPr>
        <p:txBody>
          <a:bodyPr wrap="square" lIns="0" tIns="0" rIns="0" bIns="0" rtlCol="0" anchor="t"/>
          <a:lstStyle/>
          <a:p>
            <a:pPr indent="0" marL="0">
              <a:buNone/>
            </a:pPr>
            <a:r>
              <a:rPr lang="en-US" sz="1000" dirty="0">
                <a:solidFill>
                  <a:srgbClr val="333333"/>
                </a:solidFill>
                <a:latin typeface="Calibri" pitchFamily="34" charset="0"/>
                <a:ea typeface="Calibri" pitchFamily="34" charset="-122"/>
                <a:cs typeface="Calibri" pitchFamily="34" charset="-120"/>
              </a:rPr>
              <a:t>Helpers centralisés + hash_equals — développé en détail page suivante</a:t>
            </a:r>
            <a:endParaRPr lang="en-US" sz="1000" dirty="0"/>
          </a:p>
        </p:txBody>
      </p:sp>
      <p:sp>
        <p:nvSpPr>
          <p:cNvPr id="27" name="Shape 25"/>
          <p:cNvSpPr/>
          <p:nvPr/>
        </p:nvSpPr>
        <p:spPr>
          <a:xfrm>
            <a:off x="548640" y="4315968"/>
            <a:ext cx="3688080" cy="658368"/>
          </a:xfrm>
          <a:prstGeom prst="rect">
            <a:avLst/>
          </a:prstGeom>
          <a:solidFill>
            <a:srgbClr val="FFFFFF"/>
          </a:solidFill>
          <a:ln w="9525">
            <a:solidFill>
              <a:srgbClr val="DED6C6"/>
            </a:solidFill>
            <a:prstDash val="solid"/>
          </a:ln>
        </p:spPr>
      </p:sp>
      <p:sp>
        <p:nvSpPr>
          <p:cNvPr id="28" name="Text 26"/>
          <p:cNvSpPr txBox="1"/>
          <p:nvPr/>
        </p:nvSpPr>
        <p:spPr>
          <a:xfrm>
            <a:off x="640080" y="4361688"/>
            <a:ext cx="3505200" cy="566928"/>
          </a:xfrm>
          <a:prstGeom prst="rect">
            <a:avLst/>
          </a:prstGeom>
          <a:noFill/>
          <a:ln/>
        </p:spPr>
        <p:txBody>
          <a:bodyPr wrap="square" lIns="0" tIns="0" rIns="0" bIns="0" rtlCol="0" anchor="t"/>
          <a:lstStyle/>
          <a:p>
            <a:pPr indent="0" marL="0">
              <a:buNone/>
            </a:pPr>
            <a:r>
              <a:rPr lang="en-US" sz="1000" b="1" dirty="0">
                <a:solidFill>
                  <a:srgbClr val="1C1916"/>
                </a:solidFill>
                <a:latin typeface="Calibri" pitchFamily="34" charset="0"/>
                <a:ea typeface="Calibri" pitchFamily="34" charset="-122"/>
                <a:cs typeface="Calibri" pitchFamily="34" charset="-120"/>
              </a:rPr>
              <a:t>Force brute</a:t>
            </a:r>
            <a:endParaRPr lang="en-US" sz="1000" dirty="0"/>
          </a:p>
        </p:txBody>
      </p:sp>
      <p:sp>
        <p:nvSpPr>
          <p:cNvPr id="29" name="Shape 27"/>
          <p:cNvSpPr/>
          <p:nvPr/>
        </p:nvSpPr>
        <p:spPr>
          <a:xfrm>
            <a:off x="4236720" y="4315968"/>
            <a:ext cx="7376160" cy="658368"/>
          </a:xfrm>
          <a:prstGeom prst="rect">
            <a:avLst/>
          </a:prstGeom>
          <a:solidFill>
            <a:srgbClr val="FFFFFF"/>
          </a:solidFill>
          <a:ln w="9525">
            <a:solidFill>
              <a:srgbClr val="DED6C6"/>
            </a:solidFill>
            <a:prstDash val="solid"/>
          </a:ln>
        </p:spPr>
      </p:sp>
      <p:sp>
        <p:nvSpPr>
          <p:cNvPr id="30" name="Text 28"/>
          <p:cNvSpPr txBox="1"/>
          <p:nvPr/>
        </p:nvSpPr>
        <p:spPr>
          <a:xfrm>
            <a:off x="4328160" y="4361688"/>
            <a:ext cx="7193280" cy="566928"/>
          </a:xfrm>
          <a:prstGeom prst="rect">
            <a:avLst/>
          </a:prstGeom>
          <a:noFill/>
          <a:ln/>
        </p:spPr>
        <p:txBody>
          <a:bodyPr wrap="square" lIns="0" tIns="0" rIns="0" bIns="0" rtlCol="0" anchor="t"/>
          <a:lstStyle/>
          <a:p>
            <a:pPr indent="0" marL="0">
              <a:buNone/>
            </a:pPr>
            <a:r>
              <a:rPr lang="en-US" sz="1000" dirty="0">
                <a:solidFill>
                  <a:srgbClr val="333333"/>
                </a:solidFill>
                <a:latin typeface="Calibri" pitchFamily="34" charset="0"/>
                <a:ea typeface="Calibri" pitchFamily="34" charset="-122"/>
                <a:cs typeface="Calibri" pitchFamily="34" charset="-120"/>
              </a:rPr>
              <a:t>Table login_attempts : 5 tentatives / 15 min par IP</a:t>
            </a:r>
            <a:endParaRPr lang="en-US" sz="1000" dirty="0"/>
          </a:p>
        </p:txBody>
      </p:sp>
      <p:sp>
        <p:nvSpPr>
          <p:cNvPr id="31" name="Shape 29"/>
          <p:cNvSpPr/>
          <p:nvPr/>
        </p:nvSpPr>
        <p:spPr>
          <a:xfrm>
            <a:off x="548640" y="4974336"/>
            <a:ext cx="3688080" cy="658368"/>
          </a:xfrm>
          <a:prstGeom prst="rect">
            <a:avLst/>
          </a:prstGeom>
          <a:solidFill>
            <a:srgbClr val="F7F3EA"/>
          </a:solidFill>
          <a:ln w="9525">
            <a:solidFill>
              <a:srgbClr val="DED6C6"/>
            </a:solidFill>
            <a:prstDash val="solid"/>
          </a:ln>
        </p:spPr>
      </p:sp>
      <p:sp>
        <p:nvSpPr>
          <p:cNvPr id="32" name="Text 30"/>
          <p:cNvSpPr txBox="1"/>
          <p:nvPr/>
        </p:nvSpPr>
        <p:spPr>
          <a:xfrm>
            <a:off x="640080" y="5020056"/>
            <a:ext cx="3505200" cy="566928"/>
          </a:xfrm>
          <a:prstGeom prst="rect">
            <a:avLst/>
          </a:prstGeom>
          <a:noFill/>
          <a:ln/>
        </p:spPr>
        <p:txBody>
          <a:bodyPr wrap="square" lIns="0" tIns="0" rIns="0" bIns="0" rtlCol="0" anchor="t"/>
          <a:lstStyle/>
          <a:p>
            <a:pPr indent="0" marL="0">
              <a:buNone/>
            </a:pPr>
            <a:r>
              <a:rPr lang="en-US" sz="1000" b="1" dirty="0">
                <a:solidFill>
                  <a:srgbClr val="1C1916"/>
                </a:solidFill>
                <a:latin typeface="Calibri" pitchFamily="34" charset="0"/>
                <a:ea typeface="Calibri" pitchFamily="34" charset="-122"/>
                <a:cs typeface="Calibri" pitchFamily="34" charset="-120"/>
              </a:rPr>
              <a:t>Reset de mot de passe</a:t>
            </a:r>
            <a:endParaRPr lang="en-US" sz="1000" dirty="0"/>
          </a:p>
        </p:txBody>
      </p:sp>
      <p:sp>
        <p:nvSpPr>
          <p:cNvPr id="33" name="Shape 31"/>
          <p:cNvSpPr/>
          <p:nvPr/>
        </p:nvSpPr>
        <p:spPr>
          <a:xfrm>
            <a:off x="4236720" y="4974336"/>
            <a:ext cx="7376160" cy="658368"/>
          </a:xfrm>
          <a:prstGeom prst="rect">
            <a:avLst/>
          </a:prstGeom>
          <a:solidFill>
            <a:srgbClr val="F7F3EA"/>
          </a:solidFill>
          <a:ln w="9525">
            <a:solidFill>
              <a:srgbClr val="DED6C6"/>
            </a:solidFill>
            <a:prstDash val="solid"/>
          </a:ln>
        </p:spPr>
      </p:sp>
      <p:sp>
        <p:nvSpPr>
          <p:cNvPr id="34" name="Text 32"/>
          <p:cNvSpPr txBox="1"/>
          <p:nvPr/>
        </p:nvSpPr>
        <p:spPr>
          <a:xfrm>
            <a:off x="4328160" y="5020056"/>
            <a:ext cx="7193280" cy="566928"/>
          </a:xfrm>
          <a:prstGeom prst="rect">
            <a:avLst/>
          </a:prstGeom>
          <a:noFill/>
          <a:ln/>
        </p:spPr>
        <p:txBody>
          <a:bodyPr wrap="square" lIns="0" tIns="0" rIns="0" bIns="0" rtlCol="0" anchor="t"/>
          <a:lstStyle/>
          <a:p>
            <a:pPr indent="0" marL="0">
              <a:buNone/>
            </a:pPr>
            <a:r>
              <a:rPr lang="en-US" sz="1000" dirty="0">
                <a:solidFill>
                  <a:srgbClr val="333333"/>
                </a:solidFill>
                <a:latin typeface="Calibri" pitchFamily="34" charset="0"/>
                <a:ea typeface="Calibri" pitchFamily="34" charset="-122"/>
                <a:cs typeface="Calibri" pitchFamily="34" charset="-120"/>
              </a:rPr>
              <a:t>Token aléatoire, stocké en SHA-256, 1h, usage unique</a:t>
            </a:r>
            <a:endParaRPr lang="en-US" sz="1000" dirty="0"/>
          </a:p>
        </p:txBody>
      </p:sp>
      <p:sp>
        <p:nvSpPr>
          <p:cNvPr id="35" name="Shape 33"/>
          <p:cNvSpPr/>
          <p:nvPr/>
        </p:nvSpPr>
        <p:spPr>
          <a:xfrm>
            <a:off x="548640" y="5632704"/>
            <a:ext cx="3688080" cy="457200"/>
          </a:xfrm>
          <a:prstGeom prst="rect">
            <a:avLst/>
          </a:prstGeom>
          <a:solidFill>
            <a:srgbClr val="FFFFFF"/>
          </a:solidFill>
          <a:ln w="9525">
            <a:solidFill>
              <a:srgbClr val="DED6C6"/>
            </a:solidFill>
            <a:prstDash val="solid"/>
          </a:ln>
        </p:spPr>
      </p:sp>
      <p:sp>
        <p:nvSpPr>
          <p:cNvPr id="36" name="Text 34"/>
          <p:cNvSpPr txBox="1"/>
          <p:nvPr/>
        </p:nvSpPr>
        <p:spPr>
          <a:xfrm>
            <a:off x="640080" y="5678424"/>
            <a:ext cx="3505200" cy="365760"/>
          </a:xfrm>
          <a:prstGeom prst="rect">
            <a:avLst/>
          </a:prstGeom>
          <a:noFill/>
          <a:ln/>
        </p:spPr>
        <p:txBody>
          <a:bodyPr wrap="square" lIns="0" tIns="0" rIns="0" bIns="0" rtlCol="0" anchor="t"/>
          <a:lstStyle/>
          <a:p>
            <a:pPr indent="0" marL="0">
              <a:buNone/>
            </a:pPr>
            <a:r>
              <a:rPr lang="en-US" sz="1000" b="1" dirty="0">
                <a:solidFill>
                  <a:srgbClr val="1C1916"/>
                </a:solidFill>
                <a:latin typeface="Calibri" pitchFamily="34" charset="0"/>
                <a:ea typeface="Calibri" pitchFamily="34" charset="-122"/>
                <a:cs typeface="Calibri" pitchFamily="34" charset="-120"/>
              </a:rPr>
              <a:t>Énumération de comptes</a:t>
            </a:r>
            <a:endParaRPr lang="en-US" sz="1000" dirty="0"/>
          </a:p>
        </p:txBody>
      </p:sp>
      <p:sp>
        <p:nvSpPr>
          <p:cNvPr id="37" name="Shape 35"/>
          <p:cNvSpPr/>
          <p:nvPr/>
        </p:nvSpPr>
        <p:spPr>
          <a:xfrm>
            <a:off x="4236720" y="5632704"/>
            <a:ext cx="7376160" cy="457200"/>
          </a:xfrm>
          <a:prstGeom prst="rect">
            <a:avLst/>
          </a:prstGeom>
          <a:solidFill>
            <a:srgbClr val="FFFFFF"/>
          </a:solidFill>
          <a:ln w="9525">
            <a:solidFill>
              <a:srgbClr val="DED6C6"/>
            </a:solidFill>
            <a:prstDash val="solid"/>
          </a:ln>
        </p:spPr>
      </p:sp>
      <p:sp>
        <p:nvSpPr>
          <p:cNvPr id="38" name="Text 36"/>
          <p:cNvSpPr txBox="1"/>
          <p:nvPr/>
        </p:nvSpPr>
        <p:spPr>
          <a:xfrm>
            <a:off x="4328160" y="5678424"/>
            <a:ext cx="7193280" cy="365760"/>
          </a:xfrm>
          <a:prstGeom prst="rect">
            <a:avLst/>
          </a:prstGeom>
          <a:noFill/>
          <a:ln/>
        </p:spPr>
        <p:txBody>
          <a:bodyPr wrap="square" lIns="0" tIns="0" rIns="0" bIns="0" rtlCol="0" anchor="t"/>
          <a:lstStyle/>
          <a:p>
            <a:pPr indent="0" marL="0">
              <a:buNone/>
            </a:pPr>
            <a:r>
              <a:rPr lang="en-US" sz="1000" dirty="0">
                <a:solidFill>
                  <a:srgbClr val="333333"/>
                </a:solidFill>
                <a:latin typeface="Calibri" pitchFamily="34" charset="0"/>
                <a:ea typeface="Calibri" pitchFamily="34" charset="-122"/>
                <a:cs typeface="Calibri" pitchFamily="34" charset="-120"/>
              </a:rPr>
              <a:t>Réponse identique si l'email est inconnu</a:t>
            </a:r>
            <a:endParaRPr lang="en-US" sz="1000" dirty="0"/>
          </a:p>
        </p:txBody>
      </p:sp>
      <p:sp>
        <p:nvSpPr>
          <p:cNvPr id="39" name="Shape 37"/>
          <p:cNvSpPr/>
          <p:nvPr/>
        </p:nvSpPr>
        <p:spPr>
          <a:xfrm>
            <a:off x="548640" y="6089904"/>
            <a:ext cx="3688080" cy="658368"/>
          </a:xfrm>
          <a:prstGeom prst="rect">
            <a:avLst/>
          </a:prstGeom>
          <a:solidFill>
            <a:srgbClr val="F7F3EA"/>
          </a:solidFill>
          <a:ln w="9525">
            <a:solidFill>
              <a:srgbClr val="DED6C6"/>
            </a:solidFill>
            <a:prstDash val="solid"/>
          </a:ln>
        </p:spPr>
      </p:sp>
      <p:sp>
        <p:nvSpPr>
          <p:cNvPr id="40" name="Text 38"/>
          <p:cNvSpPr txBox="1"/>
          <p:nvPr/>
        </p:nvSpPr>
        <p:spPr>
          <a:xfrm>
            <a:off x="640080" y="6135624"/>
            <a:ext cx="3505200" cy="566928"/>
          </a:xfrm>
          <a:prstGeom prst="rect">
            <a:avLst/>
          </a:prstGeom>
          <a:noFill/>
          <a:ln/>
        </p:spPr>
        <p:txBody>
          <a:bodyPr wrap="square" lIns="0" tIns="0" rIns="0" bIns="0" rtlCol="0" anchor="t"/>
          <a:lstStyle/>
          <a:p>
            <a:pPr indent="0" marL="0">
              <a:buNone/>
            </a:pPr>
            <a:r>
              <a:rPr lang="en-US" sz="1000" b="1" dirty="0">
                <a:solidFill>
                  <a:srgbClr val="1C1916"/>
                </a:solidFill>
                <a:latin typeface="Calibri" pitchFamily="34" charset="0"/>
                <a:ea typeface="Calibri" pitchFamily="34" charset="-122"/>
                <a:cs typeface="Calibri" pitchFamily="34" charset="-120"/>
              </a:rPr>
              <a:t>XSS</a:t>
            </a:r>
            <a:endParaRPr lang="en-US" sz="1000" dirty="0"/>
          </a:p>
        </p:txBody>
      </p:sp>
      <p:sp>
        <p:nvSpPr>
          <p:cNvPr id="41" name="Shape 39"/>
          <p:cNvSpPr/>
          <p:nvPr/>
        </p:nvSpPr>
        <p:spPr>
          <a:xfrm>
            <a:off x="4236720" y="6089904"/>
            <a:ext cx="7376160" cy="658368"/>
          </a:xfrm>
          <a:prstGeom prst="rect">
            <a:avLst/>
          </a:prstGeom>
          <a:solidFill>
            <a:srgbClr val="F7F3EA"/>
          </a:solidFill>
          <a:ln w="9525">
            <a:solidFill>
              <a:srgbClr val="DED6C6"/>
            </a:solidFill>
            <a:prstDash val="solid"/>
          </a:ln>
        </p:spPr>
      </p:sp>
      <p:sp>
        <p:nvSpPr>
          <p:cNvPr id="42" name="Text 40"/>
          <p:cNvSpPr txBox="1"/>
          <p:nvPr/>
        </p:nvSpPr>
        <p:spPr>
          <a:xfrm>
            <a:off x="4328160" y="6135624"/>
            <a:ext cx="7193280" cy="566928"/>
          </a:xfrm>
          <a:prstGeom prst="rect">
            <a:avLst/>
          </a:prstGeom>
          <a:noFill/>
          <a:ln/>
        </p:spPr>
        <p:txBody>
          <a:bodyPr wrap="square" lIns="0" tIns="0" rIns="0" bIns="0" rtlCol="0" anchor="t"/>
          <a:lstStyle/>
          <a:p>
            <a:pPr indent="0" marL="0">
              <a:buNone/>
            </a:pPr>
            <a:r>
              <a:rPr lang="en-US" sz="1000" dirty="0">
                <a:solidFill>
                  <a:srgbClr val="333333"/>
                </a:solidFill>
                <a:latin typeface="Calibri" pitchFamily="34" charset="0"/>
                <a:ea typeface="Calibri" pitchFamily="34" charset="-122"/>
                <a:cs typeface="Calibri" pitchFamily="34" charset="-120"/>
              </a:rPr>
              <a:t>htmlspecialchars sur toute donnée utilisateur + Content-Security-Policy</a:t>
            </a:r>
            <a:endParaRPr lang="en-US" sz="1000" dirty="0"/>
          </a:p>
        </p:txBody>
      </p:sp>
      <p:sp>
        <p:nvSpPr>
          <p:cNvPr id="43" name="Shape 41"/>
          <p:cNvSpPr/>
          <p:nvPr/>
        </p:nvSpPr>
        <p:spPr>
          <a:xfrm>
            <a:off x="548640" y="6748272"/>
            <a:ext cx="3688080" cy="658368"/>
          </a:xfrm>
          <a:prstGeom prst="rect">
            <a:avLst/>
          </a:prstGeom>
          <a:solidFill>
            <a:srgbClr val="FFFFFF"/>
          </a:solidFill>
          <a:ln w="9525">
            <a:solidFill>
              <a:srgbClr val="DED6C6"/>
            </a:solidFill>
            <a:prstDash val="solid"/>
          </a:ln>
        </p:spPr>
      </p:sp>
      <p:sp>
        <p:nvSpPr>
          <p:cNvPr id="44" name="Text 42"/>
          <p:cNvSpPr txBox="1"/>
          <p:nvPr/>
        </p:nvSpPr>
        <p:spPr>
          <a:xfrm>
            <a:off x="640080" y="6793992"/>
            <a:ext cx="3505200" cy="566928"/>
          </a:xfrm>
          <a:prstGeom prst="rect">
            <a:avLst/>
          </a:prstGeom>
          <a:noFill/>
          <a:ln/>
        </p:spPr>
        <p:txBody>
          <a:bodyPr wrap="square" lIns="0" tIns="0" rIns="0" bIns="0" rtlCol="0" anchor="t"/>
          <a:lstStyle/>
          <a:p>
            <a:pPr indent="0" marL="0">
              <a:buNone/>
            </a:pPr>
            <a:r>
              <a:rPr lang="en-US" sz="1000" b="1" dirty="0">
                <a:solidFill>
                  <a:srgbClr val="1C1916"/>
                </a:solidFill>
                <a:latin typeface="Calibri" pitchFamily="34" charset="0"/>
                <a:ea typeface="Calibri" pitchFamily="34" charset="-122"/>
                <a:cs typeface="Calibri" pitchFamily="34" charset="-120"/>
              </a:rPr>
              <a:t>Clickjacking / MIME sniffing</a:t>
            </a:r>
            <a:endParaRPr lang="en-US" sz="1000" dirty="0"/>
          </a:p>
        </p:txBody>
      </p:sp>
      <p:sp>
        <p:nvSpPr>
          <p:cNvPr id="45" name="Shape 43"/>
          <p:cNvSpPr/>
          <p:nvPr/>
        </p:nvSpPr>
        <p:spPr>
          <a:xfrm>
            <a:off x="4236720" y="6748272"/>
            <a:ext cx="7376160" cy="658368"/>
          </a:xfrm>
          <a:prstGeom prst="rect">
            <a:avLst/>
          </a:prstGeom>
          <a:solidFill>
            <a:srgbClr val="FFFFFF"/>
          </a:solidFill>
          <a:ln w="9525">
            <a:solidFill>
              <a:srgbClr val="DED6C6"/>
            </a:solidFill>
            <a:prstDash val="solid"/>
          </a:ln>
        </p:spPr>
      </p:sp>
      <p:sp>
        <p:nvSpPr>
          <p:cNvPr id="46" name="Text 44"/>
          <p:cNvSpPr txBox="1"/>
          <p:nvPr/>
        </p:nvSpPr>
        <p:spPr>
          <a:xfrm>
            <a:off x="4328160" y="6793992"/>
            <a:ext cx="7193280" cy="566928"/>
          </a:xfrm>
          <a:prstGeom prst="rect">
            <a:avLst/>
          </a:prstGeom>
          <a:noFill/>
          <a:ln/>
        </p:spPr>
        <p:txBody>
          <a:bodyPr wrap="square" lIns="0" tIns="0" rIns="0" bIns="0" rtlCol="0" anchor="t"/>
          <a:lstStyle/>
          <a:p>
            <a:pPr indent="0" marL="0">
              <a:buNone/>
            </a:pPr>
            <a:r>
              <a:rPr lang="en-US" sz="1000" dirty="0">
                <a:solidFill>
                  <a:srgbClr val="333333"/>
                </a:solidFill>
                <a:latin typeface="Calibri" pitchFamily="34" charset="0"/>
                <a:ea typeface="Calibri" pitchFamily="34" charset="-122"/>
                <a:cs typeface="Calibri" pitchFamily="34" charset="-120"/>
              </a:rPr>
              <a:t>X-Frame-Options DENY, nosniff, HSTS, Referrer-Policy</a:t>
            </a:r>
            <a:endParaRPr lang="en-US" sz="1000" dirty="0"/>
          </a:p>
        </p:txBody>
      </p:sp>
      <p:sp>
        <p:nvSpPr>
          <p:cNvPr id="47" name="Shape 45"/>
          <p:cNvSpPr/>
          <p:nvPr/>
        </p:nvSpPr>
        <p:spPr>
          <a:xfrm>
            <a:off x="548640" y="7406640"/>
            <a:ext cx="3688080" cy="658368"/>
          </a:xfrm>
          <a:prstGeom prst="rect">
            <a:avLst/>
          </a:prstGeom>
          <a:solidFill>
            <a:srgbClr val="F7F3EA"/>
          </a:solidFill>
          <a:ln w="9525">
            <a:solidFill>
              <a:srgbClr val="DED6C6"/>
            </a:solidFill>
            <a:prstDash val="solid"/>
          </a:ln>
        </p:spPr>
      </p:sp>
      <p:sp>
        <p:nvSpPr>
          <p:cNvPr id="48" name="Text 46"/>
          <p:cNvSpPr txBox="1"/>
          <p:nvPr/>
        </p:nvSpPr>
        <p:spPr>
          <a:xfrm>
            <a:off x="640080" y="7452360"/>
            <a:ext cx="3505200" cy="566928"/>
          </a:xfrm>
          <a:prstGeom prst="rect">
            <a:avLst/>
          </a:prstGeom>
          <a:noFill/>
          <a:ln/>
        </p:spPr>
        <p:txBody>
          <a:bodyPr wrap="square" lIns="0" tIns="0" rIns="0" bIns="0" rtlCol="0" anchor="t"/>
          <a:lstStyle/>
          <a:p>
            <a:pPr indent="0" marL="0">
              <a:buNone/>
            </a:pPr>
            <a:r>
              <a:rPr lang="en-US" sz="1000" b="1" dirty="0">
                <a:solidFill>
                  <a:srgbClr val="1C1916"/>
                </a:solidFill>
                <a:latin typeface="Calibri" pitchFamily="34" charset="0"/>
                <a:ea typeface="Calibri" pitchFamily="34" charset="-122"/>
                <a:cs typeface="Calibri" pitchFamily="34" charset="-120"/>
              </a:rPr>
              <a:t>Contrôle d'accès défaillant</a:t>
            </a:r>
            <a:endParaRPr lang="en-US" sz="1000" dirty="0"/>
          </a:p>
        </p:txBody>
      </p:sp>
      <p:sp>
        <p:nvSpPr>
          <p:cNvPr id="49" name="Shape 47"/>
          <p:cNvSpPr/>
          <p:nvPr/>
        </p:nvSpPr>
        <p:spPr>
          <a:xfrm>
            <a:off x="4236720" y="7406640"/>
            <a:ext cx="7376160" cy="658368"/>
          </a:xfrm>
          <a:prstGeom prst="rect">
            <a:avLst/>
          </a:prstGeom>
          <a:solidFill>
            <a:srgbClr val="F7F3EA"/>
          </a:solidFill>
          <a:ln w="9525">
            <a:solidFill>
              <a:srgbClr val="DED6C6"/>
            </a:solidFill>
            <a:prstDash val="solid"/>
          </a:ln>
        </p:spPr>
      </p:sp>
      <p:sp>
        <p:nvSpPr>
          <p:cNvPr id="50" name="Text 48"/>
          <p:cNvSpPr txBox="1"/>
          <p:nvPr/>
        </p:nvSpPr>
        <p:spPr>
          <a:xfrm>
            <a:off x="4328160" y="7452360"/>
            <a:ext cx="7193280" cy="566928"/>
          </a:xfrm>
          <a:prstGeom prst="rect">
            <a:avLst/>
          </a:prstGeom>
          <a:noFill/>
          <a:ln/>
        </p:spPr>
        <p:txBody>
          <a:bodyPr wrap="square" lIns="0" tIns="0" rIns="0" bIns="0" rtlCol="0" anchor="t"/>
          <a:lstStyle/>
          <a:p>
            <a:pPr indent="0" marL="0">
              <a:buNone/>
            </a:pPr>
            <a:r>
              <a:rPr lang="en-US" sz="1000" dirty="0">
                <a:solidFill>
                  <a:srgbClr val="333333"/>
                </a:solidFill>
                <a:latin typeface="Calibri" pitchFamily="34" charset="0"/>
                <a:ea typeface="Calibri" pitchFamily="34" charset="-122"/>
                <a:cs typeface="Calibri" pitchFamily="34" charset="-120"/>
              </a:rPr>
              <a:t>requireStudent / requirePartner + revérification à chaque endpoint</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601200" cy="256032"/>
          </a:xfrm>
          <a:prstGeom prst="rect">
            <a:avLst/>
          </a:prstGeom>
          <a:noFill/>
          <a:ln/>
        </p:spPr>
        <p:txBody>
          <a:bodyPr wrap="square" lIns="0" tIns="0" rIns="0" bIns="0" rtlCol="0" anchor="ctr"/>
          <a:lstStyle/>
          <a:p>
            <a:pPr indent="0" marL="0">
              <a:buNone/>
            </a:pPr>
            <a:r>
              <a:rPr lang="en-US" sz="1150" b="1" spc="300" kern="0" dirty="0">
                <a:solidFill>
                  <a:srgbClr val="E0492B"/>
                </a:solidFill>
                <a:latin typeface="Calibri" pitchFamily="34" charset="0"/>
                <a:ea typeface="Calibri" pitchFamily="34" charset="-122"/>
                <a:cs typeface="Calibri" pitchFamily="34" charset="-120"/>
              </a:rPr>
              <a:t>PARTIE 5 — SÉCURITÉ</a:t>
            </a:r>
            <a:endParaRPr lang="en-US" sz="1150" dirty="0"/>
          </a:p>
        </p:txBody>
      </p:sp>
      <p:sp>
        <p:nvSpPr>
          <p:cNvPr id="3" name="Shape 1"/>
          <p:cNvSpPr/>
          <p:nvPr/>
        </p:nvSpPr>
        <p:spPr>
          <a:xfrm>
            <a:off x="10241280" y="292608"/>
            <a:ext cx="1371600" cy="365760"/>
          </a:xfrm>
          <a:prstGeom prst="roundRect">
            <a:avLst>
              <a:gd name="adj" fmla="val 50000"/>
            </a:avLst>
          </a:prstGeom>
          <a:solidFill>
            <a:srgbClr val="1C1916"/>
          </a:solidFill>
          <a:ln w="12700">
            <a:solidFill>
              <a:srgbClr val="1C1916"/>
            </a:solidFill>
            <a:prstDash val="solid"/>
          </a:ln>
        </p:spPr>
      </p:sp>
      <p:sp>
        <p:nvSpPr>
          <p:cNvPr id="4" name="Text 2"/>
          <p:cNvSpPr txBox="1"/>
          <p:nvPr/>
        </p:nvSpPr>
        <p:spPr>
          <a:xfrm>
            <a:off x="10241280" y="292608"/>
            <a:ext cx="1371600" cy="365760"/>
          </a:xfrm>
          <a:prstGeom prst="rect">
            <a:avLst/>
          </a:prstGeom>
          <a:noFill/>
          <a:ln/>
        </p:spPr>
        <p:txBody>
          <a:bodyPr wrap="square" lIns="0" tIns="0" rIns="0" bIns="0" rtlCol="0" anchor="ctr"/>
          <a:lstStyle/>
          <a:p>
            <a:pPr algn="ctr" indent="0" marL="0">
              <a:buNone/>
            </a:pPr>
            <a:r>
              <a:rPr lang="en-US" sz="1150" b="1" dirty="0">
                <a:solidFill>
                  <a:srgbClr val="B9821A"/>
                </a:solidFill>
                <a:latin typeface="Calibri" pitchFamily="34" charset="0"/>
                <a:ea typeface="Calibri" pitchFamily="34" charset="-122"/>
                <a:cs typeface="Calibri" pitchFamily="34" charset="-120"/>
              </a:rPr>
              <a:t>23:30</a:t>
            </a:r>
            <a:endParaRPr lang="en-US" sz="1150" dirty="0"/>
          </a:p>
        </p:txBody>
      </p:sp>
      <p:sp>
        <p:nvSpPr>
          <p:cNvPr id="5" name="Text 3"/>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2800" b="1" dirty="0">
                <a:solidFill>
                  <a:srgbClr val="1C1916"/>
                </a:solidFill>
                <a:latin typeface="Cambria" pitchFamily="34" charset="0"/>
                <a:ea typeface="Cambria" pitchFamily="34" charset="-122"/>
                <a:cs typeface="Cambria" pitchFamily="34" charset="-120"/>
              </a:rPr>
              <a:t>Le point à développer : la protection CSRF</a:t>
            </a:r>
            <a:endParaRPr lang="en-US" sz="2800" dirty="0"/>
          </a:p>
        </p:txBody>
      </p:sp>
      <p:sp>
        <p:nvSpPr>
          <p:cNvPr id="6" name="Text 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938B7D"/>
                </a:solidFill>
                <a:latin typeface="Calibri" pitchFamily="34" charset="0"/>
                <a:ea typeface="Calibri" pitchFamily="34" charset="-122"/>
                <a:cs typeface="Calibri" pitchFamily="34" charset="-120"/>
              </a:rPr>
              <a:t>26</a:t>
            </a:r>
            <a:endParaRPr lang="en-US" sz="1000" dirty="0"/>
          </a:p>
        </p:txBody>
      </p:sp>
      <p:sp>
        <p:nvSpPr>
          <p:cNvPr id="7" name="Shape 5"/>
          <p:cNvSpPr/>
          <p:nvPr/>
        </p:nvSpPr>
        <p:spPr>
          <a:xfrm>
            <a:off x="548640" y="1371600"/>
            <a:ext cx="6035040" cy="4206240"/>
          </a:xfrm>
          <a:prstGeom prst="roundRect">
            <a:avLst>
              <a:gd name="adj" fmla="val 1522"/>
            </a:avLst>
          </a:prstGeom>
          <a:solidFill>
            <a:srgbClr val="F4F1EA"/>
          </a:solidFill>
          <a:ln w="12700">
            <a:solidFill>
              <a:srgbClr val="DED6C6"/>
            </a:solidFill>
            <a:prstDash val="solid"/>
          </a:ln>
        </p:spPr>
      </p:sp>
      <p:sp>
        <p:nvSpPr>
          <p:cNvPr id="8" name="Text 6"/>
          <p:cNvSpPr txBox="1"/>
          <p:nvPr/>
        </p:nvSpPr>
        <p:spPr>
          <a:xfrm>
            <a:off x="731520" y="1508760"/>
            <a:ext cx="5669280" cy="3931920"/>
          </a:xfrm>
          <a:prstGeom prst="rect">
            <a:avLst/>
          </a:prstGeom>
          <a:noFill/>
          <a:ln/>
        </p:spPr>
        <p:txBody>
          <a:bodyPr wrap="square" lIns="0" tIns="0" rIns="0" bIns="0" rtlCol="0" anchor="t"/>
          <a:lstStyle/>
          <a:p>
            <a:pPr indent="0" marL="0">
              <a:lnSpc>
                <a:spcPts val="1400"/>
              </a:lnSpc>
              <a:buNone/>
            </a:pPr>
            <a:r>
              <a:rPr lang="en-US" sz="1000" dirty="0">
                <a:solidFill>
                  <a:srgbClr val="1A1A1A"/>
                </a:solidFill>
                <a:latin typeface="Courier New" pitchFamily="34" charset="0"/>
                <a:ea typeface="Courier New" pitchFamily="34" charset="-122"/>
                <a:cs typeface="Courier New" pitchFamily="34" charset="-120"/>
              </a:rPr>
              <a:t>// includes/security.php</a:t>
            </a:r>
            <a:endParaRPr lang="en-US" sz="1000" dirty="0"/>
          </a:p>
          <a:p>
            <a:pPr indent="0" marL="0">
              <a:lnSpc>
                <a:spcPts val="1400"/>
              </a:lnSpc>
              <a:buNone/>
            </a:pPr>
            <a:endParaRPr lang="en-US" sz="1000" dirty="0"/>
          </a:p>
          <a:p>
            <a:pPr indent="0" marL="0">
              <a:lnSpc>
                <a:spcPts val="1400"/>
              </a:lnSpc>
              <a:buNone/>
            </a:pPr>
            <a:r>
              <a:rPr lang="en-US" sz="1000" dirty="0">
                <a:solidFill>
                  <a:srgbClr val="1A1A1A"/>
                </a:solidFill>
                <a:latin typeface="Courier New" pitchFamily="34" charset="0"/>
                <a:ea typeface="Courier New" pitchFamily="34" charset="-122"/>
                <a:cs typeface="Courier New" pitchFamily="34" charset="-120"/>
              </a:rPr>
              <a:t>function csrfToken(): string {</a:t>
            </a:r>
            <a:endParaRPr lang="en-US" sz="1000" dirty="0"/>
          </a:p>
          <a:p>
            <a:pPr indent="0" marL="0">
              <a:lnSpc>
                <a:spcPts val="1400"/>
              </a:lnSpc>
              <a:buNone/>
            </a:pPr>
            <a:r>
              <a:rPr lang="en-US" sz="1000" dirty="0">
                <a:solidFill>
                  <a:srgbClr val="1A1A1A"/>
                </a:solidFill>
                <a:latin typeface="Courier New" pitchFamily="34" charset="0"/>
                <a:ea typeface="Courier New" pitchFamily="34" charset="-122"/>
                <a:cs typeface="Courier New" pitchFamily="34" charset="-120"/>
              </a:rPr>
              <a:t>  // jeton de 32 octets aléatoires, en session</a:t>
            </a:r>
            <a:endParaRPr lang="en-US" sz="1000" dirty="0"/>
          </a:p>
          <a:p>
            <a:pPr indent="0" marL="0">
              <a:lnSpc>
                <a:spcPts val="1400"/>
              </a:lnSpc>
              <a:buNone/>
            </a:pPr>
            <a:r>
              <a:rPr lang="en-US" sz="1000" dirty="0">
                <a:solidFill>
                  <a:srgbClr val="1A1A1A"/>
                </a:solidFill>
                <a:latin typeface="Courier New" pitchFamily="34" charset="0"/>
                <a:ea typeface="Courier New" pitchFamily="34" charset="-122"/>
                <a:cs typeface="Courier New" pitchFamily="34" charset="-120"/>
              </a:rPr>
              <a:t>  return $_SESSION['csrf_token'];</a:t>
            </a:r>
            <a:endParaRPr lang="en-US" sz="1000" dirty="0"/>
          </a:p>
          <a:p>
            <a:pPr indent="0" marL="0">
              <a:lnSpc>
                <a:spcPts val="1400"/>
              </a:lnSpc>
              <a:buNone/>
            </a:pPr>
            <a:r>
              <a:rPr lang="en-US" sz="1000" dirty="0">
                <a:solidFill>
                  <a:srgbClr val="1A1A1A"/>
                </a:solidFill>
                <a:latin typeface="Courier New" pitchFamily="34" charset="0"/>
                <a:ea typeface="Courier New" pitchFamily="34" charset="-122"/>
                <a:cs typeface="Courier New" pitchFamily="34" charset="-120"/>
              </a:rPr>
              <a:t>}</a:t>
            </a:r>
            <a:endParaRPr lang="en-US" sz="1000" dirty="0"/>
          </a:p>
          <a:p>
            <a:pPr indent="0" marL="0">
              <a:lnSpc>
                <a:spcPts val="1400"/>
              </a:lnSpc>
              <a:buNone/>
            </a:pPr>
            <a:endParaRPr lang="en-US" sz="1000" dirty="0"/>
          </a:p>
          <a:p>
            <a:pPr indent="0" marL="0">
              <a:lnSpc>
                <a:spcPts val="1400"/>
              </a:lnSpc>
              <a:buNone/>
            </a:pPr>
            <a:r>
              <a:rPr lang="en-US" sz="1000" dirty="0">
                <a:solidFill>
                  <a:srgbClr val="1A1A1A"/>
                </a:solidFill>
                <a:latin typeface="Courier New" pitchFamily="34" charset="0"/>
                <a:ea typeface="Courier New" pitchFamily="34" charset="-122"/>
                <a:cs typeface="Courier New" pitchFamily="34" charset="-120"/>
              </a:rPr>
              <a:t>function csrfField(): string {</a:t>
            </a:r>
            <a:endParaRPr lang="en-US" sz="1000" dirty="0"/>
          </a:p>
          <a:p>
            <a:pPr indent="0" marL="0">
              <a:lnSpc>
                <a:spcPts val="1400"/>
              </a:lnSpc>
              <a:buNone/>
            </a:pPr>
            <a:r>
              <a:rPr lang="en-US" sz="1000" dirty="0">
                <a:solidFill>
                  <a:srgbClr val="1A1A1A"/>
                </a:solidFill>
                <a:latin typeface="Courier New" pitchFamily="34" charset="0"/>
                <a:ea typeface="Courier New" pitchFamily="34" charset="-122"/>
                <a:cs typeface="Courier New" pitchFamily="34" charset="-120"/>
              </a:rPr>
              <a:t>  // champ caché prêt à insérer — 1 seule ligne</a:t>
            </a:r>
            <a:endParaRPr lang="en-US" sz="1000" dirty="0"/>
          </a:p>
          <a:p>
            <a:pPr indent="0" marL="0">
              <a:lnSpc>
                <a:spcPts val="1400"/>
              </a:lnSpc>
              <a:buNone/>
            </a:pPr>
            <a:r>
              <a:rPr lang="en-US" sz="1000" dirty="0">
                <a:solidFill>
                  <a:srgbClr val="1A1A1A"/>
                </a:solidFill>
                <a:latin typeface="Courier New" pitchFamily="34" charset="0"/>
                <a:ea typeface="Courier New" pitchFamily="34" charset="-122"/>
                <a:cs typeface="Courier New" pitchFamily="34" charset="-120"/>
              </a:rPr>
              <a:t>  // pour protéger un nouveau formulaire</a:t>
            </a:r>
            <a:endParaRPr lang="en-US" sz="1000" dirty="0"/>
          </a:p>
          <a:p>
            <a:pPr indent="0" marL="0">
              <a:lnSpc>
                <a:spcPts val="1400"/>
              </a:lnSpc>
              <a:buNone/>
            </a:pPr>
            <a:r>
              <a:rPr lang="en-US" sz="1000" dirty="0">
                <a:solidFill>
                  <a:srgbClr val="1A1A1A"/>
                </a:solidFill>
                <a:latin typeface="Courier New" pitchFamily="34" charset="0"/>
                <a:ea typeface="Courier New" pitchFamily="34" charset="-122"/>
                <a:cs typeface="Courier New" pitchFamily="34" charset="-120"/>
              </a:rPr>
              <a:t>}</a:t>
            </a:r>
            <a:endParaRPr lang="en-US" sz="1000" dirty="0"/>
          </a:p>
          <a:p>
            <a:pPr indent="0" marL="0">
              <a:lnSpc>
                <a:spcPts val="1400"/>
              </a:lnSpc>
              <a:buNone/>
            </a:pPr>
            <a:endParaRPr lang="en-US" sz="1000" dirty="0"/>
          </a:p>
          <a:p>
            <a:pPr indent="0" marL="0">
              <a:lnSpc>
                <a:spcPts val="1400"/>
              </a:lnSpc>
              <a:buNone/>
            </a:pPr>
            <a:r>
              <a:rPr lang="en-US" sz="1000" dirty="0">
                <a:solidFill>
                  <a:srgbClr val="1A1A1A"/>
                </a:solidFill>
                <a:latin typeface="Courier New" pitchFamily="34" charset="0"/>
                <a:ea typeface="Courier New" pitchFamily="34" charset="-122"/>
                <a:cs typeface="Courier New" pitchFamily="34" charset="-120"/>
              </a:rPr>
              <a:t>function csrfVerify(): void {</a:t>
            </a:r>
            <a:endParaRPr lang="en-US" sz="1000" dirty="0"/>
          </a:p>
          <a:p>
            <a:pPr indent="0" marL="0">
              <a:lnSpc>
                <a:spcPts val="1400"/>
              </a:lnSpc>
              <a:buNone/>
            </a:pPr>
            <a:r>
              <a:rPr lang="en-US" sz="1000" dirty="0">
                <a:solidFill>
                  <a:srgbClr val="1A1A1A"/>
                </a:solidFill>
                <a:latin typeface="Courier New" pitchFamily="34" charset="0"/>
                <a:ea typeface="Courier New" pitchFamily="34" charset="-122"/>
                <a:cs typeface="Courier New" pitchFamily="34" charset="-120"/>
              </a:rPr>
              <a:t>  // hash_equals = comparaison à temps constant,</a:t>
            </a:r>
            <a:endParaRPr lang="en-US" sz="1000" dirty="0"/>
          </a:p>
          <a:p>
            <a:pPr indent="0" marL="0">
              <a:lnSpc>
                <a:spcPts val="1400"/>
              </a:lnSpc>
              <a:buNone/>
            </a:pPr>
            <a:r>
              <a:rPr lang="en-US" sz="1000" dirty="0">
                <a:solidFill>
                  <a:srgbClr val="1A1A1A"/>
                </a:solidFill>
                <a:latin typeface="Courier New" pitchFamily="34" charset="0"/>
                <a:ea typeface="Courier New" pitchFamily="34" charset="-122"/>
                <a:cs typeface="Courier New" pitchFamily="34" charset="-120"/>
              </a:rPr>
              <a:t>  // empêche les attaques temporelles</a:t>
            </a:r>
            <a:endParaRPr lang="en-US" sz="1000" dirty="0"/>
          </a:p>
          <a:p>
            <a:pPr indent="0" marL="0">
              <a:lnSpc>
                <a:spcPts val="1400"/>
              </a:lnSpc>
              <a:buNone/>
            </a:pPr>
            <a:r>
              <a:rPr lang="en-US" sz="1000" dirty="0">
                <a:solidFill>
                  <a:srgbClr val="1A1A1A"/>
                </a:solidFill>
                <a:latin typeface="Courier New" pitchFamily="34" charset="0"/>
                <a:ea typeface="Courier New" pitchFamily="34" charset="-122"/>
                <a:cs typeface="Courier New" pitchFamily="34" charset="-120"/>
              </a:rPr>
              <a:t>}</a:t>
            </a:r>
            <a:endParaRPr lang="en-US" sz="1000" dirty="0"/>
          </a:p>
        </p:txBody>
      </p:sp>
      <p:sp>
        <p:nvSpPr>
          <p:cNvPr id="9" name="Shape 7"/>
          <p:cNvSpPr/>
          <p:nvPr/>
        </p:nvSpPr>
        <p:spPr>
          <a:xfrm>
            <a:off x="6858000" y="1371600"/>
            <a:ext cx="4846320" cy="1965960"/>
          </a:xfrm>
          <a:prstGeom prst="roundRect">
            <a:avLst>
              <a:gd name="adj" fmla="val 4186"/>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0" name="Text 8"/>
          <p:cNvSpPr txBox="1"/>
          <p:nvPr/>
        </p:nvSpPr>
        <p:spPr>
          <a:xfrm>
            <a:off x="7095744" y="1554480"/>
            <a:ext cx="4370832" cy="310896"/>
          </a:xfrm>
          <a:prstGeom prst="rect">
            <a:avLst/>
          </a:prstGeom>
          <a:noFill/>
          <a:ln/>
        </p:spPr>
        <p:txBody>
          <a:bodyPr wrap="square" lIns="0" tIns="0" rIns="0" bIns="0" rtlCol="0" anchor="ctr"/>
          <a:lstStyle/>
          <a:p>
            <a:pPr indent="0" marL="0">
              <a:buNone/>
            </a:pPr>
            <a:r>
              <a:rPr lang="en-US" sz="1450" b="1" dirty="0">
                <a:solidFill>
                  <a:srgbClr val="E0492B"/>
                </a:solidFill>
                <a:latin typeface="Calibri" pitchFamily="34" charset="0"/>
                <a:ea typeface="Calibri" pitchFamily="34" charset="-122"/>
                <a:cs typeface="Calibri" pitchFamily="34" charset="-120"/>
              </a:rPr>
              <a:t>Le vrai risque : humain, pas technique</a:t>
            </a:r>
            <a:endParaRPr lang="en-US" sz="1450" dirty="0"/>
          </a:p>
        </p:txBody>
      </p:sp>
      <p:sp>
        <p:nvSpPr>
          <p:cNvPr id="11" name="Text 9"/>
          <p:cNvSpPr txBox="1"/>
          <p:nvPr/>
        </p:nvSpPr>
        <p:spPr>
          <a:xfrm>
            <a:off x="7095744" y="1938528"/>
            <a:ext cx="4370832" cy="117957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Sans framework, la protection doit être posée à la main sur chaque formulaire</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Le risque, c'est l'oubli — pas la technique</a:t>
            </a:r>
            <a:endParaRPr lang="en-US" sz="1200" dirty="0"/>
          </a:p>
        </p:txBody>
      </p:sp>
      <p:sp>
        <p:nvSpPr>
          <p:cNvPr id="12" name="Shape 10"/>
          <p:cNvSpPr/>
          <p:nvPr/>
        </p:nvSpPr>
        <p:spPr>
          <a:xfrm>
            <a:off x="6858000" y="3520440"/>
            <a:ext cx="4846320" cy="2057400"/>
          </a:xfrm>
          <a:prstGeom prst="roundRect">
            <a:avLst>
              <a:gd name="adj" fmla="val 4000"/>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3" name="Text 11"/>
          <p:cNvSpPr txBox="1"/>
          <p:nvPr/>
        </p:nvSpPr>
        <p:spPr>
          <a:xfrm>
            <a:off x="7095744" y="3703320"/>
            <a:ext cx="4370832" cy="310896"/>
          </a:xfrm>
          <a:prstGeom prst="rect">
            <a:avLst/>
          </a:prstGeom>
          <a:noFill/>
          <a:ln/>
        </p:spPr>
        <p:txBody>
          <a:bodyPr wrap="square" lIns="0" tIns="0" rIns="0" bIns="0" rtlCol="0" anchor="ctr"/>
          <a:lstStyle/>
          <a:p>
            <a:pPr indent="0" marL="0">
              <a:buNone/>
            </a:pPr>
            <a:r>
              <a:rPr lang="en-US" sz="1450" b="1" dirty="0">
                <a:solidFill>
                  <a:srgbClr val="4A40C2"/>
                </a:solidFill>
                <a:latin typeface="Calibri" pitchFamily="34" charset="0"/>
                <a:ea typeface="Calibri" pitchFamily="34" charset="-122"/>
                <a:cs typeface="Calibri" pitchFamily="34" charset="-120"/>
              </a:rPr>
              <a:t>L'amélioration apportée récemment</a:t>
            </a:r>
            <a:endParaRPr lang="en-US" sz="1450" dirty="0"/>
          </a:p>
        </p:txBody>
      </p:sp>
      <p:sp>
        <p:nvSpPr>
          <p:cNvPr id="14" name="Text 12"/>
          <p:cNvSpPr txBox="1"/>
          <p:nvPr/>
        </p:nvSpPr>
        <p:spPr>
          <a:xfrm>
            <a:off x="7095744" y="4087368"/>
            <a:ext cx="4370832" cy="127101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Avant : jeton invalide → page blanche</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Maintenant : jeton régénéré + message « session expirée » + redirection</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601200" cy="256032"/>
          </a:xfrm>
          <a:prstGeom prst="rect">
            <a:avLst/>
          </a:prstGeom>
          <a:noFill/>
          <a:ln/>
        </p:spPr>
        <p:txBody>
          <a:bodyPr wrap="square" lIns="0" tIns="0" rIns="0" bIns="0" rtlCol="0" anchor="ctr"/>
          <a:lstStyle/>
          <a:p>
            <a:pPr indent="0" marL="0">
              <a:buNone/>
            </a:pPr>
            <a:r>
              <a:rPr lang="en-US" sz="1150" b="1" spc="300" kern="0" dirty="0">
                <a:solidFill>
                  <a:srgbClr val="E0492B"/>
                </a:solidFill>
                <a:latin typeface="Calibri" pitchFamily="34" charset="0"/>
                <a:ea typeface="Calibri" pitchFamily="34" charset="-122"/>
                <a:cs typeface="Calibri" pitchFamily="34" charset="-120"/>
              </a:rPr>
              <a:t>PARTIE 6 — QUALITÉ &amp; DÉPLOIEMENT</a:t>
            </a:r>
            <a:endParaRPr lang="en-US" sz="1150" dirty="0"/>
          </a:p>
        </p:txBody>
      </p:sp>
      <p:sp>
        <p:nvSpPr>
          <p:cNvPr id="3" name="Shape 1"/>
          <p:cNvSpPr/>
          <p:nvPr/>
        </p:nvSpPr>
        <p:spPr>
          <a:xfrm>
            <a:off x="10241280" y="292608"/>
            <a:ext cx="1371600" cy="365760"/>
          </a:xfrm>
          <a:prstGeom prst="roundRect">
            <a:avLst>
              <a:gd name="adj" fmla="val 50000"/>
            </a:avLst>
          </a:prstGeom>
          <a:solidFill>
            <a:srgbClr val="1C1916"/>
          </a:solidFill>
          <a:ln w="12700">
            <a:solidFill>
              <a:srgbClr val="1C1916"/>
            </a:solidFill>
            <a:prstDash val="solid"/>
          </a:ln>
        </p:spPr>
      </p:sp>
      <p:sp>
        <p:nvSpPr>
          <p:cNvPr id="4" name="Text 2"/>
          <p:cNvSpPr txBox="1"/>
          <p:nvPr/>
        </p:nvSpPr>
        <p:spPr>
          <a:xfrm>
            <a:off x="10241280" y="292608"/>
            <a:ext cx="1371600" cy="365760"/>
          </a:xfrm>
          <a:prstGeom prst="rect">
            <a:avLst/>
          </a:prstGeom>
          <a:noFill/>
          <a:ln/>
        </p:spPr>
        <p:txBody>
          <a:bodyPr wrap="square" lIns="0" tIns="0" rIns="0" bIns="0" rtlCol="0" anchor="ctr"/>
          <a:lstStyle/>
          <a:p>
            <a:pPr algn="ctr" indent="0" marL="0">
              <a:buNone/>
            </a:pPr>
            <a:r>
              <a:rPr lang="en-US" sz="1150" b="1" dirty="0">
                <a:solidFill>
                  <a:srgbClr val="B9821A"/>
                </a:solidFill>
                <a:latin typeface="Calibri" pitchFamily="34" charset="0"/>
                <a:ea typeface="Calibri" pitchFamily="34" charset="-122"/>
                <a:cs typeface="Calibri" pitchFamily="34" charset="-120"/>
              </a:rPr>
              <a:t>25:00</a:t>
            </a:r>
            <a:endParaRPr lang="en-US" sz="1150" dirty="0"/>
          </a:p>
        </p:txBody>
      </p:sp>
      <p:sp>
        <p:nvSpPr>
          <p:cNvPr id="5" name="Text 3"/>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2800" b="1" dirty="0">
                <a:solidFill>
                  <a:srgbClr val="1C1916"/>
                </a:solidFill>
                <a:latin typeface="Cambria" pitchFamily="34" charset="0"/>
                <a:ea typeface="Cambria" pitchFamily="34" charset="-122"/>
                <a:cs typeface="Cambria" pitchFamily="34" charset="-120"/>
              </a:rPr>
              <a:t>Tests, analyse statique, intégration continue</a:t>
            </a:r>
            <a:endParaRPr lang="en-US" sz="2800" dirty="0"/>
          </a:p>
        </p:txBody>
      </p:sp>
      <p:sp>
        <p:nvSpPr>
          <p:cNvPr id="6" name="Text 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938B7D"/>
                </a:solidFill>
                <a:latin typeface="Calibri" pitchFamily="34" charset="0"/>
                <a:ea typeface="Calibri" pitchFamily="34" charset="-122"/>
                <a:cs typeface="Calibri" pitchFamily="34" charset="-120"/>
              </a:rPr>
              <a:t>27</a:t>
            </a:r>
            <a:endParaRPr lang="en-US" sz="1000" dirty="0"/>
          </a:p>
        </p:txBody>
      </p:sp>
      <p:sp>
        <p:nvSpPr>
          <p:cNvPr id="7" name="Shape 5"/>
          <p:cNvSpPr/>
          <p:nvPr/>
        </p:nvSpPr>
        <p:spPr>
          <a:xfrm>
            <a:off x="548640" y="1417320"/>
            <a:ext cx="6035040" cy="2148840"/>
          </a:xfrm>
          <a:prstGeom prst="roundRect">
            <a:avLst>
              <a:gd name="adj" fmla="val 3830"/>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8" name="Text 6"/>
          <p:cNvSpPr txBox="1"/>
          <p:nvPr/>
        </p:nvSpPr>
        <p:spPr>
          <a:xfrm>
            <a:off x="786384" y="1600200"/>
            <a:ext cx="5559552" cy="310896"/>
          </a:xfrm>
          <a:prstGeom prst="rect">
            <a:avLst/>
          </a:prstGeom>
          <a:noFill/>
          <a:ln/>
        </p:spPr>
        <p:txBody>
          <a:bodyPr wrap="square" lIns="0" tIns="0" rIns="0" bIns="0" rtlCol="0" anchor="ctr"/>
          <a:lstStyle/>
          <a:p>
            <a:pPr indent="0" marL="0">
              <a:buNone/>
            </a:pPr>
            <a:r>
              <a:rPr lang="en-US" sz="1450" b="1" dirty="0">
                <a:solidFill>
                  <a:srgbClr val="E0492B"/>
                </a:solidFill>
                <a:latin typeface="Calibri" pitchFamily="34" charset="0"/>
                <a:ea typeface="Calibri" pitchFamily="34" charset="-122"/>
                <a:cs typeface="Calibri" pitchFamily="34" charset="-120"/>
              </a:rPr>
              <a:t>40 tests PHPUnit / 282 assertions</a:t>
            </a:r>
            <a:endParaRPr lang="en-US" sz="1450" dirty="0"/>
          </a:p>
        </p:txBody>
      </p:sp>
      <p:sp>
        <p:nvSpPr>
          <p:cNvPr id="9" name="Text 7"/>
          <p:cNvSpPr txBox="1"/>
          <p:nvPr/>
        </p:nvSpPr>
        <p:spPr>
          <a:xfrm>
            <a:off x="786384" y="1984248"/>
            <a:ext cx="5559552" cy="136245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Exécution en moins de 0,2 seconde</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Unitaires : validation, XP, niveau, auth</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Intégration : gamification sur SQLite en mémoire</a:t>
            </a:r>
            <a:endParaRPr lang="en-US" sz="1200" dirty="0"/>
          </a:p>
        </p:txBody>
      </p:sp>
      <p:sp>
        <p:nvSpPr>
          <p:cNvPr id="10" name="Shape 8"/>
          <p:cNvSpPr/>
          <p:nvPr/>
        </p:nvSpPr>
        <p:spPr>
          <a:xfrm>
            <a:off x="548640" y="3703320"/>
            <a:ext cx="6035040" cy="1920240"/>
          </a:xfrm>
          <a:prstGeom prst="roundRect">
            <a:avLst>
              <a:gd name="adj" fmla="val 4286"/>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1" name="Text 9"/>
          <p:cNvSpPr txBox="1"/>
          <p:nvPr/>
        </p:nvSpPr>
        <p:spPr>
          <a:xfrm>
            <a:off x="786384" y="3886200"/>
            <a:ext cx="5559552" cy="310896"/>
          </a:xfrm>
          <a:prstGeom prst="rect">
            <a:avLst/>
          </a:prstGeom>
          <a:noFill/>
          <a:ln/>
        </p:spPr>
        <p:txBody>
          <a:bodyPr wrap="square" lIns="0" tIns="0" rIns="0" bIns="0" rtlCol="0" anchor="ctr"/>
          <a:lstStyle/>
          <a:p>
            <a:pPr indent="0" marL="0">
              <a:buNone/>
            </a:pPr>
            <a:r>
              <a:rPr lang="en-US" sz="1450" b="1" dirty="0">
                <a:solidFill>
                  <a:srgbClr val="4A40C2"/>
                </a:solidFill>
                <a:latin typeface="Calibri" pitchFamily="34" charset="0"/>
                <a:ea typeface="Calibri" pitchFamily="34" charset="-122"/>
                <a:cs typeface="Calibri" pitchFamily="34" charset="-120"/>
              </a:rPr>
              <a:t>PHPStan — niveau 5</a:t>
            </a:r>
            <a:endParaRPr lang="en-US" sz="1450" dirty="0"/>
          </a:p>
        </p:txBody>
      </p:sp>
      <p:sp>
        <p:nvSpPr>
          <p:cNvPr id="12" name="Text 10"/>
          <p:cNvSpPr txBox="1"/>
          <p:nvPr/>
        </p:nvSpPr>
        <p:spPr>
          <a:xfrm>
            <a:off x="786384" y="4270248"/>
            <a:ext cx="5559552" cy="113385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Types incohérents, appels sur valeurs potentiellement nulles</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Toutes les signatures typées, retours déclarés</a:t>
            </a:r>
            <a:endParaRPr lang="en-US" sz="1200" dirty="0"/>
          </a:p>
        </p:txBody>
      </p:sp>
      <p:sp>
        <p:nvSpPr>
          <p:cNvPr id="13" name="Shape 11"/>
          <p:cNvSpPr/>
          <p:nvPr/>
        </p:nvSpPr>
        <p:spPr>
          <a:xfrm>
            <a:off x="6858000" y="1417320"/>
            <a:ext cx="4846320" cy="4206240"/>
          </a:xfrm>
          <a:prstGeom prst="roundRect">
            <a:avLst>
              <a:gd name="adj" fmla="val 1957"/>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4" name="Text 12"/>
          <p:cNvSpPr txBox="1"/>
          <p:nvPr/>
        </p:nvSpPr>
        <p:spPr>
          <a:xfrm>
            <a:off x="7095744" y="1600200"/>
            <a:ext cx="4370832" cy="310896"/>
          </a:xfrm>
          <a:prstGeom prst="rect">
            <a:avLst/>
          </a:prstGeom>
          <a:noFill/>
          <a:ln/>
        </p:spPr>
        <p:txBody>
          <a:bodyPr wrap="square" lIns="0" tIns="0" rIns="0" bIns="0" rtlCol="0" anchor="ctr"/>
          <a:lstStyle/>
          <a:p>
            <a:pPr indent="0" marL="0">
              <a:buNone/>
            </a:pPr>
            <a:r>
              <a:rPr lang="en-US" sz="1450" b="1" dirty="0">
                <a:solidFill>
                  <a:srgbClr val="B9821A"/>
                </a:solidFill>
                <a:latin typeface="Calibri" pitchFamily="34" charset="0"/>
                <a:ea typeface="Calibri" pitchFamily="34" charset="-122"/>
                <a:cs typeface="Calibri" pitchFamily="34" charset="-120"/>
              </a:rPr>
              <a:t>Intégration continue — GitHub Actions</a:t>
            </a:r>
            <a:endParaRPr lang="en-US" sz="1450" dirty="0"/>
          </a:p>
        </p:txBody>
      </p:sp>
      <p:sp>
        <p:nvSpPr>
          <p:cNvPr id="15" name="Text 13"/>
          <p:cNvSpPr txBox="1"/>
          <p:nvPr/>
        </p:nvSpPr>
        <p:spPr>
          <a:xfrm>
            <a:off x="7095744" y="1984248"/>
            <a:ext cx="4370832" cy="341985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Chaque push : dépendances → PHPStan → suite de tests</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Rejoué sur 3 versions de PHP : 8.1, 8.2, 8.3</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Je ne maîtrise pas la version de l'hébergement final</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Un test cassé → badge README au rouge, visible immédiatement</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601200" cy="256032"/>
          </a:xfrm>
          <a:prstGeom prst="rect">
            <a:avLst/>
          </a:prstGeom>
          <a:noFill/>
          <a:ln/>
        </p:spPr>
        <p:txBody>
          <a:bodyPr wrap="square" lIns="0" tIns="0" rIns="0" bIns="0" rtlCol="0" anchor="ctr"/>
          <a:lstStyle/>
          <a:p>
            <a:pPr indent="0" marL="0">
              <a:buNone/>
            </a:pPr>
            <a:r>
              <a:rPr lang="en-US" sz="1150" b="1" spc="300" kern="0" dirty="0">
                <a:solidFill>
                  <a:srgbClr val="E0492B"/>
                </a:solidFill>
                <a:latin typeface="Calibri" pitchFamily="34" charset="0"/>
                <a:ea typeface="Calibri" pitchFamily="34" charset="-122"/>
                <a:cs typeface="Calibri" pitchFamily="34" charset="-120"/>
              </a:rPr>
              <a:t>PARTIE 6 — QUALITÉ &amp; DÉPLOIEMENT</a:t>
            </a:r>
            <a:endParaRPr lang="en-US" sz="1150" dirty="0"/>
          </a:p>
        </p:txBody>
      </p:sp>
      <p:sp>
        <p:nvSpPr>
          <p:cNvPr id="3" name="Shape 1"/>
          <p:cNvSpPr/>
          <p:nvPr/>
        </p:nvSpPr>
        <p:spPr>
          <a:xfrm>
            <a:off x="10241280" y="292608"/>
            <a:ext cx="1371600" cy="365760"/>
          </a:xfrm>
          <a:prstGeom prst="roundRect">
            <a:avLst>
              <a:gd name="adj" fmla="val 50000"/>
            </a:avLst>
          </a:prstGeom>
          <a:solidFill>
            <a:srgbClr val="1C1916"/>
          </a:solidFill>
          <a:ln w="12700">
            <a:solidFill>
              <a:srgbClr val="1C1916"/>
            </a:solidFill>
            <a:prstDash val="solid"/>
          </a:ln>
        </p:spPr>
      </p:sp>
      <p:sp>
        <p:nvSpPr>
          <p:cNvPr id="4" name="Text 2"/>
          <p:cNvSpPr txBox="1"/>
          <p:nvPr/>
        </p:nvSpPr>
        <p:spPr>
          <a:xfrm>
            <a:off x="10241280" y="292608"/>
            <a:ext cx="1371600" cy="365760"/>
          </a:xfrm>
          <a:prstGeom prst="rect">
            <a:avLst/>
          </a:prstGeom>
          <a:noFill/>
          <a:ln/>
        </p:spPr>
        <p:txBody>
          <a:bodyPr wrap="square" lIns="0" tIns="0" rIns="0" bIns="0" rtlCol="0" anchor="ctr"/>
          <a:lstStyle/>
          <a:p>
            <a:pPr algn="ctr" indent="0" marL="0">
              <a:buNone/>
            </a:pPr>
            <a:r>
              <a:rPr lang="en-US" sz="1150" b="1" dirty="0">
                <a:solidFill>
                  <a:srgbClr val="B9821A"/>
                </a:solidFill>
                <a:latin typeface="Calibri" pitchFamily="34" charset="0"/>
                <a:ea typeface="Calibri" pitchFamily="34" charset="-122"/>
                <a:cs typeface="Calibri" pitchFamily="34" charset="-120"/>
              </a:rPr>
              <a:t>26:30</a:t>
            </a:r>
            <a:endParaRPr lang="en-US" sz="1150" dirty="0"/>
          </a:p>
        </p:txBody>
      </p:sp>
      <p:sp>
        <p:nvSpPr>
          <p:cNvPr id="5" name="Text 3"/>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2800" b="1" dirty="0">
                <a:solidFill>
                  <a:srgbClr val="1C1916"/>
                </a:solidFill>
                <a:latin typeface="Cambria" pitchFamily="34" charset="0"/>
                <a:ea typeface="Cambria" pitchFamily="34" charset="-122"/>
                <a:cs typeface="Cambria" pitchFamily="34" charset="-120"/>
              </a:rPr>
              <a:t>Déploiement continu &amp; documentation</a:t>
            </a:r>
            <a:endParaRPr lang="en-US" sz="2800" dirty="0"/>
          </a:p>
        </p:txBody>
      </p:sp>
      <p:sp>
        <p:nvSpPr>
          <p:cNvPr id="6" name="Text 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938B7D"/>
                </a:solidFill>
                <a:latin typeface="Calibri" pitchFamily="34" charset="0"/>
                <a:ea typeface="Calibri" pitchFamily="34" charset="-122"/>
                <a:cs typeface="Calibri" pitchFamily="34" charset="-120"/>
              </a:rPr>
              <a:t>28</a:t>
            </a:r>
            <a:endParaRPr lang="en-US" sz="1000" dirty="0"/>
          </a:p>
        </p:txBody>
      </p:sp>
      <p:sp>
        <p:nvSpPr>
          <p:cNvPr id="7" name="Shape 5"/>
          <p:cNvSpPr/>
          <p:nvPr/>
        </p:nvSpPr>
        <p:spPr>
          <a:xfrm>
            <a:off x="548640" y="1417320"/>
            <a:ext cx="6035040" cy="4160520"/>
          </a:xfrm>
          <a:prstGeom prst="roundRect">
            <a:avLst>
              <a:gd name="adj" fmla="val 1978"/>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8" name="Text 6"/>
          <p:cNvSpPr txBox="1"/>
          <p:nvPr/>
        </p:nvSpPr>
        <p:spPr>
          <a:xfrm>
            <a:off x="786384" y="1600200"/>
            <a:ext cx="5559552" cy="310896"/>
          </a:xfrm>
          <a:prstGeom prst="rect">
            <a:avLst/>
          </a:prstGeom>
          <a:noFill/>
          <a:ln/>
        </p:spPr>
        <p:txBody>
          <a:bodyPr wrap="square" lIns="0" tIns="0" rIns="0" bIns="0" rtlCol="0" anchor="ctr"/>
          <a:lstStyle/>
          <a:p>
            <a:pPr indent="0" marL="0">
              <a:buNone/>
            </a:pPr>
            <a:r>
              <a:rPr lang="en-US" sz="1450" b="1" dirty="0">
                <a:solidFill>
                  <a:srgbClr val="E0492B"/>
                </a:solidFill>
                <a:latin typeface="Calibri" pitchFamily="34" charset="0"/>
                <a:ea typeface="Calibri" pitchFamily="34" charset="-122"/>
                <a:cs typeface="Calibri" pitchFamily="34" charset="-120"/>
              </a:rPr>
              <a:t>Déploiement continu</a:t>
            </a:r>
            <a:endParaRPr lang="en-US" sz="1450" dirty="0"/>
          </a:p>
        </p:txBody>
      </p:sp>
      <p:sp>
        <p:nvSpPr>
          <p:cNvPr id="9" name="Text 7"/>
          <p:cNvSpPr txBox="1"/>
          <p:nvPr/>
        </p:nvSpPr>
        <p:spPr>
          <a:xfrm>
            <a:off x="786384" y="1984248"/>
            <a:ext cx="5559552" cy="337413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Push sur main → build → mise en ligne en ~2 minutes</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MySQL managé, HTTPS automatique (Let's Encrypt)</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Variables d'environnement : identifiants jamais dans le dépôt Git</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includes/db.php détecte l'environnement (variable d'hôte) — le pendant serveur de baseUrl()</a:t>
            </a:r>
            <a:endParaRPr lang="en-US" sz="1200" dirty="0"/>
          </a:p>
        </p:txBody>
      </p:sp>
      <p:sp>
        <p:nvSpPr>
          <p:cNvPr id="10" name="Shape 8"/>
          <p:cNvSpPr/>
          <p:nvPr/>
        </p:nvSpPr>
        <p:spPr>
          <a:xfrm>
            <a:off x="6858000" y="1417320"/>
            <a:ext cx="4846320" cy="4160520"/>
          </a:xfrm>
          <a:prstGeom prst="roundRect">
            <a:avLst>
              <a:gd name="adj" fmla="val 1978"/>
            </a:avLst>
          </a:prstGeom>
          <a:solidFill>
            <a:srgbClr val="F7F3EA"/>
          </a:solidFill>
          <a:ln w="12700">
            <a:solidFill>
              <a:srgbClr val="DED6C6"/>
            </a:solidFill>
            <a:prstDash val="solid"/>
          </a:ln>
          <a:effectLst>
            <a:outerShdw sx="100000" sy="100000" kx="0" ky="0" algn="bl" rotWithShape="0" blurRad="177800" dist="38100" dir="5400000">
              <a:srgbClr val="1C1916">
                <a:alpha val="10000"/>
              </a:srgbClr>
            </a:outerShdw>
          </a:effectLst>
        </p:spPr>
      </p:sp>
      <p:sp>
        <p:nvSpPr>
          <p:cNvPr id="11" name="Text 9"/>
          <p:cNvSpPr txBox="1"/>
          <p:nvPr/>
        </p:nvSpPr>
        <p:spPr>
          <a:xfrm>
            <a:off x="7095744" y="1600200"/>
            <a:ext cx="4370832" cy="310896"/>
          </a:xfrm>
          <a:prstGeom prst="rect">
            <a:avLst/>
          </a:prstGeom>
          <a:noFill/>
          <a:ln/>
        </p:spPr>
        <p:txBody>
          <a:bodyPr wrap="square" lIns="0" tIns="0" rIns="0" bIns="0" rtlCol="0" anchor="ctr"/>
          <a:lstStyle/>
          <a:p>
            <a:pPr indent="0" marL="0">
              <a:buNone/>
            </a:pPr>
            <a:r>
              <a:rPr lang="en-US" sz="1450" b="1" dirty="0">
                <a:solidFill>
                  <a:srgbClr val="4A40C2"/>
                </a:solidFill>
                <a:latin typeface="Calibri" pitchFamily="34" charset="0"/>
                <a:ea typeface="Calibri" pitchFamily="34" charset="-122"/>
                <a:cs typeface="Calibri" pitchFamily="34" charset="-120"/>
              </a:rPr>
              <a:t>8 documents de projet</a:t>
            </a:r>
            <a:endParaRPr lang="en-US" sz="1450" dirty="0"/>
          </a:p>
        </p:txBody>
      </p:sp>
      <p:sp>
        <p:nvSpPr>
          <p:cNvPr id="12" name="Text 10"/>
          <p:cNvSpPr txBox="1"/>
          <p:nvPr/>
        </p:nvSpPr>
        <p:spPr>
          <a:xfrm>
            <a:off x="7095744" y="1984248"/>
            <a:ext cx="4370832" cy="337413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README d'installation</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Architecture, API, MCD, diagrammes UML</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Manuel utilisateur, rapport d'accessibilité</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CHANGELOG versionné, SECURITY.md</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601200" cy="256032"/>
          </a:xfrm>
          <a:prstGeom prst="rect">
            <a:avLst/>
          </a:prstGeom>
          <a:noFill/>
          <a:ln/>
        </p:spPr>
        <p:txBody>
          <a:bodyPr wrap="square" lIns="0" tIns="0" rIns="0" bIns="0" rtlCol="0" anchor="ctr"/>
          <a:lstStyle/>
          <a:p>
            <a:pPr indent="0" marL="0">
              <a:buNone/>
            </a:pPr>
            <a:r>
              <a:rPr lang="en-US" sz="1150" b="1" spc="300" kern="0" dirty="0">
                <a:solidFill>
                  <a:srgbClr val="E0492B"/>
                </a:solidFill>
                <a:latin typeface="Calibri" pitchFamily="34" charset="0"/>
                <a:ea typeface="Calibri" pitchFamily="34" charset="-122"/>
                <a:cs typeface="Calibri" pitchFamily="34" charset="-120"/>
              </a:rPr>
              <a:t>PARTIE 7 — BILAN</a:t>
            </a:r>
            <a:endParaRPr lang="en-US" sz="1150" dirty="0"/>
          </a:p>
        </p:txBody>
      </p:sp>
      <p:sp>
        <p:nvSpPr>
          <p:cNvPr id="3" name="Shape 1"/>
          <p:cNvSpPr/>
          <p:nvPr/>
        </p:nvSpPr>
        <p:spPr>
          <a:xfrm>
            <a:off x="10241280" y="292608"/>
            <a:ext cx="1371600" cy="365760"/>
          </a:xfrm>
          <a:prstGeom prst="roundRect">
            <a:avLst>
              <a:gd name="adj" fmla="val 50000"/>
            </a:avLst>
          </a:prstGeom>
          <a:solidFill>
            <a:srgbClr val="1C1916"/>
          </a:solidFill>
          <a:ln w="12700">
            <a:solidFill>
              <a:srgbClr val="1C1916"/>
            </a:solidFill>
            <a:prstDash val="solid"/>
          </a:ln>
        </p:spPr>
      </p:sp>
      <p:sp>
        <p:nvSpPr>
          <p:cNvPr id="4" name="Text 2"/>
          <p:cNvSpPr txBox="1"/>
          <p:nvPr/>
        </p:nvSpPr>
        <p:spPr>
          <a:xfrm>
            <a:off x="10241280" y="292608"/>
            <a:ext cx="1371600" cy="365760"/>
          </a:xfrm>
          <a:prstGeom prst="rect">
            <a:avLst/>
          </a:prstGeom>
          <a:noFill/>
          <a:ln/>
        </p:spPr>
        <p:txBody>
          <a:bodyPr wrap="square" lIns="0" tIns="0" rIns="0" bIns="0" rtlCol="0" anchor="ctr"/>
          <a:lstStyle/>
          <a:p>
            <a:pPr algn="ctr" indent="0" marL="0">
              <a:buNone/>
            </a:pPr>
            <a:r>
              <a:rPr lang="en-US" sz="1150" b="1" dirty="0">
                <a:solidFill>
                  <a:srgbClr val="B9821A"/>
                </a:solidFill>
                <a:latin typeface="Calibri" pitchFamily="34" charset="0"/>
                <a:ea typeface="Calibri" pitchFamily="34" charset="-122"/>
                <a:cs typeface="Calibri" pitchFamily="34" charset="-120"/>
              </a:rPr>
              <a:t>28:00</a:t>
            </a:r>
            <a:endParaRPr lang="en-US" sz="1150" dirty="0"/>
          </a:p>
        </p:txBody>
      </p:sp>
      <p:sp>
        <p:nvSpPr>
          <p:cNvPr id="5" name="Text 3"/>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2800" b="1" dirty="0">
                <a:solidFill>
                  <a:srgbClr val="1C1916"/>
                </a:solidFill>
                <a:latin typeface="Cambria" pitchFamily="34" charset="0"/>
                <a:ea typeface="Cambria" pitchFamily="34" charset="-122"/>
                <a:cs typeface="Cambria" pitchFamily="34" charset="-120"/>
              </a:rPr>
              <a:t>Trois difficultés, trois leçons</a:t>
            </a:r>
            <a:endParaRPr lang="en-US" sz="2800" dirty="0"/>
          </a:p>
        </p:txBody>
      </p:sp>
      <p:sp>
        <p:nvSpPr>
          <p:cNvPr id="6" name="Text 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938B7D"/>
                </a:solidFill>
                <a:latin typeface="Calibri" pitchFamily="34" charset="0"/>
                <a:ea typeface="Calibri" pitchFamily="34" charset="-122"/>
                <a:cs typeface="Calibri" pitchFamily="34" charset="-120"/>
              </a:rPr>
              <a:t>29</a:t>
            </a:r>
            <a:endParaRPr lang="en-US" sz="1000" dirty="0"/>
          </a:p>
        </p:txBody>
      </p:sp>
      <p:sp>
        <p:nvSpPr>
          <p:cNvPr id="7" name="Shape 5"/>
          <p:cNvSpPr/>
          <p:nvPr/>
        </p:nvSpPr>
        <p:spPr>
          <a:xfrm>
            <a:off x="548640" y="1325880"/>
            <a:ext cx="2855288" cy="384048"/>
          </a:xfrm>
          <a:prstGeom prst="rect">
            <a:avLst/>
          </a:prstGeom>
          <a:solidFill>
            <a:srgbClr val="1C1916"/>
          </a:solidFill>
          <a:ln/>
        </p:spPr>
      </p:sp>
      <p:sp>
        <p:nvSpPr>
          <p:cNvPr id="8" name="Text 6"/>
          <p:cNvSpPr txBox="1"/>
          <p:nvPr/>
        </p:nvSpPr>
        <p:spPr>
          <a:xfrm>
            <a:off x="640080" y="1380744"/>
            <a:ext cx="2672408"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Difficulté</a:t>
            </a:r>
            <a:endParaRPr lang="en-US" sz="1050" dirty="0"/>
          </a:p>
        </p:txBody>
      </p:sp>
      <p:sp>
        <p:nvSpPr>
          <p:cNvPr id="9" name="Shape 7"/>
          <p:cNvSpPr/>
          <p:nvPr/>
        </p:nvSpPr>
        <p:spPr>
          <a:xfrm>
            <a:off x="3403928" y="1325880"/>
            <a:ext cx="8208952" cy="384048"/>
          </a:xfrm>
          <a:prstGeom prst="rect">
            <a:avLst/>
          </a:prstGeom>
          <a:solidFill>
            <a:srgbClr val="1C1916"/>
          </a:solidFill>
          <a:ln/>
        </p:spPr>
      </p:sp>
      <p:sp>
        <p:nvSpPr>
          <p:cNvPr id="10" name="Text 8"/>
          <p:cNvSpPr txBox="1"/>
          <p:nvPr/>
        </p:nvSpPr>
        <p:spPr>
          <a:xfrm>
            <a:off x="3495368" y="1380744"/>
            <a:ext cx="8026072"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Symptôme → cause → solution → leçon</a:t>
            </a:r>
            <a:endParaRPr lang="en-US" sz="1050" dirty="0"/>
          </a:p>
        </p:txBody>
      </p:sp>
      <p:sp>
        <p:nvSpPr>
          <p:cNvPr id="11" name="Shape 9"/>
          <p:cNvSpPr/>
          <p:nvPr/>
        </p:nvSpPr>
        <p:spPr>
          <a:xfrm>
            <a:off x="548640" y="1709928"/>
            <a:ext cx="2855288" cy="896112"/>
          </a:xfrm>
          <a:prstGeom prst="rect">
            <a:avLst/>
          </a:prstGeom>
          <a:solidFill>
            <a:srgbClr val="FFFFFF"/>
          </a:solidFill>
          <a:ln w="9525">
            <a:solidFill>
              <a:srgbClr val="DED6C6"/>
            </a:solidFill>
            <a:prstDash val="solid"/>
          </a:ln>
        </p:spPr>
      </p:sp>
      <p:sp>
        <p:nvSpPr>
          <p:cNvPr id="12" name="Text 10"/>
          <p:cNvSpPr txBox="1"/>
          <p:nvPr/>
        </p:nvSpPr>
        <p:spPr>
          <a:xfrm>
            <a:off x="640080" y="1755648"/>
            <a:ext cx="2672408" cy="804672"/>
          </a:xfrm>
          <a:prstGeom prst="rect">
            <a:avLst/>
          </a:prstGeom>
          <a:noFill/>
          <a:ln/>
        </p:spPr>
        <p:txBody>
          <a:bodyPr wrap="square" lIns="0" tIns="0" rIns="0" bIns="0" rtlCol="0" anchor="t"/>
          <a:lstStyle/>
          <a:p>
            <a:pPr indent="0" marL="0">
              <a:buNone/>
            </a:pPr>
            <a:r>
              <a:rPr lang="en-US" sz="1030" b="1" dirty="0">
                <a:solidFill>
                  <a:srgbClr val="1C1916"/>
                </a:solidFill>
                <a:latin typeface="Calibri" pitchFamily="34" charset="0"/>
                <a:ea typeface="Calibri" pitchFamily="34" charset="-122"/>
                <a:cs typeface="Calibri" pitchFamily="34" charset="-120"/>
              </a:rPr>
              <a:t>La portabilité des URLs</a:t>
            </a:r>
            <a:endParaRPr lang="en-US" sz="1030" dirty="0"/>
          </a:p>
        </p:txBody>
      </p:sp>
      <p:sp>
        <p:nvSpPr>
          <p:cNvPr id="13" name="Shape 11"/>
          <p:cNvSpPr/>
          <p:nvPr/>
        </p:nvSpPr>
        <p:spPr>
          <a:xfrm>
            <a:off x="3403928" y="1709928"/>
            <a:ext cx="8208952" cy="896112"/>
          </a:xfrm>
          <a:prstGeom prst="rect">
            <a:avLst/>
          </a:prstGeom>
          <a:solidFill>
            <a:srgbClr val="FFFFFF"/>
          </a:solidFill>
          <a:ln w="9525">
            <a:solidFill>
              <a:srgbClr val="DED6C6"/>
            </a:solidFill>
            <a:prstDash val="solid"/>
          </a:ln>
        </p:spPr>
      </p:sp>
      <p:sp>
        <p:nvSpPr>
          <p:cNvPr id="14" name="Text 12"/>
          <p:cNvSpPr txBox="1"/>
          <p:nvPr/>
        </p:nvSpPr>
        <p:spPr>
          <a:xfrm>
            <a:off x="3495368" y="1755648"/>
            <a:ext cx="8026072" cy="804672"/>
          </a:xfrm>
          <a:prstGeom prst="rect">
            <a:avLst/>
          </a:prstGeom>
          <a:noFill/>
          <a:ln/>
        </p:spPr>
        <p:txBody>
          <a:bodyPr wrap="square" lIns="0" tIns="0" rIns="0" bIns="0" rtlCol="0" anchor="t"/>
          <a:lstStyle/>
          <a:p>
            <a:pPr indent="0" marL="0">
              <a:buNone/>
            </a:pPr>
            <a:r>
              <a:rPr lang="en-US" sz="1030" dirty="0">
                <a:solidFill>
                  <a:srgbClr val="333333"/>
                </a:solidFill>
                <a:latin typeface="Calibri" pitchFamily="34" charset="0"/>
                <a:ea typeface="Calibri" pitchFamily="34" charset="-122"/>
                <a:cs typeface="Calibri" pitchFamily="34" charset="-120"/>
              </a:rPr>
              <a:t>Ça cassait entre local et prod à cause d'un préfixe. Solution : fonction baseUrl() unique. Leçon : un problème à 200 endroits se corrige en un point de centralisation.</a:t>
            </a:r>
            <a:endParaRPr lang="en-US" sz="1030" dirty="0"/>
          </a:p>
        </p:txBody>
      </p:sp>
      <p:sp>
        <p:nvSpPr>
          <p:cNvPr id="15" name="Shape 13"/>
          <p:cNvSpPr/>
          <p:nvPr/>
        </p:nvSpPr>
        <p:spPr>
          <a:xfrm>
            <a:off x="548640" y="2606040"/>
            <a:ext cx="2855288" cy="896112"/>
          </a:xfrm>
          <a:prstGeom prst="rect">
            <a:avLst/>
          </a:prstGeom>
          <a:solidFill>
            <a:srgbClr val="F7F3EA"/>
          </a:solidFill>
          <a:ln w="9525">
            <a:solidFill>
              <a:srgbClr val="DED6C6"/>
            </a:solidFill>
            <a:prstDash val="solid"/>
          </a:ln>
        </p:spPr>
      </p:sp>
      <p:sp>
        <p:nvSpPr>
          <p:cNvPr id="16" name="Text 14"/>
          <p:cNvSpPr txBox="1"/>
          <p:nvPr/>
        </p:nvSpPr>
        <p:spPr>
          <a:xfrm>
            <a:off x="640080" y="2651760"/>
            <a:ext cx="2672408" cy="804672"/>
          </a:xfrm>
          <a:prstGeom prst="rect">
            <a:avLst/>
          </a:prstGeom>
          <a:noFill/>
          <a:ln/>
        </p:spPr>
        <p:txBody>
          <a:bodyPr wrap="square" lIns="0" tIns="0" rIns="0" bIns="0" rtlCol="0" anchor="t"/>
          <a:lstStyle/>
          <a:p>
            <a:pPr indent="0" marL="0">
              <a:buNone/>
            </a:pPr>
            <a:r>
              <a:rPr lang="en-US" sz="1030" b="1" dirty="0">
                <a:solidFill>
                  <a:srgbClr val="1C1916"/>
                </a:solidFill>
                <a:latin typeface="Calibri" pitchFamily="34" charset="0"/>
                <a:ea typeface="Calibri" pitchFamily="34" charset="-122"/>
                <a:cs typeface="Calibri" pitchFamily="34" charset="-120"/>
              </a:rPr>
              <a:t>CSRF sans framework</a:t>
            </a:r>
            <a:endParaRPr lang="en-US" sz="1030" dirty="0"/>
          </a:p>
        </p:txBody>
      </p:sp>
      <p:sp>
        <p:nvSpPr>
          <p:cNvPr id="17" name="Shape 15"/>
          <p:cNvSpPr/>
          <p:nvPr/>
        </p:nvSpPr>
        <p:spPr>
          <a:xfrm>
            <a:off x="3403928" y="2606040"/>
            <a:ext cx="8208952" cy="896112"/>
          </a:xfrm>
          <a:prstGeom prst="rect">
            <a:avLst/>
          </a:prstGeom>
          <a:solidFill>
            <a:srgbClr val="F7F3EA"/>
          </a:solidFill>
          <a:ln w="9525">
            <a:solidFill>
              <a:srgbClr val="DED6C6"/>
            </a:solidFill>
            <a:prstDash val="solid"/>
          </a:ln>
        </p:spPr>
      </p:sp>
      <p:sp>
        <p:nvSpPr>
          <p:cNvPr id="18" name="Text 16"/>
          <p:cNvSpPr txBox="1"/>
          <p:nvPr/>
        </p:nvSpPr>
        <p:spPr>
          <a:xfrm>
            <a:off x="3495368" y="2651760"/>
            <a:ext cx="8026072" cy="804672"/>
          </a:xfrm>
          <a:prstGeom prst="rect">
            <a:avLst/>
          </a:prstGeom>
          <a:noFill/>
          <a:ln/>
        </p:spPr>
        <p:txBody>
          <a:bodyPr wrap="square" lIns="0" tIns="0" rIns="0" bIns="0" rtlCol="0" anchor="t"/>
          <a:lstStyle/>
          <a:p>
            <a:pPr indent="0" marL="0">
              <a:buNone/>
            </a:pPr>
            <a:r>
              <a:rPr lang="en-US" sz="1030" dirty="0">
                <a:solidFill>
                  <a:srgbClr val="333333"/>
                </a:solidFill>
                <a:latin typeface="Calibri" pitchFamily="34" charset="0"/>
                <a:ea typeface="Calibri" pitchFamily="34" charset="-122"/>
                <a:cs typeface="Calibri" pitchFamily="34" charset="-120"/>
              </a:rPr>
              <a:t>Le risque était humain, l'oubli d'un jeton. Solution : une ligne de code au lieu de dix. Leçon : la meilleure mesure de sécurité est celle qu'on ne peut pas oublier d'appliquer.</a:t>
            </a:r>
            <a:endParaRPr lang="en-US" sz="1030" dirty="0"/>
          </a:p>
        </p:txBody>
      </p:sp>
      <p:sp>
        <p:nvSpPr>
          <p:cNvPr id="19" name="Shape 17"/>
          <p:cNvSpPr/>
          <p:nvPr/>
        </p:nvSpPr>
        <p:spPr>
          <a:xfrm>
            <a:off x="548640" y="3502152"/>
            <a:ext cx="2855288" cy="896112"/>
          </a:xfrm>
          <a:prstGeom prst="rect">
            <a:avLst/>
          </a:prstGeom>
          <a:solidFill>
            <a:srgbClr val="FFFFFF"/>
          </a:solidFill>
          <a:ln w="9525">
            <a:solidFill>
              <a:srgbClr val="DED6C6"/>
            </a:solidFill>
            <a:prstDash val="solid"/>
          </a:ln>
        </p:spPr>
      </p:sp>
      <p:sp>
        <p:nvSpPr>
          <p:cNvPr id="20" name="Text 18"/>
          <p:cNvSpPr txBox="1"/>
          <p:nvPr/>
        </p:nvSpPr>
        <p:spPr>
          <a:xfrm>
            <a:off x="640080" y="3547872"/>
            <a:ext cx="2672408" cy="804672"/>
          </a:xfrm>
          <a:prstGeom prst="rect">
            <a:avLst/>
          </a:prstGeom>
          <a:noFill/>
          <a:ln/>
        </p:spPr>
        <p:txBody>
          <a:bodyPr wrap="square" lIns="0" tIns="0" rIns="0" bIns="0" rtlCol="0" anchor="t"/>
          <a:lstStyle/>
          <a:p>
            <a:pPr indent="0" marL="0">
              <a:buNone/>
            </a:pPr>
            <a:r>
              <a:rPr lang="en-US" sz="1030" b="1" dirty="0">
                <a:solidFill>
                  <a:srgbClr val="1C1916"/>
                </a:solidFill>
                <a:latin typeface="Calibri" pitchFamily="34" charset="0"/>
                <a:ea typeface="Calibri" pitchFamily="34" charset="-122"/>
                <a:cs typeface="Calibri" pitchFamily="34" charset="-120"/>
              </a:rPr>
              <a:t>La performance d'Explore (N+1)</a:t>
            </a:r>
            <a:endParaRPr lang="en-US" sz="1030" dirty="0"/>
          </a:p>
        </p:txBody>
      </p:sp>
      <p:sp>
        <p:nvSpPr>
          <p:cNvPr id="21" name="Shape 19"/>
          <p:cNvSpPr/>
          <p:nvPr/>
        </p:nvSpPr>
        <p:spPr>
          <a:xfrm>
            <a:off x="3403928" y="3502152"/>
            <a:ext cx="8208952" cy="896112"/>
          </a:xfrm>
          <a:prstGeom prst="rect">
            <a:avLst/>
          </a:prstGeom>
          <a:solidFill>
            <a:srgbClr val="FFFFFF"/>
          </a:solidFill>
          <a:ln w="9525">
            <a:solidFill>
              <a:srgbClr val="DED6C6"/>
            </a:solidFill>
            <a:prstDash val="solid"/>
          </a:ln>
        </p:spPr>
      </p:sp>
      <p:sp>
        <p:nvSpPr>
          <p:cNvPr id="22" name="Text 20"/>
          <p:cNvSpPr txBox="1"/>
          <p:nvPr/>
        </p:nvSpPr>
        <p:spPr>
          <a:xfrm>
            <a:off x="3495368" y="3547872"/>
            <a:ext cx="8026072" cy="804672"/>
          </a:xfrm>
          <a:prstGeom prst="rect">
            <a:avLst/>
          </a:prstGeom>
          <a:noFill/>
          <a:ln/>
        </p:spPr>
        <p:txBody>
          <a:bodyPr wrap="square" lIns="0" tIns="0" rIns="0" bIns="0" rtlCol="0" anchor="t"/>
          <a:lstStyle/>
          <a:p>
            <a:pPr indent="0" marL="0">
              <a:buNone/>
            </a:pPr>
            <a:r>
              <a:rPr lang="en-US" sz="1030" dirty="0">
                <a:solidFill>
                  <a:srgbClr val="333333"/>
                </a:solidFill>
                <a:latin typeface="Calibri" pitchFamily="34" charset="0"/>
                <a:ea typeface="Calibri" pitchFamily="34" charset="-122"/>
                <a:cs typeface="Calibri" pitchFamily="34" charset="-120"/>
              </a:rPr>
              <a:t>Une requête par événement pour la note et les inscrits — 15 requêtes pour une page. Solution : sous-requêtes corrélées → 1 seule requête. Leçon : mesurer avant/après pour objectiver le gain.</a:t>
            </a:r>
            <a:endParaRPr lang="en-US" sz="103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601200" cy="256032"/>
          </a:xfrm>
          <a:prstGeom prst="rect">
            <a:avLst/>
          </a:prstGeom>
          <a:noFill/>
          <a:ln/>
        </p:spPr>
        <p:txBody>
          <a:bodyPr wrap="square" lIns="0" tIns="0" rIns="0" bIns="0" rtlCol="0" anchor="ctr"/>
          <a:lstStyle/>
          <a:p>
            <a:pPr indent="0" marL="0">
              <a:buNone/>
            </a:pPr>
            <a:r>
              <a:rPr lang="en-US" sz="1150" b="1" spc="300" kern="0" dirty="0">
                <a:solidFill>
                  <a:srgbClr val="E0492B"/>
                </a:solidFill>
                <a:latin typeface="Calibri" pitchFamily="34" charset="0"/>
                <a:ea typeface="Calibri" pitchFamily="34" charset="-122"/>
                <a:cs typeface="Calibri" pitchFamily="34" charset="-120"/>
              </a:rPr>
              <a:t>PARTIE 7 — BILAN</a:t>
            </a:r>
            <a:endParaRPr lang="en-US" sz="1150" dirty="0"/>
          </a:p>
        </p:txBody>
      </p:sp>
      <p:sp>
        <p:nvSpPr>
          <p:cNvPr id="3" name="Shape 1"/>
          <p:cNvSpPr/>
          <p:nvPr/>
        </p:nvSpPr>
        <p:spPr>
          <a:xfrm>
            <a:off x="10241280" y="292608"/>
            <a:ext cx="1371600" cy="365760"/>
          </a:xfrm>
          <a:prstGeom prst="roundRect">
            <a:avLst>
              <a:gd name="adj" fmla="val 50000"/>
            </a:avLst>
          </a:prstGeom>
          <a:solidFill>
            <a:srgbClr val="1C1916"/>
          </a:solidFill>
          <a:ln w="12700">
            <a:solidFill>
              <a:srgbClr val="1C1916"/>
            </a:solidFill>
            <a:prstDash val="solid"/>
          </a:ln>
        </p:spPr>
      </p:sp>
      <p:sp>
        <p:nvSpPr>
          <p:cNvPr id="4" name="Text 2"/>
          <p:cNvSpPr txBox="1"/>
          <p:nvPr/>
        </p:nvSpPr>
        <p:spPr>
          <a:xfrm>
            <a:off x="10241280" y="292608"/>
            <a:ext cx="1371600" cy="365760"/>
          </a:xfrm>
          <a:prstGeom prst="rect">
            <a:avLst/>
          </a:prstGeom>
          <a:noFill/>
          <a:ln/>
        </p:spPr>
        <p:txBody>
          <a:bodyPr wrap="square" lIns="0" tIns="0" rIns="0" bIns="0" rtlCol="0" anchor="ctr"/>
          <a:lstStyle/>
          <a:p>
            <a:pPr algn="ctr" indent="0" marL="0">
              <a:buNone/>
            </a:pPr>
            <a:r>
              <a:rPr lang="en-US" sz="1150" b="1" dirty="0">
                <a:solidFill>
                  <a:srgbClr val="B9821A"/>
                </a:solidFill>
                <a:latin typeface="Calibri" pitchFamily="34" charset="0"/>
                <a:ea typeface="Calibri" pitchFamily="34" charset="-122"/>
                <a:cs typeface="Calibri" pitchFamily="34" charset="-120"/>
              </a:rPr>
              <a:t>29:00</a:t>
            </a:r>
            <a:endParaRPr lang="en-US" sz="1150" dirty="0"/>
          </a:p>
        </p:txBody>
      </p:sp>
      <p:sp>
        <p:nvSpPr>
          <p:cNvPr id="5" name="Text 3"/>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2800" b="1" dirty="0">
                <a:solidFill>
                  <a:srgbClr val="1C1916"/>
                </a:solidFill>
                <a:latin typeface="Cambria" pitchFamily="34" charset="0"/>
                <a:ea typeface="Cambria" pitchFamily="34" charset="-122"/>
                <a:cs typeface="Cambria" pitchFamily="34" charset="-120"/>
              </a:rPr>
              <a:t>Quatre choix techniques assumés</a:t>
            </a:r>
            <a:endParaRPr lang="en-US" sz="2800" dirty="0"/>
          </a:p>
        </p:txBody>
      </p:sp>
      <p:sp>
        <p:nvSpPr>
          <p:cNvPr id="6" name="Text 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938B7D"/>
                </a:solidFill>
                <a:latin typeface="Calibri" pitchFamily="34" charset="0"/>
                <a:ea typeface="Calibri" pitchFamily="34" charset="-122"/>
                <a:cs typeface="Calibri" pitchFamily="34" charset="-120"/>
              </a:rPr>
              <a:t>30</a:t>
            </a:r>
            <a:endParaRPr lang="en-US" sz="1000" dirty="0"/>
          </a:p>
        </p:txBody>
      </p:sp>
      <p:sp>
        <p:nvSpPr>
          <p:cNvPr id="7" name="Shape 5"/>
          <p:cNvSpPr/>
          <p:nvPr/>
        </p:nvSpPr>
        <p:spPr>
          <a:xfrm>
            <a:off x="548640" y="1325880"/>
            <a:ext cx="3212199" cy="384048"/>
          </a:xfrm>
          <a:prstGeom prst="rect">
            <a:avLst/>
          </a:prstGeom>
          <a:solidFill>
            <a:srgbClr val="1C1916"/>
          </a:solidFill>
          <a:ln/>
        </p:spPr>
      </p:sp>
      <p:sp>
        <p:nvSpPr>
          <p:cNvPr id="8" name="Text 6"/>
          <p:cNvSpPr txBox="1"/>
          <p:nvPr/>
        </p:nvSpPr>
        <p:spPr>
          <a:xfrm>
            <a:off x="640080" y="1380744"/>
            <a:ext cx="3029319"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Choix</a:t>
            </a:r>
            <a:endParaRPr lang="en-US" sz="1050" dirty="0"/>
          </a:p>
        </p:txBody>
      </p:sp>
      <p:sp>
        <p:nvSpPr>
          <p:cNvPr id="9" name="Shape 7"/>
          <p:cNvSpPr/>
          <p:nvPr/>
        </p:nvSpPr>
        <p:spPr>
          <a:xfrm>
            <a:off x="3760839" y="1325880"/>
            <a:ext cx="7852041" cy="384048"/>
          </a:xfrm>
          <a:prstGeom prst="rect">
            <a:avLst/>
          </a:prstGeom>
          <a:solidFill>
            <a:srgbClr val="1C1916"/>
          </a:solidFill>
          <a:ln/>
        </p:spPr>
      </p:sp>
      <p:sp>
        <p:nvSpPr>
          <p:cNvPr id="10" name="Text 8"/>
          <p:cNvSpPr txBox="1"/>
          <p:nvPr/>
        </p:nvSpPr>
        <p:spPr>
          <a:xfrm>
            <a:off x="3852279" y="1380744"/>
            <a:ext cx="7669161"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J'ai choisi X plutôt que Y, parce que Z — et sinon, j'aurais choisi l'inverse »</a:t>
            </a:r>
            <a:endParaRPr lang="en-US" sz="1050" dirty="0"/>
          </a:p>
        </p:txBody>
      </p:sp>
      <p:sp>
        <p:nvSpPr>
          <p:cNvPr id="11" name="Shape 9"/>
          <p:cNvSpPr/>
          <p:nvPr/>
        </p:nvSpPr>
        <p:spPr>
          <a:xfrm>
            <a:off x="548640" y="1709928"/>
            <a:ext cx="3212199" cy="896112"/>
          </a:xfrm>
          <a:prstGeom prst="rect">
            <a:avLst/>
          </a:prstGeom>
          <a:solidFill>
            <a:srgbClr val="FFFFFF"/>
          </a:solidFill>
          <a:ln w="9525">
            <a:solidFill>
              <a:srgbClr val="DED6C6"/>
            </a:solidFill>
            <a:prstDash val="solid"/>
          </a:ln>
        </p:spPr>
      </p:sp>
      <p:sp>
        <p:nvSpPr>
          <p:cNvPr id="12" name="Text 10"/>
          <p:cNvSpPr txBox="1"/>
          <p:nvPr/>
        </p:nvSpPr>
        <p:spPr>
          <a:xfrm>
            <a:off x="640080" y="1755648"/>
            <a:ext cx="3029319" cy="804672"/>
          </a:xfrm>
          <a:prstGeom prst="rect">
            <a:avLst/>
          </a:prstGeom>
          <a:noFill/>
          <a:ln/>
        </p:spPr>
        <p:txBody>
          <a:bodyPr wrap="square" lIns="0" tIns="0" rIns="0" bIns="0" rtlCol="0" anchor="t"/>
          <a:lstStyle/>
          <a:p>
            <a:pPr indent="0" marL="0">
              <a:buNone/>
            </a:pPr>
            <a:r>
              <a:rPr lang="en-US" sz="1000" b="1" dirty="0">
                <a:solidFill>
                  <a:srgbClr val="1C1916"/>
                </a:solidFill>
                <a:latin typeface="Calibri" pitchFamily="34" charset="0"/>
                <a:ea typeface="Calibri" pitchFamily="34" charset="-122"/>
                <a:cs typeface="Calibri" pitchFamily="34" charset="-120"/>
              </a:rPr>
              <a:t>PHP vanilla plutôt que Symfony</a:t>
            </a:r>
            <a:endParaRPr lang="en-US" sz="1000" dirty="0"/>
          </a:p>
        </p:txBody>
      </p:sp>
      <p:sp>
        <p:nvSpPr>
          <p:cNvPr id="13" name="Shape 11"/>
          <p:cNvSpPr/>
          <p:nvPr/>
        </p:nvSpPr>
        <p:spPr>
          <a:xfrm>
            <a:off x="3760839" y="1709928"/>
            <a:ext cx="7852041" cy="896112"/>
          </a:xfrm>
          <a:prstGeom prst="rect">
            <a:avLst/>
          </a:prstGeom>
          <a:solidFill>
            <a:srgbClr val="FFFFFF"/>
          </a:solidFill>
          <a:ln w="9525">
            <a:solidFill>
              <a:srgbClr val="DED6C6"/>
            </a:solidFill>
            <a:prstDash val="solid"/>
          </a:ln>
        </p:spPr>
      </p:sp>
      <p:sp>
        <p:nvSpPr>
          <p:cNvPr id="14" name="Text 12"/>
          <p:cNvSpPr txBox="1"/>
          <p:nvPr/>
        </p:nvSpPr>
        <p:spPr>
          <a:xfrm>
            <a:off x="3852279" y="1755648"/>
            <a:ext cx="7669161" cy="804672"/>
          </a:xfrm>
          <a:prstGeom prst="rect">
            <a:avLst/>
          </a:prstGeom>
          <a:noFill/>
          <a:ln/>
        </p:spPr>
        <p:txBody>
          <a:bodyPr wrap="square" lIns="0" tIns="0" rIns="0" bIns="0" rtlCol="0" anchor="t"/>
          <a:lstStyle/>
          <a:p>
            <a:pPr indent="0" marL="0">
              <a:buNone/>
            </a:pPr>
            <a:r>
              <a:rPr lang="en-US" sz="1000" dirty="0">
                <a:solidFill>
                  <a:srgbClr val="333333"/>
                </a:solidFill>
                <a:latin typeface="Calibri" pitchFamily="34" charset="0"/>
                <a:ea typeface="Calibri" pitchFamily="34" charset="-122"/>
                <a:cs typeface="Calibri" pitchFamily="34" charset="-120"/>
              </a:rPr>
              <a:t>Projet solo, sécurité explicite et justifiable. Sur un projet d'équipe, je partirais sur Symfony (ORM, routage, migrations).</a:t>
            </a:r>
            <a:endParaRPr lang="en-US" sz="1000" dirty="0"/>
          </a:p>
        </p:txBody>
      </p:sp>
      <p:sp>
        <p:nvSpPr>
          <p:cNvPr id="15" name="Shape 13"/>
          <p:cNvSpPr/>
          <p:nvPr/>
        </p:nvSpPr>
        <p:spPr>
          <a:xfrm>
            <a:off x="548640" y="2606040"/>
            <a:ext cx="3212199" cy="896112"/>
          </a:xfrm>
          <a:prstGeom prst="rect">
            <a:avLst/>
          </a:prstGeom>
          <a:solidFill>
            <a:srgbClr val="F7F3EA"/>
          </a:solidFill>
          <a:ln w="9525">
            <a:solidFill>
              <a:srgbClr val="DED6C6"/>
            </a:solidFill>
            <a:prstDash val="solid"/>
          </a:ln>
        </p:spPr>
      </p:sp>
      <p:sp>
        <p:nvSpPr>
          <p:cNvPr id="16" name="Text 14"/>
          <p:cNvSpPr txBox="1"/>
          <p:nvPr/>
        </p:nvSpPr>
        <p:spPr>
          <a:xfrm>
            <a:off x="640080" y="2651760"/>
            <a:ext cx="3029319" cy="804672"/>
          </a:xfrm>
          <a:prstGeom prst="rect">
            <a:avLst/>
          </a:prstGeom>
          <a:noFill/>
          <a:ln/>
        </p:spPr>
        <p:txBody>
          <a:bodyPr wrap="square" lIns="0" tIns="0" rIns="0" bIns="0" rtlCol="0" anchor="t"/>
          <a:lstStyle/>
          <a:p>
            <a:pPr indent="0" marL="0">
              <a:buNone/>
            </a:pPr>
            <a:r>
              <a:rPr lang="en-US" sz="1000" b="1" dirty="0">
                <a:solidFill>
                  <a:srgbClr val="1C1916"/>
                </a:solidFill>
                <a:latin typeface="Calibri" pitchFamily="34" charset="0"/>
                <a:ea typeface="Calibri" pitchFamily="34" charset="-122"/>
                <a:cs typeface="Calibri" pitchFamily="34" charset="-120"/>
              </a:rPr>
              <a:t>Sessions PHP plutôt que JWT</a:t>
            </a:r>
            <a:endParaRPr lang="en-US" sz="1000" dirty="0"/>
          </a:p>
        </p:txBody>
      </p:sp>
      <p:sp>
        <p:nvSpPr>
          <p:cNvPr id="17" name="Shape 15"/>
          <p:cNvSpPr/>
          <p:nvPr/>
        </p:nvSpPr>
        <p:spPr>
          <a:xfrm>
            <a:off x="3760839" y="2606040"/>
            <a:ext cx="7852041" cy="896112"/>
          </a:xfrm>
          <a:prstGeom prst="rect">
            <a:avLst/>
          </a:prstGeom>
          <a:solidFill>
            <a:srgbClr val="F7F3EA"/>
          </a:solidFill>
          <a:ln w="9525">
            <a:solidFill>
              <a:srgbClr val="DED6C6"/>
            </a:solidFill>
            <a:prstDash val="solid"/>
          </a:ln>
        </p:spPr>
      </p:sp>
      <p:sp>
        <p:nvSpPr>
          <p:cNvPr id="18" name="Text 16"/>
          <p:cNvSpPr txBox="1"/>
          <p:nvPr/>
        </p:nvSpPr>
        <p:spPr>
          <a:xfrm>
            <a:off x="3852279" y="2651760"/>
            <a:ext cx="7669161" cy="804672"/>
          </a:xfrm>
          <a:prstGeom prst="rect">
            <a:avLst/>
          </a:prstGeom>
          <a:noFill/>
          <a:ln/>
        </p:spPr>
        <p:txBody>
          <a:bodyPr wrap="square" lIns="0" tIns="0" rIns="0" bIns="0" rtlCol="0" anchor="t"/>
          <a:lstStyle/>
          <a:p>
            <a:pPr indent="0" marL="0">
              <a:buNone/>
            </a:pPr>
            <a:r>
              <a:rPr lang="en-US" sz="1000" dirty="0">
                <a:solidFill>
                  <a:srgbClr val="333333"/>
                </a:solidFill>
                <a:latin typeface="Calibri" pitchFamily="34" charset="0"/>
                <a:ea typeface="Calibri" pitchFamily="34" charset="-122"/>
                <a:cs typeface="Calibri" pitchFamily="34" charset="-120"/>
              </a:rPr>
              <a:t>Application à rendu serveur, pas une API publique. Pour une appli mobile native, je passerais à JWT.</a:t>
            </a:r>
            <a:endParaRPr lang="en-US" sz="1000" dirty="0"/>
          </a:p>
        </p:txBody>
      </p:sp>
      <p:sp>
        <p:nvSpPr>
          <p:cNvPr id="19" name="Shape 17"/>
          <p:cNvSpPr/>
          <p:nvPr/>
        </p:nvSpPr>
        <p:spPr>
          <a:xfrm>
            <a:off x="548640" y="3502152"/>
            <a:ext cx="3212199" cy="896112"/>
          </a:xfrm>
          <a:prstGeom prst="rect">
            <a:avLst/>
          </a:prstGeom>
          <a:solidFill>
            <a:srgbClr val="FFFFFF"/>
          </a:solidFill>
          <a:ln w="9525">
            <a:solidFill>
              <a:srgbClr val="DED6C6"/>
            </a:solidFill>
            <a:prstDash val="solid"/>
          </a:ln>
        </p:spPr>
      </p:sp>
      <p:sp>
        <p:nvSpPr>
          <p:cNvPr id="20" name="Text 18"/>
          <p:cNvSpPr txBox="1"/>
          <p:nvPr/>
        </p:nvSpPr>
        <p:spPr>
          <a:xfrm>
            <a:off x="640080" y="3547872"/>
            <a:ext cx="3029319" cy="804672"/>
          </a:xfrm>
          <a:prstGeom prst="rect">
            <a:avLst/>
          </a:prstGeom>
          <a:noFill/>
          <a:ln/>
        </p:spPr>
        <p:txBody>
          <a:bodyPr wrap="square" lIns="0" tIns="0" rIns="0" bIns="0" rtlCol="0" anchor="t"/>
          <a:lstStyle/>
          <a:p>
            <a:pPr indent="0" marL="0">
              <a:buNone/>
            </a:pPr>
            <a:r>
              <a:rPr lang="en-US" sz="1000" b="1" dirty="0">
                <a:solidFill>
                  <a:srgbClr val="1C1916"/>
                </a:solidFill>
                <a:latin typeface="Calibri" pitchFamily="34" charset="0"/>
                <a:ea typeface="Calibri" pitchFamily="34" charset="-122"/>
                <a:cs typeface="Calibri" pitchFamily="34" charset="-120"/>
              </a:rPr>
              <a:t>JavaScript vanilla plutôt que React</a:t>
            </a:r>
            <a:endParaRPr lang="en-US" sz="1000" dirty="0"/>
          </a:p>
        </p:txBody>
      </p:sp>
      <p:sp>
        <p:nvSpPr>
          <p:cNvPr id="21" name="Shape 19"/>
          <p:cNvSpPr/>
          <p:nvPr/>
        </p:nvSpPr>
        <p:spPr>
          <a:xfrm>
            <a:off x="3760839" y="3502152"/>
            <a:ext cx="7852041" cy="896112"/>
          </a:xfrm>
          <a:prstGeom prst="rect">
            <a:avLst/>
          </a:prstGeom>
          <a:solidFill>
            <a:srgbClr val="FFFFFF"/>
          </a:solidFill>
          <a:ln w="9525">
            <a:solidFill>
              <a:srgbClr val="DED6C6"/>
            </a:solidFill>
            <a:prstDash val="solid"/>
          </a:ln>
        </p:spPr>
      </p:sp>
      <p:sp>
        <p:nvSpPr>
          <p:cNvPr id="22" name="Text 20"/>
          <p:cNvSpPr txBox="1"/>
          <p:nvPr/>
        </p:nvSpPr>
        <p:spPr>
          <a:xfrm>
            <a:off x="3852279" y="3547872"/>
            <a:ext cx="7669161" cy="804672"/>
          </a:xfrm>
          <a:prstGeom prst="rect">
            <a:avLst/>
          </a:prstGeom>
          <a:noFill/>
          <a:ln/>
        </p:spPr>
        <p:txBody>
          <a:bodyPr wrap="square" lIns="0" tIns="0" rIns="0" bIns="0" rtlCol="0" anchor="t"/>
          <a:lstStyle/>
          <a:p>
            <a:pPr indent="0" marL="0">
              <a:buNone/>
            </a:pPr>
            <a:r>
              <a:rPr lang="en-US" sz="1000" dirty="0">
                <a:solidFill>
                  <a:srgbClr val="333333"/>
                </a:solidFill>
                <a:latin typeface="Calibri" pitchFamily="34" charset="0"/>
                <a:ea typeface="Calibri" pitchFamily="34" charset="-122"/>
                <a:cs typeface="Calibri" pitchFamily="34" charset="-120"/>
              </a:rPr>
              <a:t>Quelques appels API seulement. React aurait imposé un build et un bundle pour rien sur cible mobile.</a:t>
            </a:r>
            <a:endParaRPr lang="en-US" sz="1000" dirty="0"/>
          </a:p>
        </p:txBody>
      </p:sp>
      <p:sp>
        <p:nvSpPr>
          <p:cNvPr id="23" name="Shape 21"/>
          <p:cNvSpPr/>
          <p:nvPr/>
        </p:nvSpPr>
        <p:spPr>
          <a:xfrm>
            <a:off x="548640" y="4398264"/>
            <a:ext cx="3212199" cy="896112"/>
          </a:xfrm>
          <a:prstGeom prst="rect">
            <a:avLst/>
          </a:prstGeom>
          <a:solidFill>
            <a:srgbClr val="F7F3EA"/>
          </a:solidFill>
          <a:ln w="9525">
            <a:solidFill>
              <a:srgbClr val="DED6C6"/>
            </a:solidFill>
            <a:prstDash val="solid"/>
          </a:ln>
        </p:spPr>
      </p:sp>
      <p:sp>
        <p:nvSpPr>
          <p:cNvPr id="24" name="Text 22"/>
          <p:cNvSpPr txBox="1"/>
          <p:nvPr/>
        </p:nvSpPr>
        <p:spPr>
          <a:xfrm>
            <a:off x="640080" y="4443984"/>
            <a:ext cx="3029319" cy="804672"/>
          </a:xfrm>
          <a:prstGeom prst="rect">
            <a:avLst/>
          </a:prstGeom>
          <a:noFill/>
          <a:ln/>
        </p:spPr>
        <p:txBody>
          <a:bodyPr wrap="square" lIns="0" tIns="0" rIns="0" bIns="0" rtlCol="0" anchor="t"/>
          <a:lstStyle/>
          <a:p>
            <a:pPr indent="0" marL="0">
              <a:buNone/>
            </a:pPr>
            <a:r>
              <a:rPr lang="en-US" sz="1000" b="1" dirty="0">
                <a:solidFill>
                  <a:srgbClr val="1C1916"/>
                </a:solidFill>
                <a:latin typeface="Calibri" pitchFamily="34" charset="0"/>
                <a:ea typeface="Calibri" pitchFamily="34" charset="-122"/>
                <a:cs typeface="Calibri" pitchFamily="34" charset="-120"/>
              </a:rPr>
              <a:t>Railway plutôt qu'un VPS</a:t>
            </a:r>
            <a:endParaRPr lang="en-US" sz="1000" dirty="0"/>
          </a:p>
        </p:txBody>
      </p:sp>
      <p:sp>
        <p:nvSpPr>
          <p:cNvPr id="25" name="Shape 23"/>
          <p:cNvSpPr/>
          <p:nvPr/>
        </p:nvSpPr>
        <p:spPr>
          <a:xfrm>
            <a:off x="3760839" y="4398264"/>
            <a:ext cx="7852041" cy="896112"/>
          </a:xfrm>
          <a:prstGeom prst="rect">
            <a:avLst/>
          </a:prstGeom>
          <a:solidFill>
            <a:srgbClr val="F7F3EA"/>
          </a:solidFill>
          <a:ln w="9525">
            <a:solidFill>
              <a:srgbClr val="DED6C6"/>
            </a:solidFill>
            <a:prstDash val="solid"/>
          </a:ln>
        </p:spPr>
      </p:sp>
      <p:sp>
        <p:nvSpPr>
          <p:cNvPr id="26" name="Text 24"/>
          <p:cNvSpPr txBox="1"/>
          <p:nvPr/>
        </p:nvSpPr>
        <p:spPr>
          <a:xfrm>
            <a:off x="3852279" y="4443984"/>
            <a:ext cx="7669161" cy="804672"/>
          </a:xfrm>
          <a:prstGeom prst="rect">
            <a:avLst/>
          </a:prstGeom>
          <a:noFill/>
          <a:ln/>
        </p:spPr>
        <p:txBody>
          <a:bodyPr wrap="square" lIns="0" tIns="0" rIns="0" bIns="0" rtlCol="0" anchor="t"/>
          <a:lstStyle/>
          <a:p>
            <a:pPr indent="0" marL="0">
              <a:buNone/>
            </a:pPr>
            <a:r>
              <a:rPr lang="en-US" sz="1000" dirty="0">
                <a:solidFill>
                  <a:srgbClr val="333333"/>
                </a:solidFill>
                <a:latin typeface="Calibri" pitchFamily="34" charset="0"/>
                <a:ea typeface="Calibri" pitchFamily="34" charset="-122"/>
                <a:cs typeface="Calibri" pitchFamily="34" charset="-120"/>
              </a:rPr>
              <a:t>Déploiement continu et HTTPS sans administrer un serveur. Un VPS donnerait plus de contrôle, mais plus de charge de maintenance.</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C1916"/>
        </a:solidFill>
      </p:bgPr>
    </p:bg>
    <p:spTree>
      <p:nvGrpSpPr>
        <p:cNvPr id="1" name=""/>
        <p:cNvGrpSpPr/>
        <p:nvPr/>
      </p:nvGrpSpPr>
      <p:grpSpPr>
        <a:xfrm>
          <a:off x="0" y="0"/>
          <a:ext cx="0" cy="0"/>
          <a:chOff x="0" y="0"/>
          <a:chExt cx="0" cy="0"/>
        </a:xfrm>
      </p:grpSpPr>
      <p:sp>
        <p:nvSpPr>
          <p:cNvPr id="2" name="Shape 0"/>
          <p:cNvSpPr/>
          <p:nvPr/>
        </p:nvSpPr>
        <p:spPr>
          <a:xfrm>
            <a:off x="9144000" y="-1645920"/>
            <a:ext cx="5120640" cy="5120640"/>
          </a:xfrm>
          <a:prstGeom prst="ellipse">
            <a:avLst/>
          </a:prstGeom>
          <a:solidFill>
            <a:srgbClr val="E0492B">
              <a:alpha val="13000"/>
            </a:srgbClr>
          </a:solidFill>
          <a:ln/>
        </p:spPr>
      </p:sp>
      <p:sp>
        <p:nvSpPr>
          <p:cNvPr id="3" name="Text 1"/>
          <p:cNvSpPr txBox="1"/>
          <p:nvPr/>
        </p:nvSpPr>
        <p:spPr>
          <a:xfrm>
            <a:off x="548640" y="594360"/>
            <a:ext cx="11064240" cy="320040"/>
          </a:xfrm>
          <a:prstGeom prst="rect">
            <a:avLst/>
          </a:prstGeom>
          <a:noFill/>
          <a:ln/>
        </p:spPr>
        <p:txBody>
          <a:bodyPr wrap="square" lIns="0" tIns="0" rIns="0" bIns="0" rtlCol="0" anchor="ctr"/>
          <a:lstStyle/>
          <a:p>
            <a:pPr indent="0" marL="0">
              <a:buNone/>
            </a:pPr>
            <a:r>
              <a:rPr lang="en-US" sz="1300" b="1" spc="300" kern="0" dirty="0">
                <a:solidFill>
                  <a:srgbClr val="E0492B"/>
                </a:solidFill>
                <a:latin typeface="Calibri" pitchFamily="34" charset="0"/>
                <a:ea typeface="Calibri" pitchFamily="34" charset="-122"/>
                <a:cs typeface="Calibri" pitchFamily="34" charset="-120"/>
              </a:rPr>
              <a:t>CONCLUSION</a:t>
            </a:r>
            <a:endParaRPr lang="en-US" sz="1300" dirty="0"/>
          </a:p>
        </p:txBody>
      </p:sp>
      <p:sp>
        <p:nvSpPr>
          <p:cNvPr id="4" name="Text 2"/>
          <p:cNvSpPr txBox="1"/>
          <p:nvPr/>
        </p:nvSpPr>
        <p:spPr>
          <a:xfrm>
            <a:off x="548640" y="960120"/>
            <a:ext cx="11064240" cy="6858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Un besoin très simple,</a:t>
            </a:r>
            <a:endParaRPr lang="en-US" sz="3600" dirty="0"/>
          </a:p>
        </p:txBody>
      </p:sp>
      <p:sp>
        <p:nvSpPr>
          <p:cNvPr id="5" name="Text 3"/>
          <p:cNvSpPr txBox="1"/>
          <p:nvPr/>
        </p:nvSpPr>
        <p:spPr>
          <a:xfrm>
            <a:off x="548640" y="1572768"/>
            <a:ext cx="11064240" cy="731520"/>
          </a:xfrm>
          <a:prstGeom prst="rect">
            <a:avLst/>
          </a:prstGeom>
          <a:noFill/>
          <a:ln/>
        </p:spPr>
        <p:txBody>
          <a:bodyPr wrap="square" lIns="0" tIns="0" rIns="0" bIns="0" rtlCol="0" anchor="ctr"/>
          <a:lstStyle/>
          <a:p>
            <a:pPr indent="0" marL="0">
              <a:buNone/>
            </a:pPr>
            <a:r>
              <a:rPr lang="en-US" sz="3200" i="1" dirty="0">
                <a:solidFill>
                  <a:srgbClr val="E0492B"/>
                </a:solidFill>
                <a:latin typeface="Cambria" pitchFamily="34" charset="0"/>
                <a:ea typeface="Cambria" pitchFamily="34" charset="-122"/>
                <a:cs typeface="Cambria" pitchFamily="34" charset="-120"/>
              </a:rPr>
              <a:t>une plateforme complète.</a:t>
            </a:r>
            <a:endParaRPr lang="en-US" sz="3200" dirty="0"/>
          </a:p>
        </p:txBody>
      </p:sp>
      <p:sp>
        <p:nvSpPr>
          <p:cNvPr id="6" name="Text 4"/>
          <p:cNvSpPr txBox="1"/>
          <p:nvPr/>
        </p:nvSpPr>
        <p:spPr>
          <a:xfrm>
            <a:off x="548640" y="2514600"/>
            <a:ext cx="11064240" cy="292608"/>
          </a:xfrm>
          <a:prstGeom prst="rect">
            <a:avLst/>
          </a:prstGeom>
          <a:noFill/>
          <a:ln/>
        </p:spPr>
        <p:txBody>
          <a:bodyPr wrap="square" lIns="0" tIns="0" rIns="0" bIns="0" rtlCol="0" anchor="ctr"/>
          <a:lstStyle/>
          <a:p>
            <a:pPr indent="0" marL="0">
              <a:buNone/>
            </a:pPr>
            <a:r>
              <a:rPr lang="en-US" sz="1300" b="1" dirty="0">
                <a:solidFill>
                  <a:srgbClr val="B9821A"/>
                </a:solidFill>
                <a:latin typeface="Calibri" pitchFamily="34" charset="0"/>
                <a:ea typeface="Calibri" pitchFamily="34" charset="-122"/>
                <a:cs typeface="Calibri" pitchFamily="34" charset="-120"/>
              </a:rPr>
              <a:t>Perspectives (classées par valeur)</a:t>
            </a:r>
            <a:endParaRPr lang="en-US" sz="1300" dirty="0"/>
          </a:p>
        </p:txBody>
      </p:sp>
      <p:sp>
        <p:nvSpPr>
          <p:cNvPr id="7" name="Shape 5"/>
          <p:cNvSpPr/>
          <p:nvPr/>
        </p:nvSpPr>
        <p:spPr>
          <a:xfrm>
            <a:off x="548640" y="2889504"/>
            <a:ext cx="219456" cy="219456"/>
          </a:xfrm>
          <a:prstGeom prst="ellipse">
            <a:avLst/>
          </a:prstGeom>
          <a:solidFill>
            <a:srgbClr val="E0492B"/>
          </a:solidFill>
          <a:ln/>
        </p:spPr>
      </p:sp>
      <p:sp>
        <p:nvSpPr>
          <p:cNvPr id="8" name="Text 6"/>
          <p:cNvSpPr txBox="1"/>
          <p:nvPr/>
        </p:nvSpPr>
        <p:spPr>
          <a:xfrm>
            <a:off x="896112" y="2852928"/>
            <a:ext cx="5212080" cy="457200"/>
          </a:xfrm>
          <a:prstGeom prst="rect">
            <a:avLst/>
          </a:prstGeom>
          <a:noFill/>
          <a:ln/>
        </p:spPr>
        <p:txBody>
          <a:bodyPr wrap="square" lIns="0" tIns="0" rIns="0" bIns="0" rtlCol="0" anchor="ctr"/>
          <a:lstStyle/>
          <a:p>
            <a:pPr indent="0" marL="0">
              <a:buNone/>
            </a:pPr>
            <a:r>
              <a:rPr lang="en-US" sz="1150" dirty="0">
                <a:solidFill>
                  <a:srgbClr val="C9C1B2"/>
                </a:solidFill>
                <a:latin typeface="Calibri" pitchFamily="34" charset="0"/>
                <a:ea typeface="Calibri" pitchFamily="34" charset="-122"/>
                <a:cs typeface="Calibri" pitchFamily="34" charset="-120"/>
              </a:rPr>
              <a:t>Notifications Web Push — le maillon faible actuel : l'étudiant doit ouvrir l'app</a:t>
            </a:r>
            <a:endParaRPr lang="en-US" sz="1150" dirty="0"/>
          </a:p>
        </p:txBody>
      </p:sp>
      <p:sp>
        <p:nvSpPr>
          <p:cNvPr id="9" name="Shape 7"/>
          <p:cNvSpPr/>
          <p:nvPr/>
        </p:nvSpPr>
        <p:spPr>
          <a:xfrm>
            <a:off x="6217920" y="2889504"/>
            <a:ext cx="219456" cy="219456"/>
          </a:xfrm>
          <a:prstGeom prst="ellipse">
            <a:avLst/>
          </a:prstGeom>
          <a:solidFill>
            <a:srgbClr val="E0492B"/>
          </a:solidFill>
          <a:ln/>
        </p:spPr>
      </p:sp>
      <p:sp>
        <p:nvSpPr>
          <p:cNvPr id="10" name="Text 8"/>
          <p:cNvSpPr txBox="1"/>
          <p:nvPr/>
        </p:nvSpPr>
        <p:spPr>
          <a:xfrm>
            <a:off x="6565392" y="2852928"/>
            <a:ext cx="5212080" cy="457200"/>
          </a:xfrm>
          <a:prstGeom prst="rect">
            <a:avLst/>
          </a:prstGeom>
          <a:noFill/>
          <a:ln/>
        </p:spPr>
        <p:txBody>
          <a:bodyPr wrap="square" lIns="0" tIns="0" rIns="0" bIns="0" rtlCol="0" anchor="ctr"/>
          <a:lstStyle/>
          <a:p>
            <a:pPr indent="0" marL="0">
              <a:buNone/>
            </a:pPr>
            <a:r>
              <a:rPr lang="en-US" sz="1150" dirty="0">
                <a:solidFill>
                  <a:srgbClr val="C9C1B2"/>
                </a:solidFill>
                <a:latin typeface="Calibri" pitchFamily="34" charset="0"/>
                <a:ea typeface="Calibri" pitchFamily="34" charset="-122"/>
                <a:cs typeface="Calibri" pitchFamily="34" charset="-120"/>
              </a:rPr>
              <a:t>Carte interactive (Leaflet / OpenStreetMap) sur la page Explore</a:t>
            </a:r>
            <a:endParaRPr lang="en-US" sz="1150" dirty="0"/>
          </a:p>
        </p:txBody>
      </p:sp>
      <p:sp>
        <p:nvSpPr>
          <p:cNvPr id="11" name="Shape 9"/>
          <p:cNvSpPr/>
          <p:nvPr/>
        </p:nvSpPr>
        <p:spPr>
          <a:xfrm>
            <a:off x="548640" y="3456432"/>
            <a:ext cx="219456" cy="219456"/>
          </a:xfrm>
          <a:prstGeom prst="ellipse">
            <a:avLst/>
          </a:prstGeom>
          <a:solidFill>
            <a:srgbClr val="E0492B"/>
          </a:solidFill>
          <a:ln/>
        </p:spPr>
      </p:sp>
      <p:sp>
        <p:nvSpPr>
          <p:cNvPr id="12" name="Text 10"/>
          <p:cNvSpPr txBox="1"/>
          <p:nvPr/>
        </p:nvSpPr>
        <p:spPr>
          <a:xfrm>
            <a:off x="896112" y="3419856"/>
            <a:ext cx="5212080" cy="457200"/>
          </a:xfrm>
          <a:prstGeom prst="rect">
            <a:avLst/>
          </a:prstGeom>
          <a:noFill/>
          <a:ln/>
        </p:spPr>
        <p:txBody>
          <a:bodyPr wrap="square" lIns="0" tIns="0" rIns="0" bIns="0" rtlCol="0" anchor="ctr"/>
          <a:lstStyle/>
          <a:p>
            <a:pPr indent="0" marL="0">
              <a:buNone/>
            </a:pPr>
            <a:r>
              <a:rPr lang="en-US" sz="1150" dirty="0">
                <a:solidFill>
                  <a:srgbClr val="C9C1B2"/>
                </a:solidFill>
                <a:latin typeface="Calibri" pitchFamily="34" charset="0"/>
                <a:ea typeface="Calibri" pitchFamily="34" charset="-122"/>
                <a:cs typeface="Calibri" pitchFamily="34" charset="-120"/>
              </a:rPr>
              <a:t>Score de correspondance centres d'intérêt ↔ événements</a:t>
            </a:r>
            <a:endParaRPr lang="en-US" sz="1150" dirty="0"/>
          </a:p>
        </p:txBody>
      </p:sp>
      <p:sp>
        <p:nvSpPr>
          <p:cNvPr id="13" name="Shape 11"/>
          <p:cNvSpPr/>
          <p:nvPr/>
        </p:nvSpPr>
        <p:spPr>
          <a:xfrm>
            <a:off x="6217920" y="3456432"/>
            <a:ext cx="219456" cy="219456"/>
          </a:xfrm>
          <a:prstGeom prst="ellipse">
            <a:avLst/>
          </a:prstGeom>
          <a:solidFill>
            <a:srgbClr val="E0492B"/>
          </a:solidFill>
          <a:ln/>
        </p:spPr>
      </p:sp>
      <p:sp>
        <p:nvSpPr>
          <p:cNvPr id="14" name="Text 12"/>
          <p:cNvSpPr txBox="1"/>
          <p:nvPr/>
        </p:nvSpPr>
        <p:spPr>
          <a:xfrm>
            <a:off x="6565392" y="3419856"/>
            <a:ext cx="5212080" cy="457200"/>
          </a:xfrm>
          <a:prstGeom prst="rect">
            <a:avLst/>
          </a:prstGeom>
          <a:noFill/>
          <a:ln/>
        </p:spPr>
        <p:txBody>
          <a:bodyPr wrap="square" lIns="0" tIns="0" rIns="0" bIns="0" rtlCol="0" anchor="ctr"/>
          <a:lstStyle/>
          <a:p>
            <a:pPr indent="0" marL="0">
              <a:buNone/>
            </a:pPr>
            <a:r>
              <a:rPr lang="en-US" sz="1150" dirty="0">
                <a:solidFill>
                  <a:srgbClr val="C9C1B2"/>
                </a:solidFill>
                <a:latin typeface="Calibri" pitchFamily="34" charset="0"/>
                <a:ea typeface="Calibri" pitchFamily="34" charset="-122"/>
                <a:cs typeface="Calibri" pitchFamily="34" charset="-120"/>
              </a:rPr>
              <a:t>Stripe pour les événements payants + double authentification partenaire</a:t>
            </a:r>
            <a:endParaRPr lang="en-US" sz="1150" dirty="0"/>
          </a:p>
        </p:txBody>
      </p:sp>
      <p:sp>
        <p:nvSpPr>
          <p:cNvPr id="15" name="Shape 13"/>
          <p:cNvSpPr/>
          <p:nvPr/>
        </p:nvSpPr>
        <p:spPr>
          <a:xfrm>
            <a:off x="548640" y="4709160"/>
            <a:ext cx="11064240" cy="1508760"/>
          </a:xfrm>
          <a:prstGeom prst="roundRect">
            <a:avLst>
              <a:gd name="adj" fmla="val 5455"/>
            </a:avLst>
          </a:prstGeom>
          <a:solidFill>
            <a:srgbClr val="FFFFFF">
              <a:alpha val="8000"/>
            </a:srgbClr>
          </a:solidFill>
          <a:ln w="12700">
            <a:solidFill>
              <a:srgbClr val="3D362C"/>
            </a:solidFill>
            <a:prstDash val="solid"/>
          </a:ln>
        </p:spPr>
      </p:sp>
      <p:sp>
        <p:nvSpPr>
          <p:cNvPr id="16" name="Text 14"/>
          <p:cNvSpPr txBox="1"/>
          <p:nvPr/>
        </p:nvSpPr>
        <p:spPr>
          <a:xfrm>
            <a:off x="868680" y="4892040"/>
            <a:ext cx="1042416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16 tables · OWASP Top 10 · 40 tests · CI sur 3 versions de PHP · déploiement continu · mise en production réelle</a:t>
            </a:r>
            <a:endParaRPr lang="en-US" sz="1300" dirty="0"/>
          </a:p>
        </p:txBody>
      </p:sp>
      <p:sp>
        <p:nvSpPr>
          <p:cNvPr id="17" name="Text 15"/>
          <p:cNvSpPr txBox="1"/>
          <p:nvPr/>
        </p:nvSpPr>
        <p:spPr>
          <a:xfrm>
            <a:off x="868680" y="5394960"/>
            <a:ext cx="10424160" cy="685800"/>
          </a:xfrm>
          <a:prstGeom prst="rect">
            <a:avLst/>
          </a:prstGeom>
          <a:noFill/>
          <a:ln/>
        </p:spPr>
        <p:txBody>
          <a:bodyPr wrap="square" lIns="0" tIns="0" rIns="0" bIns="0" rtlCol="0" anchor="ctr"/>
          <a:lstStyle/>
          <a:p>
            <a:pPr indent="0" marL="0">
              <a:buNone/>
            </a:pPr>
            <a:r>
              <a:rPr lang="en-US" sz="1250" i="1" dirty="0">
                <a:solidFill>
                  <a:srgbClr val="C9C1B2"/>
                </a:solidFill>
                <a:latin typeface="Calibri" pitchFamily="34" charset="0"/>
                <a:ea typeface="Calibri" pitchFamily="34" charset="-122"/>
                <a:cs typeface="Calibri" pitchFamily="34" charset="-120"/>
              </a:rPr>
              <a:t>Ce n'est pas une application fictive faite pour un examen : c'est la réponse à un problème que je vis chaque semaine.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StudentLink — Soutenance DWWM</dc:title>
  <dc:subject>PptxGenJS Presentation</dc:subject>
  <dc:creator>Arthur Gramond</dc:creator>
  <cp:lastModifiedBy>Arthur Gramond</cp:lastModifiedBy>
  <cp:revision>1</cp:revision>
  <dcterms:created xsi:type="dcterms:W3CDTF">2026-09-06T16:39:07Z</dcterms:created>
  <dcterms:modified xsi:type="dcterms:W3CDTF">2026-09-06T16:39:07Z</dcterms:modified>
</cp:coreProperties>
</file>