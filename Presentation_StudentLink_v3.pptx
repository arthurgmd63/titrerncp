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6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C1916"/>
                </a:solidFill>
                <a:latin typeface="Cambria"/>
              </a:rPr>
              <a:t>MRR visé à Clermont-Ferrand (€ HT par mois, par mois d'activité)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(€ HT)</c:v>
                </c:pt>
              </c:strCache>
            </c:strRef>
          </c:tx>
          <c:spPr>
            <a:solidFill>
              <a:srgbClr val="E0492B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554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195</c:v>
                </c:pt>
                <c:pt idx="2">
                  <c:v>1200</c:v>
                </c:pt>
                <c:pt idx="3">
                  <c:v>2500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5B554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6350" cap="flat">
              <a:solidFill>
                <a:srgbClr val="DED6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EEE3"/>
        </a:solidFill>
        <a:ln>
          <a:noFill/>
        </a:ln>
        <a:effectLst/>
      </c:spPr>
    </c:plotArea>
    <c:plotVisOnly val="1"/>
    <c:dispBlanksAs val="span"/>
  </c:chart>
  <c:spPr>
    <a:solidFill>
      <a:srgbClr val="F3EEE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18+ bloquante cote serveur. Le fil se filtre par type de lieu et par centre d'interet. La reservation genere un pass QR dans le wallet ; l'annulation remet la place au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squads sont creees par les etudiants eux-memes : aucun partenaire n'intervient, aucun cout pour nous. Types running / velo / muscu / autre, niveaux tous / debutant / intermediaire / avance, avec date, lieu et quota de places. Deux badges y sont adosses : Team player a la premiere squad, Social butterfly a la cinquieme.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points sont bloquants : aucune vente n'est engagee avant qu'ils soient faits (SL-04 et SL-15).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02920"/>
            <a:ext cx="914400" cy="6803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600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743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 qui remplit les soirs creux —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qui prouve qui est venu.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22192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de Clermont voient les soirées et les sorties sportives de la ville, et réservent leur place avec une remise. Les établissements, eux, voient enfin qui est vraiment venu.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074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Gramond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technique, produit, design          </a:t>
            </a:r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Étienne Florentino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commercial, partenariats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440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Clermont-Ferrand</a:t>
            </a:r>
            <a:endParaRPr lang="en-US" sz="1200" dirty="0"/>
          </a:p>
        </p:txBody>
      </p:sp>
      <p:pic>
        <p:nvPicPr>
          <p:cNvPr id="8" name="Image 1" descr="img/m_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57400"/>
            <a:ext cx="1816586" cy="393192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pic>
        <p:nvPicPr>
          <p:cNvPr id="9" name="Image 2" descr="img/m_f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914400"/>
            <a:ext cx="2365787" cy="5120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société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 en 10 secondes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7839" cy="1481328"/>
          </a:xfrm>
          <a:prstGeom prst="roundRect">
            <a:avLst>
              <a:gd name="adj" fmla="val 8025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9848" y="1783080"/>
            <a:ext cx="100519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i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Ce qui se passe ce soir en ville : une soirée, un running, une séance.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i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place réservée avec une remise — et, côté établissement, le nombre exact d'étudiants réellement venus. 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42 500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dans l'agglomération clermontoise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ECE9FA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54296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3 012 800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en France — le même problème partout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FBF0D6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5904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l'étudiant, toujours. L'établissement paie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68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gratuite pour les étudiants · abonnement mensuel pour les établissements.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pitch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douleurs qui n'ont jamais été reliées : des étudiants qui n'arrivent pas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décider, et des établissements qui paient un mardi au prix d'un samedi.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CÔTÉ DEMANDE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blocages chez l'étudiant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 ne tranche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conversation de groupe s'éteint vers 19 h — trois « ouais carrément », deux « je sais pas ». À 21 h, tout le monde est chez soi.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l'envie qui manque,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engagement visible.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7116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8012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8012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8012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L'info est éparpillée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68012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bons plans circulent dans des stories qui disparaissent en 24 h, des affiches qu'on n'a pas vues, des groupes dont on ne fait pas partie.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68012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survit à la journée,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cherchable.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budget ne suit pas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quatre fois dans le mois au prix normal n'est pas tenable. Alors on coupe les sorties.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on s'isole un peu plus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fois.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78408" y="5074920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informations qui décident d'une sortie — ce qui se passe ce soir, qui y va, et combien ça coûte — existent séparément. Aucune n'existe ensemble.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CÔTÉ OFFRE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blocages chez l'établissement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mardi coûte aussi cher qu'un samedi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Loyer, personnel, licence, électricité : rien ne baisse quand la salle se vide. Seule la recette baisse.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7116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8012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801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8012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story ne remplit pas une salle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8012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centaines de vues, et personne ne dit qu'il vient. Le soir venu, on ouvre sans savoir si on prépare pour vingt personnes ou pour deux.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deal étudiant » ne se mesure pas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affiche, une remise accordée au jugé, aucune trace. À la fin du mois, impossible de dire si l'opération a fonctionné.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407408"/>
            <a:ext cx="11057839" cy="1536192"/>
          </a:xfrm>
          <a:prstGeom prst="roundRect">
            <a:avLst>
              <a:gd name="adj" fmla="val 7738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24128" y="45537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Remplir un soir creux, c'est de la marge quasi pure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99262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étudiants de plus un mardi, à 12 € de panier moyen : environ 180 € de recette et une centaine d'euros de marge sur une soirée qui, sinon, tournerait à vide.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27221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8660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étudiants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27221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0392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180 € de recette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92124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EFB2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2124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100 € de marge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cette marge qui finance notre abonnement.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POURQUOI IL EXISTE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 canal ne relie l'intention à la présence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28416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</p:sp>
      <p:pic>
        <p:nvPicPr>
          <p:cNvPr id="6" name="Image 0" descr="img/ic_TbSpeakerphone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5284" y="20253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7824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n'enregistre rien : ni réservation, ni place, ni preuve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7116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18604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CE9FA"/>
          </a:solidFill>
          <a:ln/>
        </p:spPr>
      </p:sp>
      <p:pic>
        <p:nvPicPr>
          <p:cNvPr id="12" name="Image 1" descr="img/ic_TbTicket_4A40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02539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8012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billetterie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668012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4668012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suppose un billet payant — le mardi d'un bar n'en a pas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47304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908792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F0D6"/>
          </a:solidFill>
          <a:ln/>
        </p:spPr>
      </p:sp>
      <p:pic>
        <p:nvPicPr>
          <p:cNvPr id="18" name="Image 2" descr="img/ic_TbMessageCircle_8E64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20253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bouche-à-oreille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ne se compte pas et reste invisible pour le gérant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224528"/>
            <a:ext cx="11057839" cy="1719072"/>
          </a:xfrm>
          <a:prstGeom prst="roundRect">
            <a:avLst>
              <a:gd name="adj" fmla="val 6915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1069848" y="44074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maillon manquant n'est pas la communication.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069848" y="47914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la réservation légère et la preuve de venue.</a:t>
            </a:r>
            <a:endParaRPr lang="en-US" sz="2700" dirty="0"/>
          </a:p>
        </p:txBody>
      </p:sp>
      <p:sp>
        <p:nvSpPr>
          <p:cNvPr id="25" name="Text 20"/>
          <p:cNvSpPr txBox="1"/>
          <p:nvPr/>
        </p:nvSpPr>
        <p:spPr>
          <a:xfrm>
            <a:off x="1069848" y="5413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l'espace que StudentLink occupe : entre la story qu'on voit et l'étudiant qui pousse la porte.</a:t>
            </a:r>
            <a:endParaRPr lang="en-US" sz="1250" dirty="0"/>
          </a:p>
        </p:txBody>
      </p:sp>
      <p:pic>
        <p:nvPicPr>
          <p:cNvPr id="26" name="Image 3" descr="img/logo_mark_light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149840" y="4617720"/>
            <a:ext cx="1097280" cy="81655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gratuite côté étudiant, un espace de gestion côté établissement,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 QR code scanné à l'entrée qui relie enfin les deux.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NOTRE PROMESSE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promesse par côté du marché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29400" cy="1975104"/>
          </a:xfrm>
          <a:prstGeom prst="roundRect">
            <a:avLst>
              <a:gd name="adj" fmla="val 6019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93392"/>
            <a:ext cx="1417320" cy="329184"/>
          </a:xfrm>
          <a:prstGeom prst="roundRect">
            <a:avLst>
              <a:gd name="adj" fmla="val 83333"/>
            </a:avLst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93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95728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soir, tu sais quoi faire, avec qui, et à quel prix.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90672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soirées de la ville et les squads sportives, les amis déjà inscrits, la remise avant de venir — et le pass dans la poche. Gratuit, sans publicité.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950208"/>
            <a:ext cx="6629400" cy="1993392"/>
          </a:xfrm>
          <a:prstGeom prst="roundRect">
            <a:avLst>
              <a:gd name="adj" fmla="val 5963"/>
            </a:avLst>
          </a:prstGeom>
          <a:solidFill>
            <a:srgbClr val="ECE9FA"/>
          </a:solidFill>
          <a:ln/>
          <a:effectLst>
            <a:outerShdw sx="100000" sy="100000" kx="0" ky="0" algn="bl" rotWithShape="0" blurRad="152400" dist="38100" dir="5400000">
              <a:srgbClr val="1C1916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4160520"/>
            <a:ext cx="1828800" cy="329184"/>
          </a:xfrm>
          <a:prstGeom prst="roundRect">
            <a:avLst>
              <a:gd name="adj" fmla="val 83333"/>
            </a:avLst>
          </a:prstGeom>
          <a:solidFill>
            <a:srgbClr val="4A40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4160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562856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32A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ne remplissez plus la salle un étudiant à la fois.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527608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la remplissez par tables de quatre — et vous avez le chiffre le lendemain matin : inscrits, présents scannés, taux de présence, composition par école.</a:t>
            </a:r>
            <a:endParaRPr lang="en-US" sz="1250" dirty="0"/>
          </a:p>
        </p:txBody>
      </p:sp>
      <p:pic>
        <p:nvPicPr>
          <p:cNvPr id="14" name="Image 0" descr="img/m_p_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83080"/>
            <a:ext cx="1879956" cy="40690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8183880" y="5961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 étudiant, scanné à l'entrée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étudiant, en quatre écrans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 18+</a:t>
            </a:r>
            <a:endParaRPr lang="en-US" sz="1500" dirty="0"/>
          </a:p>
        </p:txBody>
      </p:sp>
      <p:pic>
        <p:nvPicPr>
          <p:cNvPr id="7" name="Image 0" descr="img/m_p_inscri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3639312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3931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96512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des soirées</a:t>
            </a:r>
            <a:endParaRPr lang="en-US" sz="1500" dirty="0"/>
          </a:p>
        </p:txBody>
      </p:sp>
      <p:pic>
        <p:nvPicPr>
          <p:cNvPr id="11" name="Image 1" descr="img/m_fe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6711696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11696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68896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fiche soirée</a:t>
            </a:r>
            <a:endParaRPr lang="en-US" sz="1500" dirty="0"/>
          </a:p>
        </p:txBody>
      </p:sp>
      <p:pic>
        <p:nvPicPr>
          <p:cNvPr id="15" name="Image 2" descr="img/m_evene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9784080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78408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241280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pass en poche</a:t>
            </a:r>
            <a:endParaRPr lang="en-US" sz="1500" dirty="0"/>
          </a:p>
        </p:txBody>
      </p:sp>
      <p:pic>
        <p:nvPicPr>
          <p:cNvPr id="19" name="Image 3" descr="img/m_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1938528"/>
            <a:ext cx="1825036" cy="3950208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20" name="Text 1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ÉTUDIANT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l'étudiant trouve dans l'application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E7E1"/>
          </a:solidFill>
          <a:ln/>
        </p:spPr>
      </p:sp>
      <p:pic>
        <p:nvPicPr>
          <p:cNvPr id="6" name="Image 0" descr="img/ic_TbQrcode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6197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&amp; pass QR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pass généré à chaque réservation, scanné à l'entrée. Annulable : la place repart au stock.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9300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CEBDB"/>
          </a:solidFill>
          <a:ln/>
        </p:spPr>
      </p:sp>
      <p:pic>
        <p:nvPicPr>
          <p:cNvPr id="11" name="Image 1" descr="img/ic_TbBolt_EC82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4" y="206197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452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Offres flash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74904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remises limitées dans le temps, avec compte à rebours, qui remontent en haut du fil.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1908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CE9FA"/>
          </a:solidFill>
          <a:ln/>
        </p:spPr>
      </p:sp>
      <p:pic>
        <p:nvPicPr>
          <p:cNvPr id="16" name="Image 2" descr="img/ic_TbRun_4A40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206197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5060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 sportives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67512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vélo, muscu. Un niveau annoncé, des places limitées, une heure et un lieu. On rejoint comme on réserve.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F0D6"/>
          </a:solidFill>
          <a:ln/>
        </p:spPr>
      </p:sp>
      <p:pic>
        <p:nvPicPr>
          <p:cNvPr id="21" name="Image 3" descr="img/ic_TbUsers_8E64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10108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9844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Amis &amp; fil social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des étudiants de sa promo et voir qui va où. La vraie raison de revenir.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49300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4904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3F2E6"/>
          </a:solidFill>
          <a:ln/>
        </p:spPr>
      </p:sp>
      <p:pic>
        <p:nvPicPr>
          <p:cNvPr id="26" name="Image 4" descr="img/ic_TbStar_1F6B3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764" y="410108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22452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 après check-in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374904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sur 5 et commentaire, réservés à ceux qui sont réellement venus.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1908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7512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E7E1"/>
          </a:solidFill>
          <a:ln/>
        </p:spPr>
      </p:sp>
      <p:pic>
        <p:nvPicPr>
          <p:cNvPr id="31" name="Image 5" descr="img/ic_TbTrophy_BB361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410108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5060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XP, niveaux, badges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667512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badges à débloquer et les économies cumulées affichées dans le wallet.</a:t>
            </a:r>
            <a:endParaRPr lang="en-US" sz="1150" dirty="0"/>
          </a:p>
        </p:txBody>
      </p:sp>
      <p:pic>
        <p:nvPicPr>
          <p:cNvPr id="34" name="Image 6" descr="img/m_p_fe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3184" y="1783080"/>
            <a:ext cx="1879956" cy="40690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35" name="Text 26"/>
          <p:cNvSpPr txBox="1"/>
          <p:nvPr/>
        </p:nvSpPr>
        <p:spPr>
          <a:xfrm>
            <a:off x="8778240" y="5961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« Les bons plans du moment »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CE QUI FAIT REVENIR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soirée vaut plus quand des amis y sont déjà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64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catalogue d'événements se copie en trois mois. Un graphe d'amis par école, non.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359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par école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883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profil porte son école et sa promotion. On suit ses amis, on voit leurs sorties, on les rejoint.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35478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squads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8770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groupes de sortie ou de sport que les étudiants créent eux-mêmes. Une sortie ponctuelle devient un groupe qui se reforme.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80060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47365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invitations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50657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fiche soirée, en deux taps. C'est notre principal levier de viralité — objectif 0,4 inscription supplémentaire par inscrit à M6.</a:t>
            </a:r>
            <a:endParaRPr lang="en-US" sz="1200" dirty="0"/>
          </a:p>
        </p:txBody>
      </p:sp>
      <p:pic>
        <p:nvPicPr>
          <p:cNvPr id="14" name="Image 0" descr="img/m_p_person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783080"/>
            <a:ext cx="1774340" cy="38404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5504688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sa promo</a:t>
            </a:r>
            <a:endParaRPr lang="en-US" sz="1100" dirty="0"/>
          </a:p>
        </p:txBody>
      </p:sp>
      <p:pic>
        <p:nvPicPr>
          <p:cNvPr id="16" name="Image 1" descr="img/m_squ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783080"/>
            <a:ext cx="1774340" cy="38404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7" name="Text 13"/>
          <p:cNvSpPr txBox="1"/>
          <p:nvPr/>
        </p:nvSpPr>
        <p:spPr>
          <a:xfrm>
            <a:off x="7498080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squads</a:t>
            </a:r>
            <a:endParaRPr lang="en-US" sz="1100" dirty="0"/>
          </a:p>
        </p:txBody>
      </p:sp>
      <p:pic>
        <p:nvPicPr>
          <p:cNvPr id="18" name="Image 2" descr="img/m_p_profil_aut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1783080"/>
            <a:ext cx="1774340" cy="38404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9" name="Text 14"/>
          <p:cNvSpPr txBox="1"/>
          <p:nvPr/>
        </p:nvSpPr>
        <p:spPr>
          <a:xfrm>
            <a:off x="9491472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 d'un ami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ÉTUDIANT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Sortir, ce n'est pas seulement boire un verre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partie des étudiants ne va jamais en boîte, et personne ne sort tous les soirs. Les squads leur donnent une raison d'ouvrir l'application un mardi matin.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395728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activités, quatre niveaux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724912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vélo, muscu — et un type libre pour le reste. Le niveau est annoncé : tous, débutant, intermédiaire ou avancé. Personne n'arrive en se demandant s'il va suivre le groupe.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511296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3438144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rendez-vous, pas un fil d'activités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767328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heure, lieu, nombre de places. Une squad se rejoint exactement comme une soirée se réserve — et le quota évite le groupe de trente.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553712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4480560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Créées par les étudiants, pas par nous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809744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trente secondes, depuis le téléphone. Le Puy-de-Dôme au coucher du soleil, le tour du lac d'Aydat, le footing au Jardin Lecoq, le push day à la salle.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504688"/>
            <a:ext cx="6583680" cy="658368"/>
          </a:xfrm>
          <a:prstGeom prst="roundRect">
            <a:avLst>
              <a:gd name="adj" fmla="val 18056"/>
            </a:avLst>
          </a:prstGeom>
          <a:solidFill>
            <a:srgbClr val="ECE9FA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6112" y="55046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332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contenu qui ne nous coûte rien, qui remplit le fil en semaine — et qui ouvre un segment partenaire : les salles de sport ont elles aussi des créneaux creux.</a:t>
            </a:r>
            <a:endParaRPr lang="en-US" sz="1150" dirty="0"/>
          </a:p>
        </p:txBody>
      </p:sp>
      <p:pic>
        <p:nvPicPr>
          <p:cNvPr id="16" name="Image 0" descr="img/m_squ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783080"/>
            <a:ext cx="1837709" cy="3977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7" name="Text 14"/>
          <p:cNvSpPr txBox="1"/>
          <p:nvPr/>
        </p:nvSpPr>
        <p:spPr>
          <a:xfrm>
            <a:off x="7223760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des squads</a:t>
            </a:r>
            <a:endParaRPr lang="en-US" sz="1100" dirty="0"/>
          </a:p>
        </p:txBody>
      </p:sp>
      <p:pic>
        <p:nvPicPr>
          <p:cNvPr id="18" name="Image 1" descr="img/c_p_squad_car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783080"/>
            <a:ext cx="2075688" cy="1868119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19" name="Text 15"/>
          <p:cNvSpPr txBox="1"/>
          <p:nvPr/>
        </p:nvSpPr>
        <p:spPr>
          <a:xfrm>
            <a:off x="941832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squad : niveau, places, lieu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555480" y="4224528"/>
            <a:ext cx="2075688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978408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</a:t>
            </a:r>
            <a:endParaRPr lang="en-US" sz="850" dirty="0"/>
          </a:p>
        </p:txBody>
      </p:sp>
      <p:pic>
        <p:nvPicPr>
          <p:cNvPr id="22" name="Image 2" descr="img/ic_TbRun_E04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4654296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040112" y="46268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100" dirty="0"/>
          </a:p>
        </p:txBody>
      </p:sp>
      <p:pic>
        <p:nvPicPr>
          <p:cNvPr id="24" name="Image 3" descr="img/ic_TbBike_EC82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4946904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40112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</a:t>
            </a:r>
            <a:endParaRPr lang="en-US" sz="1100" dirty="0"/>
          </a:p>
        </p:txBody>
      </p:sp>
      <p:pic>
        <p:nvPicPr>
          <p:cNvPr id="26" name="Image 4" descr="img/ic_TbBarbell_4A40C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2" y="5239512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40112" y="52120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</a:t>
            </a:r>
            <a:endParaRPr lang="en-US" sz="1100" dirty="0"/>
          </a:p>
        </p:txBody>
      </p:sp>
      <p:pic>
        <p:nvPicPr>
          <p:cNvPr id="28" name="Image 5" descr="img/ic_TbDots_8E641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2" y="5532120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040112" y="55046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ÉTABLISSEMENT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Publier une soirée : deux minutes, depuis le téléphone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396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</p:sp>
      <p:pic>
        <p:nvPicPr>
          <p:cNvPr id="6" name="Image 0" descr="img/ic_TbCalendarPlus_4A40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235708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99616" y="19568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Créer la soirée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499616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type, date, places, remise. Modifiable jusqu'à la dernière minute.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108960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9536" y="3438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</p:sp>
      <p:pic>
        <p:nvPicPr>
          <p:cNvPr id="11" name="Image 1" descr="img/ic_TbScan_4A40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353415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99616" y="3255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Scanner à l'entrée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499616" y="35844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personnel de salle scanne les pass depuis son propre téléphone. Aucune formation : une main occupée, debout, de nuit.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4407408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" y="4736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</p:sp>
      <p:pic>
        <p:nvPicPr>
          <p:cNvPr id="16" name="Image 2" descr="img/ic_TbChartBar_4A40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8326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99616" y="4553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Lire le chiffre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499616" y="4882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Inscrits, présents, taux de présence, composition par école et pics horaires — dès le lendemain.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66928" y="576072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L'onboarding d'un établissement tient en vingt minutes, sur place.</a:t>
            </a:r>
            <a:endParaRPr lang="en-US" sz="1250" dirty="0"/>
          </a:p>
        </p:txBody>
      </p:sp>
      <p:pic>
        <p:nvPicPr>
          <p:cNvPr id="20" name="Image 3" descr="img/m_pro_cre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783080"/>
            <a:ext cx="1837709" cy="3977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pic>
        <p:nvPicPr>
          <p:cNvPr id="21" name="Image 4" descr="img/m_pro_ev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783080"/>
            <a:ext cx="1837709" cy="397764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22" name="Text 15"/>
          <p:cNvSpPr txBox="1"/>
          <p:nvPr/>
        </p:nvSpPr>
        <p:spPr>
          <a:xfrm>
            <a:off x="7196328" y="5870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événement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9436608" y="5870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ses soirées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CE QUE NOUS VENDONS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Nous ne vendons pas de l'audience. Nous vendons un chiffre.</a:t>
            </a:r>
            <a:endParaRPr lang="en-US" sz="3000" dirty="0"/>
          </a:p>
        </p:txBody>
      </p:sp>
      <p:pic>
        <p:nvPicPr>
          <p:cNvPr id="4" name="Image 0" descr="img/c_bureau_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83080"/>
            <a:ext cx="6400800" cy="4002634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66928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 — gestion des soirées et statistiques de présence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178040" y="1783080"/>
            <a:ext cx="445312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79792" y="19476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759952" y="1965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inscrits sur la soirée du mardi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78040" y="3136392"/>
            <a:ext cx="445312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79792" y="33009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759952" y="331927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présents, pass scannés à l'entrée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78040" y="4489704"/>
            <a:ext cx="4453128" cy="1298448"/>
          </a:xfrm>
          <a:prstGeom prst="roundRect">
            <a:avLst>
              <a:gd name="adj" fmla="val 9155"/>
            </a:avLst>
          </a:prstGeom>
          <a:solidFill>
            <a:srgbClr val="FBF0D6"/>
          </a:solidFill>
          <a:ln w="9525">
            <a:solidFill>
              <a:srgbClr val="EFB23A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79792" y="46542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759952" y="467258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taux de présence — le premier chiffre de fréquentation étudiante qu'un gérant ait jamais eu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LE MOMENT QUI ACCROCHE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moments magiques, deux activations mesurées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47088"/>
            <a:ext cx="1417320" cy="310896"/>
          </a:xfrm>
          <a:prstGeom prst="roundRect">
            <a:avLst>
              <a:gd name="adj" fmla="val 88235"/>
            </a:avLst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847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4942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présente son téléphone, le barman scanne, il entre avec sa remise — devant ses amis.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346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cet instant, l'application cesse d'être une liste d'événements et devient un laissez-passer.  ·  Activation : premier pass scanné sous 14 jours, pour 40 % des inscrits.</a:t>
            </a:r>
            <a:endParaRPr lang="en-US" sz="1200" dirty="0"/>
          </a:p>
        </p:txBody>
      </p:sp>
      <p:pic>
        <p:nvPicPr>
          <p:cNvPr id="9" name="Image 0" descr="img/c_p_econom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48840"/>
            <a:ext cx="3566160" cy="1092523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66928" y="3950208"/>
            <a:ext cx="110578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32688" y="4151376"/>
            <a:ext cx="1828800" cy="310896"/>
          </a:xfrm>
          <a:prstGeom prst="roundRect">
            <a:avLst>
              <a:gd name="adj" fmla="val 88235"/>
            </a:avLst>
          </a:prstGeom>
          <a:solidFill>
            <a:srgbClr val="4A40C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4151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45537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lendemain matin, sur le tableau de bord : 18 inscrits, 14 scannés, 78 % de présence.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513892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d'autre ne lui donne ce chiffre.  ·  Activation : une première soirée à 10 pass scannés au moins, dans les 30 jours suivant la création du compte.</a:t>
            </a:r>
            <a:endParaRPr lang="en-US" sz="1200" dirty="0"/>
          </a:p>
        </p:txBody>
      </p:sp>
      <p:pic>
        <p:nvPicPr>
          <p:cNvPr id="15" name="Image 1" descr="img/c_carte_sal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041648"/>
            <a:ext cx="2606040" cy="1861457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1C1916">
                <a:alpha val="16000"/>
              </a:srgbClr>
            </a:outerShdw>
          </a:effectLst>
        </p:spPr>
      </p:pic>
      <p:sp>
        <p:nvSpPr>
          <p:cNvPr id="16" name="Text 1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ÉTAT DU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 n'est pas une maquette : il tourne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2377440" cy="329184"/>
          </a:xfrm>
          <a:prstGeom prst="roundRect">
            <a:avLst>
              <a:gd name="adj" fmla="val 83333"/>
            </a:avLst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VENDABLE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14016"/>
            <a:ext cx="294436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et vérification 18+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de découverte et filtres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soirée, places restantes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et pass QR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Annulation, la place repart au stock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 et événements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 pass à l'entrée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inscrits / présents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7116" y="1755648"/>
            <a:ext cx="3493008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1436" y="1956816"/>
            <a:ext cx="2377440" cy="329184"/>
          </a:xfrm>
          <a:prstGeom prst="roundRect">
            <a:avLst>
              <a:gd name="adj" fmla="val 83333"/>
            </a:avLst>
          </a:prstGeom>
          <a:solidFill>
            <a:srgbClr val="4A40C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1436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LA DIFFÉRENCE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31436" y="2414016"/>
            <a:ext cx="294436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d'amis depuis la fiche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social et suivi entre étudiants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sportives, quatre niveaux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flash à expiration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réservés aux présents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niveaux et neuf badges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par école et pics horaires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et signalement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7304" y="1755648"/>
            <a:ext cx="3493008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21624" y="1956816"/>
            <a:ext cx="2377440" cy="329184"/>
          </a:xfrm>
          <a:prstGeom prst="roundRect">
            <a:avLst>
              <a:gd name="adj" fmla="val 83333"/>
            </a:avLst>
          </a:prstGeom>
          <a:solidFill>
            <a:srgbClr val="8E64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21624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ET CONFORMITÉ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2414016"/>
            <a:ext cx="294436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8.3, MySQL 8, PDO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mutualisé ou Railway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installable, mode hors-ligne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limitation de débit, hachage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PHPUnit, PHPStan 5, CI GitHub</a:t>
            </a:r>
            <a:endParaRPr lang="en-US" sz="1200" dirty="0"/>
          </a:p>
          <a:p>
            <a:pPr marL="165100" indent="-1651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RGPD rédigé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212080"/>
            <a:ext cx="11057839" cy="786384"/>
          </a:xfrm>
          <a:prstGeom prst="roundRect">
            <a:avLst>
              <a:gd name="adj" fmla="val 15116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0976" y="521208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à fiabiliser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212080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 éprouvé de nuit sur plusieurs téléphones · l'envoi réel des rappels, qui attend un SMTP authentifié · la suppression de compte en autonomie, qui est une obligation RGPD.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économique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ne paie jamais — ni abonnement, ni commission. Cette gratuité n'est pas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commerciale, elle est structurelle : c'est elle qui produit le seul actif que nous vendons.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LES RÔLES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paie, qui utilise, qui décide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5" name="Image 0" descr="img/ic_TbCurrencyEuro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432" y="1920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7824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PAIE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L'établissement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abonnement mensuel. Jamais l'étudiant, ni en abonnement ni en commission.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57116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10" name="Image 1" descr="img/ic_TbUsers_4A40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19202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8012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UTILISE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668012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utilisateurs distincts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68012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L'étudiant, toutes les semaines. Et le personnel de salle qui scanne à l'entrée — souvent un barman, jamais formé.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47304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15" name="Image 2" descr="img/ic_TbKey_8E64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192024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DÉCIDE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gérant, seul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indépendant : un rendez-vous suffit. En phase 1, nous ne démarchons que des structures où le décideur est derrière le bar.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4133088"/>
            <a:ext cx="11057839" cy="1810512"/>
          </a:xfrm>
          <a:prstGeom prst="roundRect">
            <a:avLst>
              <a:gd name="adj" fmla="val 656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932688" y="4297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porte l'effort commercial des six premiers mois</a:t>
            </a:r>
            <a:endParaRPr lang="en-US" sz="1500" dirty="0"/>
          </a:p>
        </p:txBody>
      </p:sp>
      <p:pic>
        <p:nvPicPr>
          <p:cNvPr id="21" name="Image 3" descr="img/ic_TbBeer_E04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548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16152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32688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FBE7E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32688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remplissage de semaine</a:t>
            </a:r>
            <a:endParaRPr lang="en-US" sz="1000" dirty="0"/>
          </a:p>
        </p:txBody>
      </p:sp>
      <p:pic>
        <p:nvPicPr>
          <p:cNvPr id="26" name="Image 4" descr="img/ic_TbDisc_E049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620" y="47548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958084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Discothèques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2674620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FBE7E1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2674620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2674620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prévisibilité</a:t>
            </a:r>
            <a:endParaRPr lang="en-US" sz="1000" dirty="0"/>
          </a:p>
        </p:txBody>
      </p:sp>
      <p:pic>
        <p:nvPicPr>
          <p:cNvPr id="31" name="Image 5" descr="img/ic_TbToolsKitchen2_6E68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47548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700016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4416552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AE3D6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416552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4416552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couvert en semaine</a:t>
            </a:r>
            <a:endParaRPr lang="en-US" sz="1000" dirty="0"/>
          </a:p>
        </p:txBody>
      </p:sp>
      <p:pic>
        <p:nvPicPr>
          <p:cNvPr id="36" name="Image 6" descr="img/ic_TbSchool_1F6B3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484" y="475488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41948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BDE &amp; assos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6158484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3F2E6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6158484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6158484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preuve d'affluence</a:t>
            </a:r>
            <a:endParaRPr lang="en-US" sz="1000" dirty="0"/>
          </a:p>
        </p:txBody>
      </p:sp>
      <p:pic>
        <p:nvPicPr>
          <p:cNvPr id="41" name="Image 7" descr="img/ic_TbBarbell_4A40C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416" y="4754880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183880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Salles de sport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7900416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CE9FA"/>
          </a:solidFill>
          <a:ln/>
        </p:spPr>
      </p:sp>
      <p:sp>
        <p:nvSpPr>
          <p:cNvPr id="44" name="Text 34"/>
          <p:cNvSpPr txBox="1"/>
          <p:nvPr/>
        </p:nvSpPr>
        <p:spPr>
          <a:xfrm>
            <a:off x="7900416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tester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7900416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créneaux creux remplis</a:t>
            </a:r>
            <a:endParaRPr lang="en-US" sz="1000" dirty="0"/>
          </a:p>
        </p:txBody>
      </p:sp>
      <p:pic>
        <p:nvPicPr>
          <p:cNvPr id="46" name="Image 8" descr="img/ic_TbBed_6E686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2348" y="4754880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925812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Hôtels</a:t>
            </a:r>
            <a:endParaRPr lang="en-US" sz="1250" dirty="0"/>
          </a:p>
        </p:txBody>
      </p:sp>
      <p:sp>
        <p:nvSpPr>
          <p:cNvPr id="48" name="Shape 37"/>
          <p:cNvSpPr/>
          <p:nvPr/>
        </p:nvSpPr>
        <p:spPr>
          <a:xfrm>
            <a:off x="9642348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AE3D6"/>
          </a:solidFill>
          <a:ln/>
        </p:spPr>
      </p:sp>
      <p:sp>
        <p:nvSpPr>
          <p:cNvPr id="49" name="Text 38"/>
          <p:cNvSpPr txBox="1"/>
          <p:nvPr/>
        </p:nvSpPr>
        <p:spPr>
          <a:xfrm>
            <a:off x="9642348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avant M12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9642348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de clair à ce stade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822960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de l'effort sur les bars et les discothèques.</a:t>
            </a:r>
            <a:endParaRPr lang="en-US" sz="1150" dirty="0"/>
          </a:p>
        </p:txBody>
      </p:sp>
      <p:sp>
        <p:nvSpPr>
          <p:cNvPr id="52" name="Text 4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NOS ABONNEMENTS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offres, sans engagement, résiliables au mois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203200" dist="50800" dir="5400000">
              <a:srgbClr val="1C191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FONDATEUR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3 mois,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39 €/mois gelés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15 premiers établissements clermontois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contenu d'Essentiel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« partenaire fondateur » sur la fiche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gelé tant que l'abonnement n'est pas interrompu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places, et pas une de plus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8766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26510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ESSENTIEL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26510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79 €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626510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HT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26510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Bars, restaurants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44798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Soirées illimitées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établissement avec photos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inscrits / présents / composition de salle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 pass à l'entrée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automatique la veille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26510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L'offre de référence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0605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8349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48349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149 €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448349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HT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8349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Discothèques, groupes, multi-établissements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66637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Essentiel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mise en avant par mois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flash illimitées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statistiques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comptes et plusieurs lieux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48349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vend avec des chiffres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32443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70187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120" kern="0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 &amp; ASSOCIATIONS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270187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270187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définitivement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70187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BDE, associations, clubs étudiants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88475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Essentiel, sans les statistiques avancées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Gratuité inscrite dans le contrat partenaire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apportent l'audience, pas du revenu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70187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actée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8064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engagement  ·  sans exclusivité  ·  aucune remise imposée à l'étudiant  ·  une soirée test complète, publiée et scannée, avant toute facturation.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LA TRAJECTOIRE DE REVENU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modèle produit, ce que nous refusons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55648"/>
          <a:ext cx="6263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59168" y="1755648"/>
            <a:ext cx="4572000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0" y="190195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publicité dans l'application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2494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actif est la confiance des étudiants. Un fil pollué par des annonces détruit la fréquence d'usage — c'est précisément ce que nous vendons aux établissements.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59168" y="3383280"/>
            <a:ext cx="4572000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0" y="35295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commission au billet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87705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modèle de Shotgun, et il ne fonctionne que sur des événements payants. Notre terrain de départ, c'est le mardi gratuit d'un bar : il n'y a pas de billet à commissionner.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5010912"/>
            <a:ext cx="11057839" cy="960120"/>
          </a:xfrm>
          <a:prstGeom prst="roundRect">
            <a:avLst>
              <a:gd name="adj" fmla="val 12381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50976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390 €/mois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clients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7 500 €/mois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718304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clients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718304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75 000 €/mois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clients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750 000 €/mois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51389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qui change quelque chose à nos vies n'est pas 1 000 : il est autour de 100 — et 100 clients, c'est plus que Clermont seul ne peut en fournir.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&amp; concurrence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d'acteurs touchent notre marché par un bord. Aucun ne fait le trajet complet,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découverte d'une soirée jusqu'à la preuve que l'étudiant est venu.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PANORAMA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familles de solutions, quatre morceaux du problème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</p:sp>
      <p:pic>
        <p:nvPicPr>
          <p:cNvPr id="6" name="Image 0" descr="img/ic_TbBrandInstagram_E04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43684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réseaux sociaux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Snapchat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Diffusent une annonce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réservation, aucune preuve, effacé en 24 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8766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6510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</p:sp>
      <p:pic>
        <p:nvPicPr>
          <p:cNvPr id="13" name="Image 1" descr="img/ic_TbTicket_BB36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378" y="204368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26510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billetteries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3626510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Shotgun, Dice, HelloAsso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626510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Enregistrent une transaction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26510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un billet payant — le mardi d'un bar n'en a pas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0605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8349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CEBDB"/>
          </a:solidFill>
          <a:ln/>
        </p:spPr>
      </p:sp>
      <p:pic>
        <p:nvPicPr>
          <p:cNvPr id="20" name="Image 2" descr="img/ic_TbShoppingBag_A755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17" y="2043684"/>
            <a:ext cx="246888" cy="2468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8349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marketplaces de loisirs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6448349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5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TheFork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6448349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réserver le grand public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448349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étudiantes, pas de graphe d'amis, pas de soirs creux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32443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70187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F0D6"/>
          </a:solidFill>
          <a:ln/>
        </p:spPr>
      </p:sp>
      <p:pic>
        <p:nvPicPr>
          <p:cNvPr id="27" name="Image 3" descr="img/ic_TbTag_8E64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55" y="2043684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70187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réductions étudiantes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9270187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Unidays, Student Beans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9270187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Vérifient le statut étudiant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9270187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: aucun événement, aucun lieu, aucune présence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66928" y="4892040"/>
            <a:ext cx="11057839" cy="1261872"/>
          </a:xfrm>
          <a:prstGeom prst="roundRect">
            <a:avLst>
              <a:gd name="adj" fmla="val 9420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pic>
        <p:nvPicPr>
          <p:cNvPr id="33" name="Image 4" descr="img/logo_mark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66360"/>
            <a:ext cx="841248" cy="62545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984248" y="512978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trajet complet : découvrir, réserver, venir — et le prouver.</a:t>
            </a:r>
            <a:endParaRPr lang="en-US" sz="1900" dirty="0"/>
          </a:p>
        </p:txBody>
      </p:sp>
      <p:sp>
        <p:nvSpPr>
          <p:cNvPr id="35" name="Text 28"/>
          <p:cNvSpPr txBox="1"/>
          <p:nvPr/>
        </p:nvSpPr>
        <p:spPr>
          <a:xfrm>
            <a:off x="1984248" y="555955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les seuls à couvrir les quatre étapes sur une soirée gratuite en semaine.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732520" y="5312664"/>
            <a:ext cx="2514600" cy="457200"/>
          </a:xfrm>
          <a:prstGeom prst="roundRect">
            <a:avLst>
              <a:gd name="adj" fmla="val 60000"/>
            </a:avLst>
          </a:prstGeom>
          <a:solidFill>
            <a:srgbClr val="EFB23A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732520" y="53126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3 012 800 étudiants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CONCURRENCE DIRECTE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Ceux qui font sortir et réserver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intention que nous — faire venir quelqu'un quelque part — mais un modèle bâti sur la transaction.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901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ET MODÈLE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901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LIMITE SUR NOTRE TERRAIN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240280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36829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Shotgun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3682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clubbing.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au billet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3682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un billet payant. Vise les gros clubs et festivals, pas les soirs creux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3682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monétisons le soir gratuit, que leur modèle ne peut pas facturer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91256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" y="331927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3192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de concerts.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au billet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3192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limite : pas de billet, pas de produit. Peu implanté en ville moyenne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3192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local et biface, jusque dans les bars de quartier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42232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427024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Fever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42702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d'expériences.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sur ventes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427024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public, pas étudiant. Faible hors métropoles. Aucun graphe social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42702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étudiant école par école, avec les amis dedans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93208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522122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TheFork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5221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restaurants.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+ commission au couvert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522122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uniquement. Pas d'événement, pas de soirée, pas étudiant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5221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Bars, clubs et associations — et nous parlons soirée, pas couvert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350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publics, à confirmer avant tout usage dans un argumentaire écrit remis à un prospect.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CONCURRENCE INDIRECTE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Ceux qui occupent déjà l'attention et la décision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ne sont pas des concurrents produit : ce sont les habitudes qu'il faut déplacer. C'est là qu'est la vraie bataille.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 BIEN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NE FERA JAMAIS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8105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1031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&amp; stories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1031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y est, coût nul, portée immédiate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1031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réservation, ni compteur de places. Effacé en 24 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10312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transformons une vue en présence vérifiée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734056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" y="277977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77977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 universel, horaires et avis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77977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ce qui est ouvert, jamais ce qui s'y passe ce soir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77977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répondons à « ce soir », pas à « où 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410712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345643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&amp; Snap de promo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4564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que les sorties se décident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45643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Fermé, non mesurable, invisible pour un gérant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45643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rendons mesurable ce qui s'y passe déjà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087368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413308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Unidays, Student Beans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41330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étudiante énorme, statut vérifié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413308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: aucun lieu, aucune présence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1330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faisons sortir, pas acheter en ligne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764024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48097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HelloAsso &amp; outils BDE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606040" y="48097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installé dans le monde associatif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480974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sans découverte : il faut déjà connaître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48097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apportons l'audience, et restons gratuits pour eux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440680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41248" y="54864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Strava, Meetup, SUAPS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54864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mesure, le SUAPS encadre à l'année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548640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réunit une bande pour ce soir, à un niveau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641080" y="54864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squad est un rendez-vous daté, avec places et niveau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POSITIONNEMENT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quadrant que personne n'occupe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17520" y="1755648"/>
            <a:ext cx="7772400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1755648"/>
            <a:ext cx="3886200" cy="1956816"/>
          </a:xfrm>
          <a:prstGeom prst="rect">
            <a:avLst/>
          </a:prstGeom>
          <a:solidFill>
            <a:srgbClr val="FBE7E1"/>
          </a:solidFill>
          <a:ln/>
        </p:spPr>
      </p:sp>
      <p:sp>
        <p:nvSpPr>
          <p:cNvPr id="6" name="Shape 4"/>
          <p:cNvSpPr/>
          <p:nvPr/>
        </p:nvSpPr>
        <p:spPr>
          <a:xfrm>
            <a:off x="6903720" y="1755648"/>
            <a:ext cx="0" cy="3913632"/>
          </a:xfrm>
          <a:prstGeom prst="line">
            <a:avLst/>
          </a:prstGeom>
          <a:noFill/>
          <a:ln w="9525">
            <a:solidFill>
              <a:srgbClr val="DED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3712464"/>
            <a:ext cx="7772400" cy="0"/>
          </a:xfrm>
          <a:prstGeom prst="line">
            <a:avLst/>
          </a:prstGeom>
          <a:noFill/>
          <a:ln w="9525">
            <a:solidFill>
              <a:srgbClr val="DED6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86100" y="345131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86100" y="345131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52928" y="4860219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52928" y="486021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18788" y="2120676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018788" y="21206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51476" y="4703674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51476" y="470367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5016764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50167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TheFork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72300" y="3920947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972300" y="39209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38644" y="313822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38644" y="313822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6852" y="239463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6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16852" y="239463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HelloAsso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1870131"/>
            <a:ext cx="2194560" cy="475488"/>
          </a:xfrm>
          <a:prstGeom prst="roundRect">
            <a:avLst>
              <a:gd name="adj" fmla="val 48077"/>
            </a:avLst>
          </a:prstGeom>
          <a:solidFill>
            <a:srgbClr val="E0492B"/>
          </a:solidFill>
          <a:ln w="12700">
            <a:solidFill>
              <a:srgbClr val="E0492B"/>
            </a:solidFill>
            <a:prstDash val="solid"/>
          </a:ln>
          <a:effectLst>
            <a:outerShdw sx="100000" sy="100000" kx="0" ky="0" algn="bl" rotWithShape="0" blurRad="177800" dist="38100" dir="5400000">
              <a:srgbClr val="1C1916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38160" y="1870131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21762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Ciblé par école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par promotion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321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797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Diffuser, faire connaître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la présence réelle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Étudiant, et jusqu'à la preuve de présence : le coin haut-droit est vide. C'est celui que nous occupons.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CE QUI NOUS PROTÈGE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développeur seul nous recode en trois mois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donc pas la technique qui nous protège. Voici ce qui nous protège vraiment, du plus faible au plus fort.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810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8105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DÉFENDABLE ?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81051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fonctionnalités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21031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se recode : le wallet, le scan, les squads. Rien n'est inimitable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670048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design et la marque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2852928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196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628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15000" y="267004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crée de la préférence, pas une barrière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236976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32369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d'utilisateurs étudiants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77640" y="3419856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27" name="Shape 25"/>
          <p:cNvSpPr/>
          <p:nvPr/>
        </p:nvSpPr>
        <p:spPr>
          <a:xfrm>
            <a:off x="4251960" y="3419856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7492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715000" y="3236976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se renouvelle d'un tiers chaque année : un actif qui fuit et qu'il faut réalimenter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3803904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41248" y="38039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partenariats BDE et écoles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7764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35" name="Shape 33"/>
          <p:cNvSpPr/>
          <p:nvPr/>
        </p:nvSpPr>
        <p:spPr>
          <a:xfrm>
            <a:off x="425196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36" name="Shape 34"/>
          <p:cNvSpPr/>
          <p:nvPr/>
        </p:nvSpPr>
        <p:spPr>
          <a:xfrm>
            <a:off x="452628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3986784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8" name="Shape 36"/>
          <p:cNvSpPr/>
          <p:nvPr/>
        </p:nvSpPr>
        <p:spPr>
          <a:xfrm>
            <a:off x="5074920" y="3986784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715000" y="380390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Contractualisables à l'année, exclusifs de fait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370832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43708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de présence vérifiée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97764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3" name="Shape 41"/>
          <p:cNvSpPr/>
          <p:nvPr/>
        </p:nvSpPr>
        <p:spPr>
          <a:xfrm>
            <a:off x="425196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4" name="Shape 42"/>
          <p:cNvSpPr/>
          <p:nvPr/>
        </p:nvSpPr>
        <p:spPr>
          <a:xfrm>
            <a:off x="452628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0060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6" name="Shape 44"/>
          <p:cNvSpPr/>
          <p:nvPr/>
        </p:nvSpPr>
        <p:spPr>
          <a:xfrm>
            <a:off x="5074920" y="4553712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715000" y="437083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bout de six mois, un partenaire a une série statistique sur ses propres soirées. Partir, c'est la perdre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4937760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41248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social par école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97764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1" name="Shape 49"/>
          <p:cNvSpPr/>
          <p:nvPr/>
        </p:nvSpPr>
        <p:spPr>
          <a:xfrm>
            <a:off x="425196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2" name="Shape 50"/>
          <p:cNvSpPr/>
          <p:nvPr/>
        </p:nvSpPr>
        <p:spPr>
          <a:xfrm>
            <a:off x="452628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3" name="Shape 51"/>
          <p:cNvSpPr/>
          <p:nvPr/>
        </p:nvSpPr>
        <p:spPr>
          <a:xfrm>
            <a:off x="480060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4" name="Shape 52"/>
          <p:cNvSpPr/>
          <p:nvPr/>
        </p:nvSpPr>
        <p:spPr>
          <a:xfrm>
            <a:off x="5074920" y="512064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715000" y="493776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concurrent qui démarre a un catalogue sans amis dedans : structurellement moins utile, à fonctionnalités identiques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6928" y="5504688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841248" y="5504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réseau local biface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97764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59" name="Shape 57"/>
          <p:cNvSpPr/>
          <p:nvPr/>
        </p:nvSpPr>
        <p:spPr>
          <a:xfrm>
            <a:off x="425196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0" name="Shape 58"/>
          <p:cNvSpPr/>
          <p:nvPr/>
        </p:nvSpPr>
        <p:spPr>
          <a:xfrm>
            <a:off x="452628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1" name="Shape 59"/>
          <p:cNvSpPr/>
          <p:nvPr/>
        </p:nvSpPr>
        <p:spPr>
          <a:xfrm>
            <a:off x="480060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2" name="Shape 60"/>
          <p:cNvSpPr/>
          <p:nvPr/>
        </p:nvSpPr>
        <p:spPr>
          <a:xfrm>
            <a:off x="507492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715000" y="550468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refaire, un par un, le démarchage des établissements et la relation avec chaque BDE. Du temps de terrain incompressible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opérationnelle : à choix égal entre une fonctionnalité de plus et cinq établissements de plus, nous prenons les établissements.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plan d'action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 d'abord, et seul. Dix établissements, puis cinquante, puis cent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seulement ensuite les autres villes étudiantes.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LA TRAJECTOIRE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Dix, cinquante, cent — puis les autres villes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384048" cy="3840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— amorçage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maintenant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fondateurs gratuits, 2 BDE signés, une soirée de lancement, une première soirée scannée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8766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26510" y="2084832"/>
            <a:ext cx="384048" cy="384048"/>
          </a:xfrm>
          <a:prstGeom prst="ellipse">
            <a:avLst/>
          </a:prstGeom>
          <a:solidFill>
            <a:srgbClr val="A755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2651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26510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5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626510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26510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— densité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26510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26510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1re soirée scannée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26510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30 payants, 6 000 étudiants inscrits, 2 000 actifs par mois, MRR de 2 000 à 3 000 €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0605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8349" y="2084832"/>
            <a:ext cx="384048" cy="3840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8349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8349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6448349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48349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+ 2 villes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8349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8349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Gate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48349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7 500 € de MRR, 90 000 € par an. Deux fondateurs rémunérés, un premier recrutement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32443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70187" y="2084832"/>
            <a:ext cx="384048" cy="384048"/>
          </a:xfrm>
          <a:prstGeom prst="ellipse">
            <a:avLst/>
          </a:prstGeom>
          <a:solidFill>
            <a:srgbClr val="8E641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70187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270187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500-800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9270187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70187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à 8 villes comparables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270187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270187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Gate 2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270187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de 40 à 60 k€, équipe de 8 à 12 personnes. StudentLink vit de ses clients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321808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50976" y="532180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deuxième ville avant que Clermont soit validé.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5321808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expansion lancée trop tôt dilue le seul actif qui compte : la densité locale. C'est la façon la plus courante de tuer une marketplace de ville.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dix premiers établissements clermontois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749808"/>
          </a:xfrm>
          <a:prstGeom prst="roundRect">
            <a:avLst>
              <a:gd name="adj" fmla="val 1585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inscrits à M3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54096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70064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scannés par semaine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28048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 avant 3 mois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5212080" cy="3127248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7824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nous démarchons, dans cet ordre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962656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décideur est sur place et décide seul — un bar indépendant, pas une chaîne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L'établissement a un vrai soir creux identifiable : lundi, mardi ou mercredi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déjà des étudiants : nous ne lui vendons pas la cible, seulement l'outil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à distance de marche du centre et des campus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un compte Instagram actif — preuve qu'il investit déjà du temps en communication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8828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visée : 9 bars · 2 discothèques · 2 restaurants · 2 BDE gratuits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2359152"/>
            <a:ext cx="5577840" cy="3127248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64224" y="2542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séquence d'amorçage, en quatre temps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4224" y="2944368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64224" y="29443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J-30 → J-15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24928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établissements fondateurs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24928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Démarchage physique, réseau personnel d'abord. Rien à signer, gratuit trois mois.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64224" y="3566160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64224" y="35661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J-15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24928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à trois BDE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24928" y="3803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Gratuits, définitivement. Ils apportent 300 à 500 étudiants d'un coup.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64224" y="4187952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64224" y="418795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424928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soirée de lancement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24928" y="4425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bar et deux BDE. L'entrée passe par l'application. Objectif : 200 à 300 inscriptions.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64224" y="4809744"/>
            <a:ext cx="932688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64224" y="480974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J+30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424928" y="4791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arrête de vendre une promesse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5047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rendez-vous commence par un chiffre réel : « un mardi, 18 inscrits, 14 scannés ».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596128"/>
            <a:ext cx="11057839" cy="585216"/>
          </a:xfrm>
          <a:prstGeom prst="roundRect">
            <a:avLst>
              <a:gd name="adj" fmla="val 20313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52400" dist="38100" dir="5400000">
              <a:srgbClr val="1C1916">
                <a:alpha val="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50976" y="5596128"/>
            <a:ext cx="102897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absolue : nous ne démarchons jamais un nouvel établissement sans pouvoir citer une soirée scannée récente.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Cinquante établissements : Clermont devient un marché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749808"/>
          </a:xfrm>
          <a:prstGeom prst="roundRect">
            <a:avLst>
              <a:gd name="adj" fmla="val 1585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inscrits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54096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6 000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70064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28048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scannés / semaine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5212080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7824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change dans la méthode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" y="3008376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52144" y="2926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vend un résultat, plus une promesse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1638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tunnel passe de 6-8 % à 12 % dès que nous avons des chiffres à montrer.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593592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52144" y="35112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ambassadeur par école prioritaire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3749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UCA, Hesias, IUT, écoles de commerce, SIGMA, Polytech. Payés en avantages.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52144" y="40965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QR codes sur les tables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334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le plus qualifié : l'étudiant est déjà chez le partenaire.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4764024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52144" y="4681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mise en avant payante ouvre à M6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9194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complément de revenu, une fois l'audience suffisante.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5349240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52144" y="52669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6 000 inscrits = 14 % de l'agglomération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55046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condition pour que le fil soit vivant dans chaque école.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53328" y="2359152"/>
            <a:ext cx="5577840" cy="3520440"/>
          </a:xfrm>
          <a:prstGeom prst="roundRect">
            <a:avLst>
              <a:gd name="adj" fmla="val 3377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64224" y="2542032"/>
            <a:ext cx="1234440" cy="292608"/>
          </a:xfrm>
          <a:prstGeom prst="roundRect">
            <a:avLst>
              <a:gd name="adj" fmla="val 93750"/>
            </a:avLst>
          </a:prstGeom>
          <a:solidFill>
            <a:srgbClr val="1C19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64224" y="2542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25420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sept critères avant toute deuxième ville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64224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payants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3054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minimum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3438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minimum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minimum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présence moyen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 minimum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mensuel établissements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5 %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4224" y="4974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0" y="4974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2 500 € minimum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5358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 d'un client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0" y="5358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remboursé en moins de 3 mois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9893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ne fallait retenir qu'un seul critère : un churn inférieur à 5 % avec 30 clients payants. Cela signifie que le produit tient sans nous.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 clients payants : le seuil qui change tout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212080" cy="1874520"/>
          </a:xfrm>
          <a:prstGeom prst="roundRect">
            <a:avLst>
              <a:gd name="adj" fmla="val 6341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7 500 € de MRR  ·  90 000 € par an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48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fondateurs rémunérés modestement et un premier recrutement possible. Mais Clermont seul ne fournit pas 100 clients payants : il en faut déjà deux ou trois villes.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53328" y="1444752"/>
            <a:ext cx="557784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64224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coûte l'ouverture d'une ville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64224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personne sur le terrain (alternance ou stage)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1993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à 1 200 €/mois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lancement local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3134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500 €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et amorçage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300 €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d'ouverture, premier revenu à 2-3 mois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784080" y="29535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à 5 000 €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493008"/>
            <a:ext cx="11057839" cy="2148840"/>
          </a:xfrm>
          <a:prstGeom prst="roundRect">
            <a:avLst>
              <a:gd name="adj" fmla="val 5532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" y="3675888"/>
            <a:ext cx="1234440" cy="292608"/>
          </a:xfrm>
          <a:prstGeom prst="roundRect">
            <a:avLst>
              <a:gd name="adj" fmla="val 93750"/>
            </a:avLst>
          </a:prstGeom>
          <a:solidFill>
            <a:srgbClr val="1C191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7824" y="36758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04288" y="36758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méthode doit être reproductible avant d'être reproduite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manuel de conquête est écrit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Étapes, argumentaire, objections courantes, durée réelle de chaque étape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L'intégration tient en 30 minutes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se fait sans Arthur : plus de dépendance au fondateur technique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temps commercial est mesuré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estimé. Si une signature coûte 8 h, une ville coûte le double du prévu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48463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 gère plusieurs villes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5084064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technique réel, ouvert seulement après la Gate 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48463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facturation est automatisée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53712" y="5084064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à partir de 15 à 20 clients payants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7790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L'expansion s'autofinance dès que Clermont dépasse 2 500 € de MRR — ce n'est pas une coïncidence, c'est ainsi que le seuil de la Gate 1 a été fixé.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L'EXPANSION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 les autres villes — par taille, jamais d'un bond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monte l'échelle. À chaque barreau : une densité étudiante suffisante, une conquête possible en quelques mois, et un relais personnel sur place.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0492B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E04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jumelles de Clermont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à 45 000 étudiants — l'ordre de grandeur de Clermont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Saint-Étienne · Limoges · Dijon · Besançon · Poitiers · Orléans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Rien, et c'est tout l'intérêt : même méthode, même durée, même effort commercial. Si une de ces villes résiste, ce n'est pas la ville qui est en cause — c'est la méthode.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7116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9724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A755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9724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649724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villes intermédiaires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49724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A75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à 75 000 étudiants — deux pôles étudiants au lieu d'un seul centre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49724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649724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Angers · Tours · Reims · Caen · Nancy · Rouen · Grenoble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49724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49724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salarié terrain à temps plein au lieu d'une alternance, et un ambassadeur par pôle. Le coût d'ouverture double.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47304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39912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4A40C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39912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439912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métropoles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100 000 étudiants — dix quartiers, pas une ville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39912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439912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Lille · Toulouse · Bordeaux · Montpellier · Lyon · Marseille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439912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439912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Tout. On n'ouvre pas « Lyon » : on ouvre la Guillotière, puis la Doua. Un quartier étudiant se traite exactement comme une ville de vague 1.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687568"/>
            <a:ext cx="11057839" cy="512064"/>
          </a:xfrm>
          <a:prstGeom prst="roundRect">
            <a:avLst>
              <a:gd name="adj" fmla="val 23214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50976" y="56875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Jamais deux villes ouvertes en même temps.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687568"/>
            <a:ext cx="6446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métropole attaquée de front coûte dix fois le terrain pour la même densité perçue. Et Paris ne sera jamais « une ville » : ce sera un campus à la fois.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COMMENT NOUS SAURONS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chiffre nous dit si les deux côtés fonctionnent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1389888"/>
          </a:xfrm>
          <a:prstGeom prst="roundRect">
            <a:avLst>
              <a:gd name="adj" fmla="val 8553"/>
            </a:avLst>
          </a:prstGeom>
          <a:solidFill>
            <a:srgbClr val="1C1916"/>
          </a:solidFill>
          <a:ln/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90195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pass scannés par semaine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77440"/>
            <a:ext cx="5897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progresse que si un établissement a publié, que des étudiants ont réservé, qu'ils se sont déplacés et que le personnel a scanné. Un maillon casse, l'indicateur baisse.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473184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9473184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52176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52176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505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semaine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035808"/>
            <a:ext cx="5577840" cy="278892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7824" y="3218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refusons comme indicateur principal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77824" y="3657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d'inscrits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389534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Gonflable, ne prouve rien — et c'est exactement le chiffre que tous nos concurrents mettent en avant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370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téléchargements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60857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rapport avec la valeur livrée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5084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réservations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218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de l'intention. La différence entre intention et présence est précisément notre produit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9088" y="3035808"/>
            <a:ext cx="5212080" cy="2788920"/>
          </a:xfrm>
          <a:prstGeom prst="roundRect">
            <a:avLst>
              <a:gd name="adj" fmla="val 4262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11696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seuils qui déclenchent une action, pas une discussion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3657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d'une soirée sous 60 %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11696" y="3877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rappel, appeler le partenaire le jour même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711696" y="41879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sans soirée depuis 21 j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11696" y="4407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signe de churn, bien avant la résiliation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711696" y="47183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10 soirées publiées / semaine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11696" y="4937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devient statique : priorité absolue au recrutement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711696" y="52486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viral sous 0,2 à M6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11696" y="5468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la mécanique d'invitation dans le produit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CE QUI COMMENCE MAINTENANT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trois priorités des trente prochains jours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01952"/>
            <a:ext cx="384048" cy="38404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Verrouiller le juridique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StudentLink n'appartient à personne. C'est le seul risque capable de tout détruire d'un coup.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5478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d'antériorité INPI et nom de repli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5478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0050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Domaine, Instagram, TikTok réservés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40050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4462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expert-comptable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4622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9194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Pacte d'associés et cession du code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9194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53766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société et signature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53766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57116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9724" y="1901952"/>
            <a:ext cx="384048" cy="384048"/>
          </a:xfrm>
          <a:prstGeom prst="ellipse">
            <a:avLst/>
          </a:prstGeom>
          <a:solidFill>
            <a:srgbClr val="4A40C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49724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49724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Signer et faire scanner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649724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ce chiffre n'existe pas, nous vendons une promesse. Après, nous vendons un résultat.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49724" y="35478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nominative des 30 cibles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99148" y="35478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49724" y="40050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tarifaire figée, plaquette complétée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99148" y="40050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49724" y="4462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établissements fondateurs signés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99148" y="44622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649724" y="49194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BDE partenaires conventionnés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99148" y="49194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649724" y="53766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Soirée de lancement co-organisée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99148" y="53766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47304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sx="100000" sy="100000" kx="0" ky="0" algn="bl" rotWithShape="0" blurRad="152400" dist="38100" dir="5400000">
              <a:srgbClr val="1C1916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39912" y="1901952"/>
            <a:ext cx="384048" cy="384048"/>
          </a:xfrm>
          <a:prstGeom prst="ellipse">
            <a:avLst/>
          </a:prstGeom>
          <a:solidFill>
            <a:srgbClr val="8E641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3991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439912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Rendre le produit vendable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439912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points sont bloquants : aucune vente n'est engagée avant qu'ils soient faits.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439912" y="35478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authentifié (SPF, DKIM) pour les rappels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689336" y="35478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439912" y="40050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quotidiennes chiffrées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689336" y="40050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439912" y="44622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testé de nuit sur trois téléphones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689336" y="44622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439912" y="49194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compte — obligation RGPD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689336" y="49194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439912" y="537667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KPI hebdomadaire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0689336" y="5376672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5989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Échéances comptées en semaines à partir du lancement du chantier · Arthur Gramond (technique, produit) · Étienne Florentino (commercial, partenariats)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777240"/>
            <a:ext cx="914400" cy="6803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920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autres vous donnent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l'audience.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 vous donne des présents.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2452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Clermont-Ferrand d'abord, et seul, jusqu'à ce que le modèle soit prouvé. Puis la même méthode, ville par ville.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Gramond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technique, produit, design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468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Étienne Florentino</a:t>
            </a:r>
            <a:pPr indent="0" marL="0">
              <a:buNone/>
            </a:pP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commercial, partenariats</a:t>
            </a:r>
            <a:endParaRPr lang="en-US" sz="1200" dirty="0"/>
          </a:p>
        </p:txBody>
      </p:sp>
      <p:pic>
        <p:nvPicPr>
          <p:cNvPr id="8" name="Image 1" descr="img/m_p_squ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417320"/>
            <a:ext cx="1753217" cy="379476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pic>
        <p:nvPicPr>
          <p:cNvPr id="9" name="Image 2" descr="img/m_p_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331720"/>
            <a:ext cx="1753217" cy="379476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1C1916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 · Clermont-Ferrand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StudentLink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StudentLink - Presentation investisseurs &amp; partenaires</dc:title>
  <dc:subject>PptxGenJS Presentation</dc:subject>
  <dc:creator>Arthur Gramond &amp; Etienne Florentino</dc:creator>
  <cp:lastModifiedBy>Arthur Gramond &amp; Etienne Florentino</cp:lastModifiedBy>
  <cp:revision>1</cp:revision>
  <dcterms:created xsi:type="dcterms:W3CDTF">2026-09-19T10:23:32Z</dcterms:created>
  <dcterms:modified xsi:type="dcterms:W3CDTF">2026-09-19T10:23:32Z</dcterms:modified>
</cp:coreProperties>
</file>